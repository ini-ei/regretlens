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M PLUS 1p"/>
      <p:regular r:id="rId9"/>
      <p:bold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MPLUS1p-bold.fntdata"/><Relationship Id="rId9" Type="http://schemas.openxmlformats.org/officeDocument/2006/relationships/font" Target="fonts/MPLUS1p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8f1721247b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8f1721247b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8f1721247b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8f1721247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9ac8b7a52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9ac8b7a52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中表紙">
  <p:cSld name="1_中表紙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525" lIns="69050" spcFirstLastPara="1" rIns="69050" wrap="square" tIns="34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222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2"/>
          <p:cNvSpPr txBox="1"/>
          <p:nvPr>
            <p:ph type="title"/>
          </p:nvPr>
        </p:nvSpPr>
        <p:spPr>
          <a:xfrm>
            <a:off x="294175" y="1552672"/>
            <a:ext cx="8555700" cy="20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">
  <p:cSld name="コンテンツ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0" y="0"/>
            <a:ext cx="91440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" type="body"/>
          </p:nvPr>
        </p:nvSpPr>
        <p:spPr>
          <a:xfrm>
            <a:off x="251223" y="557213"/>
            <a:ext cx="8641500" cy="42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9pPr>
          </a:lstStyle>
          <a:p/>
        </p:txBody>
      </p:sp>
      <p:cxnSp>
        <p:nvCxnSpPr>
          <p:cNvPr id="15" name="Google Shape;15;p3"/>
          <p:cNvCxnSpPr/>
          <p:nvPr/>
        </p:nvCxnSpPr>
        <p:spPr>
          <a:xfrm>
            <a:off x="0" y="441024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2D508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/>
        </p:nvSpPr>
        <p:spPr>
          <a:xfrm>
            <a:off x="8913650" y="4958834"/>
            <a:ext cx="230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08F"/>
              </a:buClr>
              <a:buSzPts val="800"/>
              <a:buFont typeface="Arial"/>
              <a:buNone/>
            </a:pPr>
            <a:fld id="{00000000-1234-1234-1234-123412341234}" type="slidenum">
              <a:rPr b="0" i="0" lang="ja" sz="800" u="none" cap="none" strike="noStrike">
                <a:solidFill>
                  <a:srgbClr val="2D508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2D508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158">
          <p15:clr>
            <a:srgbClr val="FBAE40"/>
          </p15:clr>
        </p15:guide>
        <p15:guide id="4" pos="560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メインタイトル">
  <p:cSld name="メインタイトル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テーブル, 水, 座る, コンピュータ が含まれている画像&#10;&#10;自動的に生成された説明" id="18" name="Google Shape;1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/>
          <p:nvPr>
            <p:ph type="title"/>
          </p:nvPr>
        </p:nvSpPr>
        <p:spPr>
          <a:xfrm>
            <a:off x="253879" y="1829401"/>
            <a:ext cx="8636100" cy="14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000" lIns="54000" spcFirstLastPara="1" rIns="54000" wrap="square" tIns="54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  <a:defRPr b="1" sz="33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253879" y="3330271"/>
            <a:ext cx="8636100" cy="160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8100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b="1" sz="1800">
                <a:solidFill>
                  <a:srgbClr val="FFFFFF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12222"/>
              </a:buClr>
              <a:buSzPts val="1400"/>
              <a:buNone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12222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12222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12222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2" type="body"/>
          </p:nvPr>
        </p:nvSpPr>
        <p:spPr>
          <a:xfrm>
            <a:off x="253879" y="330203"/>
            <a:ext cx="40761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8100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b="1" sz="1800">
                <a:solidFill>
                  <a:srgbClr val="FFFFFF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12222"/>
              </a:buClr>
              <a:buSzPts val="1400"/>
              <a:buNone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12222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12222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12222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">
  <p:cSld name="コンテンツ 2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0" y="0"/>
            <a:ext cx="91440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251223" y="1213866"/>
            <a:ext cx="8641500" cy="35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9pPr>
          </a:lstStyle>
          <a:p/>
        </p:txBody>
      </p:sp>
      <p:cxnSp>
        <p:nvCxnSpPr>
          <p:cNvPr id="25" name="Google Shape;25;p5"/>
          <p:cNvCxnSpPr/>
          <p:nvPr/>
        </p:nvCxnSpPr>
        <p:spPr>
          <a:xfrm>
            <a:off x="0" y="441024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2D508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" name="Google Shape;26;p5"/>
          <p:cNvSpPr txBox="1"/>
          <p:nvPr/>
        </p:nvSpPr>
        <p:spPr>
          <a:xfrm>
            <a:off x="8913650" y="4958834"/>
            <a:ext cx="230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08F"/>
              </a:buClr>
              <a:buSzPts val="800"/>
              <a:buFont typeface="Arial"/>
              <a:buNone/>
            </a:pPr>
            <a:fld id="{00000000-1234-1234-1234-123412341234}" type="slidenum">
              <a:rPr b="0" i="0" lang="ja" sz="800" u="none" cap="none" strike="noStrike">
                <a:solidFill>
                  <a:srgbClr val="2D508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2D50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251222" y="465953"/>
            <a:ext cx="86415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i="0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158">
          <p15:clr>
            <a:srgbClr val="FBAE40"/>
          </p15:clr>
        </p15:guide>
        <p15:guide id="4" pos="560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">
  <p:cSld name="コンテンツ 3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0" y="0"/>
            <a:ext cx="91440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" type="body"/>
          </p:nvPr>
        </p:nvSpPr>
        <p:spPr>
          <a:xfrm>
            <a:off x="251222" y="465953"/>
            <a:ext cx="86415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i="0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2" type="body"/>
          </p:nvPr>
        </p:nvSpPr>
        <p:spPr>
          <a:xfrm>
            <a:off x="260815" y="1203478"/>
            <a:ext cx="4158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b="1" sz="12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12222"/>
              </a:buClr>
              <a:buSzPts val="1400"/>
              <a:buNone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12222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12222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12222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3" type="body"/>
          </p:nvPr>
        </p:nvSpPr>
        <p:spPr>
          <a:xfrm>
            <a:off x="4740212" y="1201366"/>
            <a:ext cx="4158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b="1" sz="12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12222"/>
              </a:buClr>
              <a:buSzPts val="1400"/>
              <a:buNone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12222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12222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12222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4" type="body"/>
          </p:nvPr>
        </p:nvSpPr>
        <p:spPr>
          <a:xfrm>
            <a:off x="260815" y="1550601"/>
            <a:ext cx="4158000" cy="3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0" spcFirstLastPara="1" rIns="54000" wrap="square" tIns="27000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sz="900">
                <a:solidFill>
                  <a:schemeClr val="dk1"/>
                </a:solidFill>
              </a:defRPr>
            </a:lvl1pPr>
            <a:lvl2pPr indent="-29845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8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800"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700">
                <a:solidFill>
                  <a:schemeClr val="dk1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sz="600">
                <a:solidFill>
                  <a:schemeClr val="dk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12222"/>
              </a:buClr>
              <a:buSzPts val="1400"/>
              <a:buNone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12222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12222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12222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5" type="body"/>
          </p:nvPr>
        </p:nvSpPr>
        <p:spPr>
          <a:xfrm>
            <a:off x="4743202" y="1550601"/>
            <a:ext cx="4158000" cy="3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0" spcFirstLastPara="1" rIns="54000" wrap="square" tIns="27000">
            <a:normAutofit/>
          </a:bodyPr>
          <a:lstStyle>
            <a:lvl1pPr indent="-2857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Font typeface="Arial"/>
              <a:buChar char="•"/>
              <a:defRPr b="0" sz="900">
                <a:solidFill>
                  <a:schemeClr val="dk1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sz="800"/>
            </a:lvl3pPr>
            <a:lvl4pPr indent="-27305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Char char="•"/>
              <a:defRPr sz="700"/>
            </a:lvl4pPr>
            <a:lvl5pPr indent="-2667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Char char="•"/>
              <a:defRPr sz="600"/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12222"/>
              </a:buClr>
              <a:buSzPts val="1400"/>
              <a:buNone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12222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12222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12222"/>
              </a:buClr>
              <a:buSzPts val="1400"/>
              <a:buChar char="•"/>
              <a:defRPr/>
            </a:lvl9pPr>
          </a:lstStyle>
          <a:p/>
        </p:txBody>
      </p:sp>
      <p:cxnSp>
        <p:nvCxnSpPr>
          <p:cNvPr id="35" name="Google Shape;35;p6"/>
          <p:cNvCxnSpPr/>
          <p:nvPr/>
        </p:nvCxnSpPr>
        <p:spPr>
          <a:xfrm>
            <a:off x="0" y="441024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2D508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" name="Google Shape;36;p6"/>
          <p:cNvSpPr txBox="1"/>
          <p:nvPr/>
        </p:nvSpPr>
        <p:spPr>
          <a:xfrm>
            <a:off x="8913650" y="4958834"/>
            <a:ext cx="230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08F"/>
              </a:buClr>
              <a:buSzPts val="800"/>
              <a:buFont typeface="Arial"/>
              <a:buNone/>
            </a:pPr>
            <a:fld id="{00000000-1234-1234-1234-123412341234}" type="slidenum">
              <a:rPr b="0" i="0" lang="ja" sz="800" u="none" cap="none" strike="noStrike">
                <a:solidFill>
                  <a:srgbClr val="2D508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2D508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158">
          <p15:clr>
            <a:srgbClr val="FBAE40"/>
          </p15:clr>
        </p15:guide>
        <p15:guide id="4" pos="560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">
  <p:cSld name="コンテンツ 4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525" lIns="69050" spcFirstLastPara="1" rIns="69050" wrap="square" tIns="34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222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0" y="0"/>
            <a:ext cx="91422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9pPr>
          </a:lstStyle>
          <a:p/>
        </p:txBody>
      </p:sp>
      <p:cxnSp>
        <p:nvCxnSpPr>
          <p:cNvPr id="40" name="Google Shape;40;p7"/>
          <p:cNvCxnSpPr/>
          <p:nvPr/>
        </p:nvCxnSpPr>
        <p:spPr>
          <a:xfrm>
            <a:off x="0" y="441024"/>
            <a:ext cx="91440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251223" y="1198607"/>
            <a:ext cx="8641500" cy="3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158">
          <p15:clr>
            <a:srgbClr val="FBAE40"/>
          </p15:clr>
        </p15:guide>
        <p15:guide id="4" pos="560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">
  <p:cSld name="コンテンツ 5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525" lIns="69050" spcFirstLastPara="1" rIns="69050" wrap="square" tIns="34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222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8"/>
          <p:cNvSpPr txBox="1"/>
          <p:nvPr>
            <p:ph type="title"/>
          </p:nvPr>
        </p:nvSpPr>
        <p:spPr>
          <a:xfrm>
            <a:off x="0" y="0"/>
            <a:ext cx="91422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9pPr>
          </a:lstStyle>
          <a:p/>
        </p:txBody>
      </p:sp>
      <p:sp>
        <p:nvSpPr>
          <p:cNvPr id="45" name="Google Shape;45;p8"/>
          <p:cNvSpPr txBox="1"/>
          <p:nvPr>
            <p:ph idx="1" type="body"/>
          </p:nvPr>
        </p:nvSpPr>
        <p:spPr>
          <a:xfrm>
            <a:off x="251223" y="1198607"/>
            <a:ext cx="8641500" cy="3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158">
          <p15:clr>
            <a:srgbClr val="FBAE40"/>
          </p15:clr>
        </p15:guide>
        <p15:guide id="4" pos="560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中表紙">
  <p:cSld name="中表紙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背景パターン&#10;&#10;自動的に生成された説明" id="47" name="Google Shape;47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0"/>
            <a:ext cx="9144727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9"/>
          <p:cNvSpPr txBox="1"/>
          <p:nvPr>
            <p:ph type="title"/>
          </p:nvPr>
        </p:nvSpPr>
        <p:spPr>
          <a:xfrm>
            <a:off x="294175" y="1552672"/>
            <a:ext cx="8555700" cy="20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54000" lIns="54000" spcFirstLastPara="1" rIns="54000" wrap="square" tIns="540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1" name="Google Shape;51;p1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ctr" bIns="54000" lIns="54000" spcFirstLastPara="1" rIns="54000" wrap="square" tIns="540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  <a:defRPr b="1" i="0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 b="0" i="0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 b="0" i="0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 b="0" i="0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 b="0" i="0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 b="0" i="0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 b="0" i="0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 b="0" i="0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 b="0" i="0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200150"/>
            <a:ext cx="8229600" cy="3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●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oto Sans Symbols"/>
              <a:buChar char="●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12222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21222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12222"/>
              </a:buClr>
              <a:buSzPts val="2400"/>
              <a:buFont typeface="Calibri"/>
              <a:buChar char="•"/>
              <a:defRPr b="0" i="0" sz="2400" u="none" cap="none" strike="noStrike">
                <a:solidFill>
                  <a:srgbClr val="21222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12222"/>
              </a:buClr>
              <a:buSzPts val="2400"/>
              <a:buFont typeface="Calibri"/>
              <a:buChar char="•"/>
              <a:defRPr b="0" i="0" sz="2400" u="none" cap="none" strike="noStrike">
                <a:solidFill>
                  <a:srgbClr val="21222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12222"/>
              </a:buClr>
              <a:buSzPts val="2400"/>
              <a:buFont typeface="Calibri"/>
              <a:buChar char="•"/>
              <a:defRPr b="0" i="0" sz="2400" u="none" cap="none" strike="noStrike">
                <a:solidFill>
                  <a:srgbClr val="21222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9191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9191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222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21222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222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21222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222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21222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222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21222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222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21222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222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21222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222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21222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222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21222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muds.gdl.jp/s2322007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/>
          <p:nvPr/>
        </p:nvSpPr>
        <p:spPr>
          <a:xfrm>
            <a:off x="0" y="4741125"/>
            <a:ext cx="9144000" cy="412200"/>
          </a:xfrm>
          <a:prstGeom prst="rect">
            <a:avLst/>
          </a:prstGeom>
          <a:solidFill>
            <a:srgbClr val="2F76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rgbClr val="FFFFFF"/>
              </a:solidFill>
              <a:latin typeface="M PLUS 1p"/>
              <a:ea typeface="M PLUS 1p"/>
              <a:cs typeface="M PLUS 1p"/>
              <a:sym typeface="M PLUS 1p"/>
            </a:endParaRPr>
          </a:p>
        </p:txBody>
      </p:sp>
      <p:sp>
        <p:nvSpPr>
          <p:cNvPr id="58" name="Google Shape;58;p11"/>
          <p:cNvSpPr txBox="1"/>
          <p:nvPr/>
        </p:nvSpPr>
        <p:spPr>
          <a:xfrm>
            <a:off x="782850" y="370799"/>
            <a:ext cx="7578300" cy="28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RegretLens</a:t>
            </a:r>
            <a:endParaRPr b="1" sz="24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特徴量選択を用いた</a:t>
            </a:r>
            <a:endParaRPr b="1" sz="24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日常的意思決定における個人化後悔予測システム</a:t>
            </a:r>
            <a:endParaRPr b="1" sz="24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2322007 乾映之右</a:t>
            </a:r>
            <a:endParaRPr b="1" sz="24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https://muds.gdl.jp/s2322007/</a:t>
            </a:r>
            <a:endParaRPr b="1" sz="24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1"/>
          <p:cNvSpPr txBox="1"/>
          <p:nvPr/>
        </p:nvSpPr>
        <p:spPr>
          <a:xfrm>
            <a:off x="782850" y="69900"/>
            <a:ext cx="1229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/>
          <p:nvPr>
            <p:ph type="title"/>
          </p:nvPr>
        </p:nvSpPr>
        <p:spPr>
          <a:xfrm>
            <a:off x="0" y="0"/>
            <a:ext cx="9144000" cy="432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概要(背景/提案)</a:t>
            </a:r>
            <a:endParaRPr/>
          </a:p>
        </p:txBody>
      </p:sp>
      <p:sp>
        <p:nvSpPr>
          <p:cNvPr id="65" name="Google Shape;65;p12"/>
          <p:cNvSpPr txBox="1"/>
          <p:nvPr>
            <p:ph idx="1" type="body"/>
          </p:nvPr>
        </p:nvSpPr>
        <p:spPr>
          <a:xfrm>
            <a:off x="251248" y="608988"/>
            <a:ext cx="8641500" cy="4207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ja" sz="1800"/>
              <a:t>【背景】</a:t>
            </a:r>
            <a:endParaRPr b="1"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ja" sz="1800"/>
              <a:t>- 日常の小さな意思決定（ランチ、買い物など）で後悔することは多い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ja" sz="1800"/>
              <a:t>- 既存の公開予測に対する研究は投資・医療など大規模決定のみ対象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ja" sz="1800"/>
              <a:t>【提案】</a:t>
            </a:r>
            <a:endParaRPr b="1"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ja" sz="1800"/>
              <a:t>- 日常の意思決定に特化した後悔予測システム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ja" sz="1800"/>
              <a:t>- 機械学習 + 適応的特徴量選択で個人の後悔パターンを学習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ja" sz="1800"/>
              <a:t>- 意思決定時点で後悔リスクを予測・警告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0" y="0"/>
            <a:ext cx="9144000" cy="432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日常の意思決定への特化</a:t>
            </a:r>
            <a:endParaRPr/>
          </a:p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251248" y="608988"/>
            <a:ext cx="8641500" cy="4207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ja" sz="1800"/>
              <a:t>こだわったところ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ja" sz="1800"/>
              <a:t>・「誰もが後悔する状況」ではなく「あなたが後悔する状況」を見つけ出す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ja" sz="1800"/>
              <a:t>→ SHAP値で特徴量重要度を計算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ja" sz="1800"/>
              <a:t>    ユーザーごとに最適な12特徴量を自動選択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ja" sz="1800"/>
              <a:t>技術的工夫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ja" sz="1800"/>
              <a:t>・ハイブリッド予測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ja" sz="1800"/>
              <a:t>→データ少（&lt;10件）：ルールベース  データ多（≥10件）：Random Forest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ja" sz="1800"/>
              <a:t>・時系列パターン学習 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ja" sz="1800"/>
              <a:t>→過去10件のシーケンスから「最近ずっと後悔している」傾向を学習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ホワイト">
  <a:themeElements>
    <a:clrScheme name="DATUM STUDIO">
      <a:dk1>
        <a:srgbClr val="434343"/>
      </a:dk1>
      <a:lt1>
        <a:srgbClr val="FFFFFF"/>
      </a:lt1>
      <a:dk2>
        <a:srgbClr val="2E5090"/>
      </a:dk2>
      <a:lt2>
        <a:srgbClr val="7F7F7F"/>
      </a:lt2>
      <a:accent1>
        <a:srgbClr val="CDD5FF"/>
      </a:accent1>
      <a:accent2>
        <a:srgbClr val="932F14"/>
      </a:accent2>
      <a:accent3>
        <a:srgbClr val="D5BF88"/>
      </a:accent3>
      <a:accent4>
        <a:srgbClr val="765F88"/>
      </a:accent4>
      <a:accent5>
        <a:srgbClr val="76A3BA"/>
      </a:accent5>
      <a:accent6>
        <a:srgbClr val="D6AEC0"/>
      </a:accent6>
      <a:hlink>
        <a:srgbClr val="5275A4"/>
      </a:hlink>
      <a:folHlink>
        <a:srgbClr val="C799B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
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8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varScale="1">
        <p:scale>
          <a:sx n="121" d="100"/>
          <a:sy n="121" d="100"/>
        </p:scale>
        <p:origin x="176" y="9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30520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kumimoji="1" lang="ja-JP" altLang="en-US" sz="1200" b="0" i="0" u="none" strike="noStrike" kern="1200">
                <a:solidFill>
                  <a:schemeClr val="tx1"/>
                </a:solidFill>
                <a:effectLst/>
                <a:latin typeface="+mn-lt"/>
                <a:ea typeface="+mn-ea"/>
                <a:cs typeface="+mn-cs"/>
              </a:rPr>
              <a:t>武蔵野大学データサイエンス学部データサイエンス学科所属の乾映之右と申します。</a:t>
            </a:r>
            <a:endParaRPr kumimoji="1" lang="en-US" altLang="ja-JP" sz="1200" b="0" i="0" u="none" strike="noStrike" kern="1200" dirty="0">
              <a:solidFill>
                <a:schemeClr val="tx1"/>
              </a:solidFill>
              <a:effectLst/>
              <a:latin typeface="+mn-lt"/>
              <a:ea typeface="+mn-ea"/>
              <a:cs typeface="+mn-cs"/>
            </a:endParaRPr>
          </a:p>
          <a:p>
            <a:pPr rtl="0"/>
            <a:r>
              <a:rPr kumimoji="1" lang="ja-JP" altLang="en-US" sz="1200" b="0" i="0" u="none" strike="noStrike" kern="1200">
                <a:solidFill>
                  <a:schemeClr val="tx1"/>
                </a:solidFill>
                <a:effectLst/>
                <a:latin typeface="+mn-lt"/>
                <a:ea typeface="+mn-ea"/>
                <a:cs typeface="+mn-cs"/>
              </a:rPr>
              <a:t>これより、「特徴量選択を用いた日常的意思決定における個人化後悔予測システム」についてご説明させていただきます。</a:t>
            </a:r>
            <a:endParaRPr lang="ja-JP" altLang="en-US" b="0">
              <a:effectLst/>
            </a:endParaRPr>
          </a:p>
          <a:p>
            <a:pPr rtl="0"/>
            <a:r>
              <a:rPr kumimoji="1" lang="ja-JP" altLang="en-US" sz="1200" b="0" i="0" u="none" strike="noStrike" kern="1200">
                <a:solidFill>
                  <a:schemeClr val="tx1"/>
                </a:solidFill>
                <a:effectLst/>
                <a:latin typeface="+mn-lt"/>
                <a:ea typeface="+mn-ea"/>
                <a:cs typeface="+mn-cs"/>
              </a:rPr>
              <a:t>よろしくお願いいたします。</a:t>
            </a:r>
            <a:endParaRPr lang="ja-JP" altLang="en-US" b="0">
              <a:effectLs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本研究の背景として、日常の意思決定における後悔の問題を取り上げます。</a:t>
            </a:r>
          </a:p>
          <a:p>
            <a:r>
              <a:rPr kumimoji="1" lang="ja-JP" altLang="en-US" sz="1200" b="0" kern="1200">
                <a:solidFill>
                  <a:schemeClr val="tx1"/>
                </a:solidFill>
                <a:effectLst/>
                <a:latin typeface="+mn-lt"/>
                <a:ea typeface="+mn-ea"/>
                <a:cs typeface="+mn-cs"/>
              </a:rPr>
              <a:t>我々は日常的に多くの意思決定を行っています。昼食に何を食べるか、セール品を買うかどうか、サブスクリプションを更新するかどうか。こうした些細に見える選択の積み重ねが、実際にはかなりの心理的コストを生んでいます。しかしながら、既存の後悔予測研究は投資や医療といった大規模な意思決定を対象としたものがほとんどで、日常の小さな意思決定における後悔を個人の行動パターンから事前に予測するアプローチは未開拓です。</a:t>
            </a:r>
          </a:p>
          <a:p>
            <a:r>
              <a:rPr kumimoji="1" lang="ja-JP" altLang="en-US" sz="1200" b="0" kern="1200">
                <a:solidFill>
                  <a:schemeClr val="tx1"/>
                </a:solidFill>
                <a:effectLst/>
                <a:latin typeface="+mn-lt"/>
                <a:ea typeface="+mn-ea"/>
                <a:cs typeface="+mn-cs"/>
              </a:rPr>
              <a:t>そこで本研究では、日常の意思決定に特化した後悔予測システムを提案します。機械学習と適応的特徴量選択を組み合わせ、個人の後悔パターンを学習し、意思決定の時点で後悔リスクを予測・警告するシステム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本研究が取り組む研究課題は</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点です。</a:t>
            </a:r>
          </a:p>
          <a:p>
            <a:endParaRPr kumimoji="1" lang="ja-JP" altLang="en-US" sz="1200" b="0" kern="1200">
              <a:solidFill>
                <a:schemeClr val="tx1"/>
              </a:solidFill>
              <a:effectLst/>
              <a:latin typeface="+mn-lt"/>
              <a:ea typeface="+mn-ea"/>
              <a:cs typeface="+mn-cs"/>
            </a:endParaRPr>
          </a:p>
          <a:p>
            <a:r>
              <a:rPr kumimoji="1" lang="en-US" altLang="ja-JP" sz="1200" b="0" kern="1200" dirty="0">
                <a:solidFill>
                  <a:schemeClr val="tx1"/>
                </a:solidFill>
                <a:effectLst/>
                <a:latin typeface="+mn-lt"/>
                <a:ea typeface="+mn-ea"/>
                <a:cs typeface="+mn-cs"/>
              </a:rPr>
              <a:t>1</a:t>
            </a:r>
            <a:r>
              <a:rPr kumimoji="1" lang="ja-JP" altLang="en-US" sz="1200" b="0" kern="1200">
                <a:solidFill>
                  <a:schemeClr val="tx1"/>
                </a:solidFill>
                <a:effectLst/>
                <a:latin typeface="+mn-lt"/>
                <a:ea typeface="+mn-ea"/>
                <a:cs typeface="+mn-cs"/>
              </a:rPr>
              <a:t>点目は、個人の後悔はコンテキスト情報を含む特徴量から機械学習で予測可能か、という問いです。後悔は主観的な感情であり、同じ状況でも人によって感じ方が大きく異なるため、個人ごとのモデル構築が必要になると考えました。</a:t>
            </a:r>
          </a:p>
          <a:p>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点目は、後悔要因の個人差を特徴量選択によって明らかにできるか、という問いです。ある人にとってはストレスレベルが後悔の最大の要因かもしれませんが、別の人にとっては出費額が支配的かもしれません。</a:t>
            </a:r>
          </a:p>
          <a:p>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点目は、</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ベースの予測はルールベースに対してどの程度の精度差を生じるか、という問いです。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関連研究との比較を示します。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既存の後悔予測研究は、対象が投資や医療などの大規模決定に限定されていたり、事後分析にとどまっていたり、個人適応を行っていなかったりします。本研究は、日常的意思決定に特化し、</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による事前予測を行い、かつ個人に適応するという</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つの要素を組み合わせた取り組みとなっています。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本研究で取り組んだことを整理します。</a:t>
            </a:r>
          </a:p>
          <a:p>
            <a:r>
              <a:rPr kumimoji="1" lang="ja-JP" altLang="en-US" sz="1200" b="0" kern="1200">
                <a:solidFill>
                  <a:schemeClr val="tx1"/>
                </a:solidFill>
                <a:effectLst/>
                <a:latin typeface="+mn-lt"/>
                <a:ea typeface="+mn-ea"/>
                <a:cs typeface="+mn-cs"/>
              </a:rPr>
              <a:t>具体的には、後悔予測のための</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次元の特徴量空間の設計、</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とルールベースを切替る予測アーキテクチャの提案、そして時系列交差検証に基づく再現可能な評価フレームワークの構築の</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本研究の手法は</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つのステップで構成されます。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まずデータ収集として、意思決定の記録とコンテキスト情報を</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つのカテゴリに分類して収集します。次に特徴量設計で、</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カテゴリ・</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次元の特徴量空間を構築し、データリーケージの防止をします。</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つ目の予測モデルでは、</a:t>
            </a:r>
            <a:r>
              <a:rPr kumimoji="1" lang="en" altLang="ja-JP" sz="1200" b="0" kern="1200" dirty="0">
                <a:solidFill>
                  <a:schemeClr val="tx1"/>
                </a:solidFill>
                <a:effectLst/>
                <a:latin typeface="+mn-lt"/>
                <a:ea typeface="+mn-ea"/>
                <a:cs typeface="+mn-cs"/>
              </a:rPr>
              <a:t>Random Forest</a:t>
            </a:r>
            <a:r>
              <a:rPr kumimoji="1" lang="ja-JP" altLang="en-US" sz="1200" b="0" kern="1200">
                <a:solidFill>
                  <a:schemeClr val="tx1"/>
                </a:solidFill>
                <a:effectLst/>
                <a:latin typeface="+mn-lt"/>
                <a:ea typeface="+mn-ea"/>
                <a:cs typeface="+mn-cs"/>
              </a:rPr>
              <a:t>とルールベースを掛け合わせ、個人ごとに独立したモデルを訓練します。</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つ目の特徴量選択では、</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など</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つの手法を用いて</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次元から</a:t>
            </a:r>
            <a:r>
              <a:rPr kumimoji="1" lang="en-US" altLang="ja-JP" sz="1200" b="0" kern="1200" dirty="0">
                <a:solidFill>
                  <a:schemeClr val="tx1"/>
                </a:solidFill>
                <a:effectLst/>
                <a:latin typeface="+mn-lt"/>
                <a:ea typeface="+mn-ea"/>
                <a:cs typeface="+mn-cs"/>
              </a:rPr>
              <a:t>12</a:t>
            </a:r>
            <a:r>
              <a:rPr kumimoji="1" lang="ja-JP" altLang="en-US" sz="1200" b="0" kern="1200">
                <a:solidFill>
                  <a:schemeClr val="tx1"/>
                </a:solidFill>
                <a:effectLst/>
                <a:latin typeface="+mn-lt"/>
                <a:ea typeface="+mn-ea"/>
                <a:cs typeface="+mn-cs"/>
              </a:rPr>
              <a:t>次元に絞り込み、個人に最適化します。最後に評価・検証として、時系列交差検証と、システム導入前後で後悔がどれだけ減ったかを示す</a:t>
            </a:r>
            <a:r>
              <a:rPr kumimoji="1" lang="en" altLang="ja-JP" sz="1200" b="0" kern="1200" dirty="0">
                <a:solidFill>
                  <a:schemeClr val="tx1"/>
                </a:solidFill>
                <a:effectLst/>
                <a:latin typeface="+mn-lt"/>
                <a:ea typeface="+mn-ea"/>
                <a:cs typeface="+mn-cs"/>
              </a:rPr>
              <a:t>RRR</a:t>
            </a:r>
            <a:r>
              <a:rPr kumimoji="1" lang="ja-JP" altLang="en-US" sz="1200" b="0" kern="1200">
                <a:solidFill>
                  <a:schemeClr val="tx1"/>
                </a:solidFill>
                <a:effectLst/>
                <a:latin typeface="+mn-lt"/>
                <a:ea typeface="+mn-ea"/>
                <a:cs typeface="+mn-cs"/>
              </a:rPr>
              <a:t>という指標により検証します。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システムは</a:t>
            </a:r>
            <a:r>
              <a:rPr kumimoji="1" lang="en" altLang="ja-JP" sz="1200" b="0" kern="1200" dirty="0">
                <a:solidFill>
                  <a:schemeClr val="tx1"/>
                </a:solidFill>
                <a:effectLst/>
                <a:latin typeface="+mn-lt"/>
                <a:ea typeface="+mn-ea"/>
                <a:cs typeface="+mn-cs"/>
              </a:rPr>
              <a:t>Flask</a:t>
            </a:r>
            <a:r>
              <a:rPr kumimoji="1" lang="ja-JP" altLang="en-US" sz="1200" b="0" kern="1200">
                <a:solidFill>
                  <a:schemeClr val="tx1"/>
                </a:solidFill>
                <a:effectLst/>
                <a:latin typeface="+mn-lt"/>
                <a:ea typeface="+mn-ea"/>
                <a:cs typeface="+mn-cs"/>
              </a:rPr>
              <a:t>ベースの</a:t>
            </a:r>
            <a:r>
              <a:rPr kumimoji="1" lang="en" altLang="ja-JP" sz="1200" b="0" kern="1200" dirty="0">
                <a:solidFill>
                  <a:schemeClr val="tx1"/>
                </a:solidFill>
                <a:effectLst/>
                <a:latin typeface="+mn-lt"/>
                <a:ea typeface="+mn-ea"/>
                <a:cs typeface="+mn-cs"/>
              </a:rPr>
              <a:t>Web</a:t>
            </a:r>
            <a:r>
              <a:rPr kumimoji="1" lang="ja-JP" altLang="en-US" sz="1200" b="0" kern="1200">
                <a:solidFill>
                  <a:schemeClr val="tx1"/>
                </a:solidFill>
                <a:effectLst/>
                <a:latin typeface="+mn-lt"/>
                <a:ea typeface="+mn-ea"/>
                <a:cs typeface="+mn-cs"/>
              </a:rPr>
              <a:t>アプリケーションとして実装されており、データストアに</a:t>
            </a:r>
            <a:r>
              <a:rPr kumimoji="1" lang="en" altLang="ja-JP" sz="1200" b="0" kern="1200" dirty="0">
                <a:solidFill>
                  <a:schemeClr val="tx1"/>
                </a:solidFill>
                <a:effectLst/>
                <a:latin typeface="+mn-lt"/>
                <a:ea typeface="+mn-ea"/>
                <a:cs typeface="+mn-cs"/>
              </a:rPr>
              <a:t>PostgreSQL</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機械学習パイプラインに</a:t>
            </a:r>
            <a:r>
              <a:rPr kumimoji="1" lang="en" altLang="ja-JP" sz="1200" b="0" kern="1200" dirty="0">
                <a:solidFill>
                  <a:schemeClr val="tx1"/>
                </a:solidFill>
                <a:effectLst/>
                <a:latin typeface="+mn-lt"/>
                <a:ea typeface="+mn-ea"/>
                <a:cs typeface="+mn-cs"/>
              </a:rPr>
              <a:t>scikit-learn</a:t>
            </a:r>
            <a:r>
              <a:rPr kumimoji="1" lang="ja-JP" altLang="en-US" sz="1200" b="0" kern="1200">
                <a:solidFill>
                  <a:schemeClr val="tx1"/>
                </a:solidFill>
                <a:effectLst/>
                <a:latin typeface="+mn-lt"/>
                <a:ea typeface="+mn-ea"/>
                <a:cs typeface="+mn-cs"/>
              </a:rPr>
              <a:t>および</a:t>
            </a:r>
            <a:r>
              <a:rPr kumimoji="1" lang="en" altLang="ja-JP" sz="1200" b="0" kern="1200" dirty="0" err="1">
                <a:solidFill>
                  <a:schemeClr val="tx1"/>
                </a:solidFill>
                <a:effectLst/>
                <a:latin typeface="+mn-lt"/>
                <a:ea typeface="+mn-ea"/>
                <a:cs typeface="+mn-cs"/>
              </a:rPr>
              <a:t>XGBoost</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モデルの解釈可能性のために</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ライブラリを採用しています。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アーキテクチャは</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つの主要モジュールで構成されます。</a:t>
            </a:r>
            <a:r>
              <a:rPr kumimoji="1" lang="en-US" altLang="ja-JP" sz="1200" b="0" kern="1200" dirty="0">
                <a:solidFill>
                  <a:schemeClr val="tx1"/>
                </a:solidFill>
                <a:effectLst/>
                <a:latin typeface="+mn-lt"/>
                <a:ea typeface="+mn-ea"/>
                <a:cs typeface="+mn-cs"/>
              </a:rPr>
              <a:t>1</a:t>
            </a:r>
            <a:r>
              <a:rPr kumimoji="1" lang="ja-JP" altLang="en-US" sz="1200" b="0" kern="1200">
                <a:solidFill>
                  <a:schemeClr val="tx1"/>
                </a:solidFill>
                <a:effectLst/>
                <a:latin typeface="+mn-lt"/>
                <a:ea typeface="+mn-ea"/>
                <a:cs typeface="+mn-cs"/>
              </a:rPr>
              <a:t>つ目は後悔予測の中核で、特徴量の抽出からモデルの訓練・予測、ルールベースへの切り替えまでを担当します。</a:t>
            </a:r>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つ目は特徴量選択で、</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など複数の手法で特徴量の重要度を計算し、個人に最適な特徴量の組み合わせを自動で選びます。</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つ目はパターン検出で、繰り返し起きる後悔のパターンを見つけて警告メッセージを生成します。</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つ目は評価モジュールで、時系列交差検証によるモデルの性能比較を行います。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データフローの全体像をご説明します。</a:t>
            </a:r>
          </a:p>
          <a:p>
            <a:r>
              <a:rPr kumimoji="1" lang="ja-JP" altLang="en-US" sz="1200" b="0" kern="1200">
                <a:solidFill>
                  <a:schemeClr val="tx1"/>
                </a:solidFill>
                <a:effectLst/>
                <a:latin typeface="+mn-lt"/>
                <a:ea typeface="+mn-ea"/>
                <a:cs typeface="+mn-cs"/>
              </a:rPr>
              <a:t>まずユーザーがカテゴリ、コンテキスト情報、決定要因を入力します。システムは入力と過去の履歴から</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次元の特徴量ベクトルを構築します。この際、データリーケージを防止するため、各意思決定の時点よりも厳密に過去のデータのみを使用します。次に、</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モデルまたはルールベースで後悔スコアを予測し、リスクレベル、警告メッセージ、類似過去ケースとともに結果を返します。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重要なのは学習ループの設計です。意思決定後にユーザーが後悔度や満足度のフィードバックを入力すると、そのデータがモデルの再訓練に使われます。フィードバックが</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件以上蓄積するとルールベースから</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へ自動的に移行し、新データ追加時には特徴量重要度も再計算されます。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データベーススキーマの設計についてご説明します。</a:t>
            </a:r>
          </a:p>
          <a:p>
            <a:r>
              <a:rPr kumimoji="1" lang="ja-JP" altLang="en-US" sz="1200" b="0" kern="1200">
                <a:solidFill>
                  <a:schemeClr val="tx1"/>
                </a:solidFill>
                <a:effectLst/>
                <a:latin typeface="+mn-lt"/>
                <a:ea typeface="+mn-ea"/>
                <a:cs typeface="+mn-cs"/>
              </a:rPr>
              <a:t>基盤となるテーブルは</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です。意思決定の内容を保存するテーブル、フィードバックとして後悔スコアや満足度を記録するテーブル、検出された後悔パターンを保存するテーブル、そしてユーザー情報のテーブルです。コンテキスト情報は項目を柔軟に拡張できるよう、</a:t>
            </a:r>
            <a:r>
              <a:rPr kumimoji="1" lang="en" altLang="ja-JP" sz="1200" b="0" kern="1200" dirty="0">
                <a:solidFill>
                  <a:schemeClr val="tx1"/>
                </a:solidFill>
                <a:effectLst/>
                <a:latin typeface="+mn-lt"/>
                <a:ea typeface="+mn-ea"/>
                <a:cs typeface="+mn-cs"/>
              </a:rPr>
              <a:t>JSONB</a:t>
            </a:r>
            <a:r>
              <a:rPr kumimoji="1" lang="ja-JP" altLang="en-US" sz="1200" b="0" kern="1200">
                <a:solidFill>
                  <a:schemeClr val="tx1"/>
                </a:solidFill>
                <a:effectLst/>
                <a:latin typeface="+mn-lt"/>
                <a:ea typeface="+mn-ea"/>
                <a:cs typeface="+mn-cs"/>
              </a:rPr>
              <a:t>型で格納しています。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これに加えて、モデルの性能記録、特徴量の重要度、実験管理、ユーザー行動ログ、予測の説明情報、</a:t>
            </a:r>
            <a:r>
              <a:rPr kumimoji="1" lang="en" altLang="ja-JP" sz="1200" b="0" kern="1200" dirty="0">
                <a:solidFill>
                  <a:schemeClr val="tx1"/>
                </a:solidFill>
                <a:effectLst/>
                <a:latin typeface="+mn-lt"/>
                <a:ea typeface="+mn-ea"/>
                <a:cs typeface="+mn-cs"/>
              </a:rPr>
              <a:t>A/B</a:t>
            </a:r>
            <a:r>
              <a:rPr kumimoji="1" lang="ja-JP" altLang="en-US" sz="1200" b="0" kern="1200">
                <a:solidFill>
                  <a:schemeClr val="tx1"/>
                </a:solidFill>
                <a:effectLst/>
                <a:latin typeface="+mn-lt"/>
                <a:ea typeface="+mn-ea"/>
                <a:cs typeface="+mn-cs"/>
              </a:rPr>
              <a:t>テストの割り当てという</a:t>
            </a:r>
            <a:r>
              <a:rPr kumimoji="1" lang="en-US" altLang="ja-JP" sz="1200" b="0" kern="1200" dirty="0">
                <a:solidFill>
                  <a:schemeClr val="tx1"/>
                </a:solidFill>
                <a:effectLst/>
                <a:latin typeface="+mn-lt"/>
                <a:ea typeface="+mn-ea"/>
                <a:cs typeface="+mn-cs"/>
              </a:rPr>
              <a:t>6</a:t>
            </a:r>
            <a:r>
              <a:rPr kumimoji="1" lang="ja-JP" altLang="en-US" sz="1200" b="0" kern="1200">
                <a:solidFill>
                  <a:schemeClr val="tx1"/>
                </a:solidFill>
                <a:effectLst/>
                <a:latin typeface="+mn-lt"/>
                <a:ea typeface="+mn-ea"/>
                <a:cs typeface="+mn-cs"/>
              </a:rPr>
              <a:t>つの研究用テーブルを設けています。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予測モデルの入力となる</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次元の特徴量空間について説明します。特徴量は</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つのカテゴリに分類されます。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第一の決定要因特徴量は</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次元で、価格、味の期待度、健康面の価値、所要時間です。意思決定の対象そのものの属性を数値化したものです。</a:t>
            </a:r>
          </a:p>
          <a:p>
            <a:r>
              <a:rPr kumimoji="1" lang="ja-JP" altLang="en-US" sz="1200" b="0" kern="1200">
                <a:solidFill>
                  <a:schemeClr val="tx1"/>
                </a:solidFill>
                <a:effectLst/>
                <a:latin typeface="+mn-lt"/>
                <a:ea typeface="+mn-ea"/>
                <a:cs typeface="+mn-cs"/>
              </a:rPr>
              <a:t>第二のコンテキスト特徴量は</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次元で、気分、ストレス、空腹度、残り予算、一人か誰かと一緒かを表します。特にストレスと空腹度は、行動経済学でいうホットステートの指標として重要です。生理的覚醒が判断を歪めるという知見に基づいており、ダミーデータの分析でも、ストレスが</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以上かつ空腹度が</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の状態での意思決定は後悔スコアが高い傾向を示しました。</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第三の時間特徴量は</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次元で、時刻、ランチ帯かどうか、ディナー帯かどうか、曜日、天気です。深夜帯の意思決定は後悔率が高いという知見がダミーデータからも確認されています。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第四のユーザー履歴特徴量は</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次元で、同カテゴリの過去の平均後悔度、その分散、過去の決定数、直近</a:t>
            </a:r>
            <a:r>
              <a:rPr kumimoji="1" lang="en-US" altLang="ja-JP" sz="1200" b="0" kern="1200" dirty="0">
                <a:solidFill>
                  <a:schemeClr val="tx1"/>
                </a:solidFill>
                <a:effectLst/>
                <a:latin typeface="+mn-lt"/>
                <a:ea typeface="+mn-ea"/>
                <a:cs typeface="+mn-cs"/>
              </a:rPr>
              <a:t>1</a:t>
            </a:r>
            <a:r>
              <a:rPr kumimoji="1" lang="ja-JP" altLang="en-US" sz="1200" b="0" kern="1200">
                <a:solidFill>
                  <a:schemeClr val="tx1"/>
                </a:solidFill>
                <a:effectLst/>
                <a:latin typeface="+mn-lt"/>
                <a:ea typeface="+mn-ea"/>
                <a:cs typeface="+mn-cs"/>
              </a:rPr>
              <a:t>週間の後悔傾向です。この</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次元は過去の行動パターンから動的に計算されるもので、データリーケージの防止が特に重要です。各意思決定の時点よりも厳密に過去の履歴とフィードバックのみを使用して特徴量を計算しています。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予測モデルのアーキテクチャについて説明します。</a:t>
            </a:r>
          </a:p>
          <a:p>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モデルには</a:t>
            </a:r>
            <a:r>
              <a:rPr kumimoji="1" lang="en" altLang="ja-JP" sz="1200" b="0" kern="1200" dirty="0">
                <a:solidFill>
                  <a:schemeClr val="tx1"/>
                </a:solidFill>
                <a:effectLst/>
                <a:latin typeface="+mn-lt"/>
                <a:ea typeface="+mn-ea"/>
                <a:cs typeface="+mn-cs"/>
              </a:rPr>
              <a:t>Random Forest</a:t>
            </a:r>
            <a:r>
              <a:rPr kumimoji="1" lang="ja-JP" altLang="en-US" sz="1200" b="0" kern="1200">
                <a:solidFill>
                  <a:schemeClr val="tx1"/>
                </a:solidFill>
                <a:effectLst/>
                <a:latin typeface="+mn-lt"/>
                <a:ea typeface="+mn-ea"/>
                <a:cs typeface="+mn-cs"/>
              </a:rPr>
              <a:t>を採用しました。選択の理由は、少量データでも安定した予測が可能であること、特徴量の重要度を内部的に計算できること、</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による説明と相性が良いことです。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訓練フローとしては、まず</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件以上のフィードバックデータを取得し、標準化した上で、</a:t>
            </a:r>
            <a:r>
              <a:rPr kumimoji="1" lang="en-US" altLang="ja-JP" sz="1200" b="0" kern="1200" dirty="0">
                <a:solidFill>
                  <a:schemeClr val="tx1"/>
                </a:solidFill>
                <a:effectLst/>
                <a:latin typeface="+mn-lt"/>
                <a:ea typeface="+mn-ea"/>
                <a:cs typeface="+mn-cs"/>
              </a:rPr>
              <a:t>50</a:t>
            </a:r>
            <a:r>
              <a:rPr kumimoji="1" lang="ja-JP" altLang="en-US" sz="1200" b="0" kern="1200">
                <a:solidFill>
                  <a:schemeClr val="tx1"/>
                </a:solidFill>
                <a:effectLst/>
                <a:latin typeface="+mn-lt"/>
                <a:ea typeface="+mn-ea"/>
                <a:cs typeface="+mn-cs"/>
              </a:rPr>
              <a:t>本の決定木からなる</a:t>
            </a:r>
            <a:r>
              <a:rPr kumimoji="1" lang="en" altLang="ja-JP" sz="1200" b="0" kern="1200" dirty="0">
                <a:solidFill>
                  <a:schemeClr val="tx1"/>
                </a:solidFill>
                <a:effectLst/>
                <a:latin typeface="+mn-lt"/>
                <a:ea typeface="+mn-ea"/>
                <a:cs typeface="+mn-cs"/>
              </a:rPr>
              <a:t>Random Forest</a:t>
            </a:r>
            <a:r>
              <a:rPr kumimoji="1" lang="ja-JP" altLang="en-US" sz="1200" b="0" kern="1200">
                <a:solidFill>
                  <a:schemeClr val="tx1"/>
                </a:solidFill>
                <a:effectLst/>
                <a:latin typeface="+mn-lt"/>
                <a:ea typeface="+mn-ea"/>
                <a:cs typeface="+mn-cs"/>
              </a:rPr>
              <a:t>を訓練します。出力は</a:t>
            </a:r>
            <a:r>
              <a:rPr kumimoji="1" lang="en-US" altLang="ja-JP" sz="1200" b="0" kern="1200" dirty="0">
                <a:solidFill>
                  <a:schemeClr val="tx1"/>
                </a:solidFill>
                <a:effectLst/>
                <a:latin typeface="+mn-lt"/>
                <a:ea typeface="+mn-ea"/>
                <a:cs typeface="+mn-cs"/>
              </a:rPr>
              <a:t>0</a:t>
            </a:r>
            <a:r>
              <a:rPr kumimoji="1" lang="ja-JP" altLang="en-US" sz="1200" b="0" kern="1200">
                <a:solidFill>
                  <a:schemeClr val="tx1"/>
                </a:solidFill>
                <a:effectLst/>
                <a:latin typeface="+mn-lt"/>
                <a:ea typeface="+mn-ea"/>
                <a:cs typeface="+mn-cs"/>
              </a:rPr>
              <a:t>から</a:t>
            </a:r>
            <a:r>
              <a:rPr kumimoji="1" lang="en-US" altLang="ja-JP" sz="1200" b="0" kern="1200" dirty="0">
                <a:solidFill>
                  <a:schemeClr val="tx1"/>
                </a:solidFill>
                <a:effectLst/>
                <a:latin typeface="+mn-lt"/>
                <a:ea typeface="+mn-ea"/>
                <a:cs typeface="+mn-cs"/>
              </a:rPr>
              <a:t>1</a:t>
            </a:r>
            <a:r>
              <a:rPr kumimoji="1" lang="ja-JP" altLang="en-US" sz="1200" b="0" kern="1200">
                <a:solidFill>
                  <a:schemeClr val="tx1"/>
                </a:solidFill>
                <a:effectLst/>
                <a:latin typeface="+mn-lt"/>
                <a:ea typeface="+mn-ea"/>
                <a:cs typeface="+mn-cs"/>
              </a:rPr>
              <a:t>の連続値で、元の後悔スコア</a:t>
            </a:r>
            <a:r>
              <a:rPr kumimoji="1" lang="en-US" altLang="ja-JP" sz="1200" b="0" kern="1200" dirty="0">
                <a:solidFill>
                  <a:schemeClr val="tx1"/>
                </a:solidFill>
                <a:effectLst/>
                <a:latin typeface="+mn-lt"/>
                <a:ea typeface="+mn-ea"/>
                <a:cs typeface="+mn-cs"/>
              </a:rPr>
              <a:t>1〜5</a:t>
            </a:r>
            <a:r>
              <a:rPr kumimoji="1" lang="ja-JP" altLang="en-US" sz="1200" b="0" kern="1200">
                <a:solidFill>
                  <a:schemeClr val="tx1"/>
                </a:solidFill>
                <a:effectLst/>
                <a:latin typeface="+mn-lt"/>
                <a:ea typeface="+mn-ea"/>
                <a:cs typeface="+mn-cs"/>
              </a:rPr>
              <a:t>を正規化したものです。個人ごとに独立したモデルを訓練・保存することで、個人差に対応しています。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フィードバックが</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件未満の場合は、ルールベースのフォールバックが自動適用されます。これはコールドスタート問題への対応です。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設計としては、ベーススコア</a:t>
            </a:r>
            <a:r>
              <a:rPr kumimoji="1" lang="en-US" altLang="ja-JP" sz="1200" b="0" kern="1200" dirty="0">
                <a:solidFill>
                  <a:schemeClr val="tx1"/>
                </a:solidFill>
                <a:effectLst/>
                <a:latin typeface="+mn-lt"/>
                <a:ea typeface="+mn-ea"/>
                <a:cs typeface="+mn-cs"/>
              </a:rPr>
              <a:t>0.3</a:t>
            </a:r>
            <a:r>
              <a:rPr kumimoji="1" lang="ja-JP" altLang="en-US" sz="1200" b="0" kern="1200">
                <a:solidFill>
                  <a:schemeClr val="tx1"/>
                </a:solidFill>
                <a:effectLst/>
                <a:latin typeface="+mn-lt"/>
                <a:ea typeface="+mn-ea"/>
                <a:cs typeface="+mn-cs"/>
              </a:rPr>
              <a:t>に対して、ストレスレベル</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以上でプラス</a:t>
            </a:r>
            <a:r>
              <a:rPr kumimoji="1" lang="en-US" altLang="ja-JP" sz="1200" b="0" kern="1200" dirty="0">
                <a:solidFill>
                  <a:schemeClr val="tx1"/>
                </a:solidFill>
                <a:effectLst/>
                <a:latin typeface="+mn-lt"/>
                <a:ea typeface="+mn-ea"/>
                <a:cs typeface="+mn-cs"/>
              </a:rPr>
              <a:t>0.20</a:t>
            </a:r>
            <a:r>
              <a:rPr kumimoji="1" lang="ja-JP" altLang="en-US" sz="1200" b="0" kern="1200">
                <a:solidFill>
                  <a:schemeClr val="tx1"/>
                </a:solidFill>
                <a:effectLst/>
                <a:latin typeface="+mn-lt"/>
                <a:ea typeface="+mn-ea"/>
                <a:cs typeface="+mn-cs"/>
              </a:rPr>
              <a:t>、価格</a:t>
            </a:r>
            <a:r>
              <a:rPr kumimoji="1" lang="en-US" altLang="ja-JP" sz="1200" b="0" kern="1200" dirty="0">
                <a:solidFill>
                  <a:schemeClr val="tx1"/>
                </a:solidFill>
                <a:effectLst/>
                <a:latin typeface="+mn-lt"/>
                <a:ea typeface="+mn-ea"/>
                <a:cs typeface="+mn-cs"/>
              </a:rPr>
              <a:t>1000</a:t>
            </a:r>
            <a:r>
              <a:rPr kumimoji="1" lang="ja-JP" altLang="en-US" sz="1200" b="0" kern="1200">
                <a:solidFill>
                  <a:schemeClr val="tx1"/>
                </a:solidFill>
                <a:effectLst/>
                <a:latin typeface="+mn-lt"/>
                <a:ea typeface="+mn-ea"/>
                <a:cs typeface="+mn-cs"/>
              </a:rPr>
              <a:t>円超でプラス</a:t>
            </a:r>
            <a:r>
              <a:rPr kumimoji="1" lang="en-US" altLang="ja-JP" sz="1200" b="0" kern="1200" dirty="0">
                <a:solidFill>
                  <a:schemeClr val="tx1"/>
                </a:solidFill>
                <a:effectLst/>
                <a:latin typeface="+mn-lt"/>
                <a:ea typeface="+mn-ea"/>
                <a:cs typeface="+mn-cs"/>
              </a:rPr>
              <a:t>0.15</a:t>
            </a:r>
            <a:r>
              <a:rPr kumimoji="1" lang="ja-JP" altLang="en-US" sz="1200" b="0" kern="1200">
                <a:solidFill>
                  <a:schemeClr val="tx1"/>
                </a:solidFill>
                <a:effectLst/>
                <a:latin typeface="+mn-lt"/>
                <a:ea typeface="+mn-ea"/>
                <a:cs typeface="+mn-cs"/>
              </a:rPr>
              <a:t>、といった条件で加算していく重み付きスコアリングです。各条件の重みは行動経済学の知見をもとに設定しました。</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予測結果は</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段階のリスクレベルに分類されます。</a:t>
            </a:r>
            <a:r>
              <a:rPr kumimoji="1" lang="en-US" altLang="ja-JP" sz="1200" b="0" kern="1200" dirty="0">
                <a:solidFill>
                  <a:schemeClr val="tx1"/>
                </a:solidFill>
                <a:effectLst/>
                <a:latin typeface="+mn-lt"/>
                <a:ea typeface="+mn-ea"/>
                <a:cs typeface="+mn-cs"/>
              </a:rPr>
              <a:t>0.7</a:t>
            </a:r>
            <a:r>
              <a:rPr kumimoji="1" lang="ja-JP" altLang="en-US" sz="1200" b="0" kern="1200">
                <a:solidFill>
                  <a:schemeClr val="tx1"/>
                </a:solidFill>
                <a:effectLst/>
                <a:latin typeface="+mn-lt"/>
                <a:ea typeface="+mn-ea"/>
                <a:cs typeface="+mn-cs"/>
              </a:rPr>
              <a:t>以上が高リスクで強い警告を表示、</a:t>
            </a:r>
            <a:r>
              <a:rPr kumimoji="1" lang="en-US" altLang="ja-JP" sz="1200" b="0" kern="1200" dirty="0">
                <a:solidFill>
                  <a:schemeClr val="tx1"/>
                </a:solidFill>
                <a:effectLst/>
                <a:latin typeface="+mn-lt"/>
                <a:ea typeface="+mn-ea"/>
                <a:cs typeface="+mn-cs"/>
              </a:rPr>
              <a:t>0.4</a:t>
            </a:r>
            <a:r>
              <a:rPr kumimoji="1" lang="ja-JP" altLang="en-US" sz="1200" b="0" kern="1200">
                <a:solidFill>
                  <a:schemeClr val="tx1"/>
                </a:solidFill>
                <a:effectLst/>
                <a:latin typeface="+mn-lt"/>
                <a:ea typeface="+mn-ea"/>
                <a:cs typeface="+mn-cs"/>
              </a:rPr>
              <a:t>以上</a:t>
            </a:r>
            <a:r>
              <a:rPr kumimoji="1" lang="en-US" altLang="ja-JP" sz="1200" b="0" kern="1200" dirty="0">
                <a:solidFill>
                  <a:schemeClr val="tx1"/>
                </a:solidFill>
                <a:effectLst/>
                <a:latin typeface="+mn-lt"/>
                <a:ea typeface="+mn-ea"/>
                <a:cs typeface="+mn-cs"/>
              </a:rPr>
              <a:t>0.7</a:t>
            </a:r>
            <a:r>
              <a:rPr kumimoji="1" lang="ja-JP" altLang="en-US" sz="1200" b="0" kern="1200">
                <a:solidFill>
                  <a:schemeClr val="tx1"/>
                </a:solidFill>
                <a:effectLst/>
                <a:latin typeface="+mn-lt"/>
                <a:ea typeface="+mn-ea"/>
                <a:cs typeface="+mn-cs"/>
              </a:rPr>
              <a:t>未満が中リスクで注意喚起、</a:t>
            </a:r>
            <a:r>
              <a:rPr kumimoji="1" lang="en-US" altLang="ja-JP" sz="1200" b="0" kern="1200" dirty="0">
                <a:solidFill>
                  <a:schemeClr val="tx1"/>
                </a:solidFill>
                <a:effectLst/>
                <a:latin typeface="+mn-lt"/>
                <a:ea typeface="+mn-ea"/>
                <a:cs typeface="+mn-cs"/>
              </a:rPr>
              <a:t>0.4</a:t>
            </a:r>
            <a:r>
              <a:rPr kumimoji="1" lang="ja-JP" altLang="en-US" sz="1200" b="0" kern="1200">
                <a:solidFill>
                  <a:schemeClr val="tx1"/>
                </a:solidFill>
                <a:effectLst/>
                <a:latin typeface="+mn-lt"/>
                <a:ea typeface="+mn-ea"/>
                <a:cs typeface="+mn-cs"/>
              </a:rPr>
              <a:t>未満が低リスクです。例えば、ベーススコア</a:t>
            </a:r>
            <a:r>
              <a:rPr kumimoji="1" lang="en-US" altLang="ja-JP" sz="1200" b="0" kern="1200" dirty="0">
                <a:solidFill>
                  <a:schemeClr val="tx1"/>
                </a:solidFill>
                <a:effectLst/>
                <a:latin typeface="+mn-lt"/>
                <a:ea typeface="+mn-ea"/>
                <a:cs typeface="+mn-cs"/>
              </a:rPr>
              <a:t>0.3</a:t>
            </a:r>
            <a:r>
              <a:rPr kumimoji="1" lang="ja-JP" altLang="en-US" sz="1200" b="0" kern="1200">
                <a:solidFill>
                  <a:schemeClr val="tx1"/>
                </a:solidFill>
                <a:effectLst/>
                <a:latin typeface="+mn-lt"/>
                <a:ea typeface="+mn-ea"/>
                <a:cs typeface="+mn-cs"/>
              </a:rPr>
              <a:t>にストレスのプラス</a:t>
            </a:r>
            <a:r>
              <a:rPr kumimoji="1" lang="en-US" altLang="ja-JP" sz="1200" b="0" kern="1200" dirty="0">
                <a:solidFill>
                  <a:schemeClr val="tx1"/>
                </a:solidFill>
                <a:effectLst/>
                <a:latin typeface="+mn-lt"/>
                <a:ea typeface="+mn-ea"/>
                <a:cs typeface="+mn-cs"/>
              </a:rPr>
              <a:t>0.20</a:t>
            </a:r>
            <a:r>
              <a:rPr kumimoji="1" lang="ja-JP" altLang="en-US" sz="1200" b="0" kern="1200">
                <a:solidFill>
                  <a:schemeClr val="tx1"/>
                </a:solidFill>
                <a:effectLst/>
                <a:latin typeface="+mn-lt"/>
                <a:ea typeface="+mn-ea"/>
                <a:cs typeface="+mn-cs"/>
              </a:rPr>
              <a:t>と価格のプラス</a:t>
            </a:r>
            <a:r>
              <a:rPr kumimoji="1" lang="en-US" altLang="ja-JP" sz="1200" b="0" kern="1200" dirty="0">
                <a:solidFill>
                  <a:schemeClr val="tx1"/>
                </a:solidFill>
                <a:effectLst/>
                <a:latin typeface="+mn-lt"/>
                <a:ea typeface="+mn-ea"/>
                <a:cs typeface="+mn-cs"/>
              </a:rPr>
              <a:t>0.15</a:t>
            </a:r>
            <a:r>
              <a:rPr kumimoji="1" lang="ja-JP" altLang="en-US" sz="1200" b="0" kern="1200">
                <a:solidFill>
                  <a:schemeClr val="tx1"/>
                </a:solidFill>
                <a:effectLst/>
                <a:latin typeface="+mn-lt"/>
                <a:ea typeface="+mn-ea"/>
                <a:cs typeface="+mn-cs"/>
              </a:rPr>
              <a:t>を加えると</a:t>
            </a:r>
            <a:r>
              <a:rPr kumimoji="1" lang="en-US" altLang="ja-JP" sz="1200" b="0" kern="1200" dirty="0">
                <a:solidFill>
                  <a:schemeClr val="tx1"/>
                </a:solidFill>
                <a:effectLst/>
                <a:latin typeface="+mn-lt"/>
                <a:ea typeface="+mn-ea"/>
                <a:cs typeface="+mn-cs"/>
              </a:rPr>
              <a:t>0.65</a:t>
            </a:r>
            <a:r>
              <a:rPr kumimoji="1" lang="ja-JP" altLang="en-US" sz="1200" b="0" kern="1200">
                <a:solidFill>
                  <a:schemeClr val="tx1"/>
                </a:solidFill>
                <a:effectLst/>
                <a:latin typeface="+mn-lt"/>
                <a:ea typeface="+mn-ea"/>
                <a:cs typeface="+mn-cs"/>
              </a:rPr>
              <a:t>で中リスクとなります。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個人ごとの適応的特徴量選択についてご説明します。</a:t>
            </a:r>
          </a:p>
          <a:p>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次元の全特徴量がすべてのユーザーに等しく重要であるとは限りません。全特徴量をそのまま使うと、特定のユーザーにとってはノイズとなる特徴量が含まれ、少量データでの過学習リスクが高まります。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そこで、</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つの選択手法を統合しました。</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による貢献度のランキング、特徴量をシャッフルして性能低下を測る</a:t>
            </a:r>
            <a:r>
              <a:rPr kumimoji="1" lang="en" altLang="ja-JP" sz="1200" b="0" kern="1200" dirty="0">
                <a:solidFill>
                  <a:schemeClr val="tx1"/>
                </a:solidFill>
                <a:effectLst/>
                <a:latin typeface="+mn-lt"/>
                <a:ea typeface="+mn-ea"/>
                <a:cs typeface="+mn-cs"/>
              </a:rPr>
              <a:t>Permutation Importance</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重要度の低い特徴量を順に除去していく</a:t>
            </a:r>
            <a:r>
              <a:rPr kumimoji="1" lang="en" altLang="ja-JP" sz="1200" b="0" kern="1200" dirty="0">
                <a:solidFill>
                  <a:schemeClr val="tx1"/>
                </a:solidFill>
                <a:effectLst/>
                <a:latin typeface="+mn-lt"/>
                <a:ea typeface="+mn-ea"/>
                <a:cs typeface="+mn-cs"/>
              </a:rPr>
              <a:t>RFE</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そして統計的な相関に基づくフィルタリングです。デフォルトで</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次元から</a:t>
            </a:r>
            <a:r>
              <a:rPr kumimoji="1" lang="en-US" altLang="ja-JP" sz="1200" b="0" kern="1200" dirty="0">
                <a:solidFill>
                  <a:schemeClr val="tx1"/>
                </a:solidFill>
                <a:effectLst/>
                <a:latin typeface="+mn-lt"/>
                <a:ea typeface="+mn-ea"/>
                <a:cs typeface="+mn-cs"/>
              </a:rPr>
              <a:t>12</a:t>
            </a:r>
            <a:r>
              <a:rPr kumimoji="1" lang="ja-JP" altLang="en-US" sz="1200" b="0" kern="1200">
                <a:solidFill>
                  <a:schemeClr val="tx1"/>
                </a:solidFill>
                <a:effectLst/>
                <a:latin typeface="+mn-lt"/>
                <a:ea typeface="+mn-ea"/>
                <a:cs typeface="+mn-cs"/>
              </a:rPr>
              <a:t>次元に絞り込み、個人ごとに最適な組み合わせを選択してモデルを再訓練します。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パターン検出は、</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予測とは独立に動作するルールベースのエンジンです。</a:t>
            </a:r>
          </a:p>
          <a:p>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種類のパターンを検出します。高ストレス時のカテゴリ別後悔、高額購入時の後悔、低期待値の選択、曜日別パターンです。各パターンは最低</a:t>
            </a:r>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回以上の出現で初めてデータベースに登録されます。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予測時には、パターン情報に基づいて「あなたは疲れている時に食事で後悔しやすい傾向があります、過去</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回」といった個人化された警告メッセージを生成します。さらに、類似する過去のケースを日付・内容・スコア・理由とともに最大</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件表示し、自分自身の具体的な経験を想起させることでより説得力のある意思決定支援を行います。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実装の詳細について補足します。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主要な</a:t>
            </a:r>
            <a:r>
              <a:rPr kumimoji="1" lang="en" altLang="ja-JP" sz="1200" b="0" kern="1200" dirty="0">
                <a:solidFill>
                  <a:schemeClr val="tx1"/>
                </a:solidFill>
                <a:effectLst/>
                <a:latin typeface="+mn-lt"/>
                <a:ea typeface="+mn-ea"/>
                <a:cs typeface="+mn-cs"/>
              </a:rPr>
              <a:t>API</a:t>
            </a:r>
            <a:r>
              <a:rPr kumimoji="1" lang="ja-JP" altLang="en-US" sz="1200" b="0" kern="1200">
                <a:solidFill>
                  <a:schemeClr val="tx1"/>
                </a:solidFill>
                <a:effectLst/>
                <a:latin typeface="+mn-lt"/>
                <a:ea typeface="+mn-ea"/>
                <a:cs typeface="+mn-cs"/>
              </a:rPr>
              <a:t>として、意思決定の登録、フィードバックの送信、後悔予測の取得、評価実験の実行などを提供しています。技術スタックとしては、</a:t>
            </a:r>
            <a:r>
              <a:rPr kumimoji="1" lang="en" altLang="ja-JP" sz="1200" b="0" kern="1200" dirty="0">
                <a:solidFill>
                  <a:schemeClr val="tx1"/>
                </a:solidFill>
                <a:effectLst/>
                <a:latin typeface="+mn-lt"/>
                <a:ea typeface="+mn-ea"/>
                <a:cs typeface="+mn-cs"/>
              </a:rPr>
              <a:t>Flask</a:t>
            </a:r>
            <a:r>
              <a:rPr kumimoji="1" lang="ja-JP" altLang="en-US" sz="1200" b="0" kern="1200">
                <a:solidFill>
                  <a:schemeClr val="tx1"/>
                </a:solidFill>
                <a:effectLst/>
                <a:latin typeface="+mn-lt"/>
                <a:ea typeface="+mn-ea"/>
                <a:cs typeface="+mn-cs"/>
              </a:rPr>
              <a:t>をバックエンドに、</a:t>
            </a:r>
            <a:r>
              <a:rPr kumimoji="1" lang="en" altLang="ja-JP" sz="1200" b="0" kern="1200" dirty="0">
                <a:solidFill>
                  <a:schemeClr val="tx1"/>
                </a:solidFill>
                <a:effectLst/>
                <a:latin typeface="+mn-lt"/>
                <a:ea typeface="+mn-ea"/>
                <a:cs typeface="+mn-cs"/>
              </a:rPr>
              <a:t>PostgreSQL</a:t>
            </a:r>
            <a:r>
              <a:rPr kumimoji="1" lang="ja-JP" altLang="en-US" sz="1200" b="0" kern="1200">
                <a:solidFill>
                  <a:schemeClr val="tx1"/>
                </a:solidFill>
                <a:effectLst/>
                <a:latin typeface="+mn-lt"/>
                <a:ea typeface="+mn-ea"/>
                <a:cs typeface="+mn-cs"/>
              </a:rPr>
              <a:t>で柔軟なデータ格納を行い、</a:t>
            </a:r>
            <a:r>
              <a:rPr kumimoji="1" lang="en" altLang="ja-JP" sz="1200" b="0" kern="1200" dirty="0">
                <a:solidFill>
                  <a:schemeClr val="tx1"/>
                </a:solidFill>
                <a:effectLst/>
                <a:latin typeface="+mn-lt"/>
                <a:ea typeface="+mn-ea"/>
                <a:cs typeface="+mn-cs"/>
              </a:rPr>
              <a:t>scikit-learn</a:t>
            </a:r>
            <a:r>
              <a:rPr kumimoji="1" lang="ja-JP" altLang="en-US" sz="1200" b="0" kern="1200">
                <a:solidFill>
                  <a:schemeClr val="tx1"/>
                </a:solidFill>
                <a:effectLst/>
                <a:latin typeface="+mn-lt"/>
                <a:ea typeface="+mn-ea"/>
                <a:cs typeface="+mn-cs"/>
              </a:rPr>
              <a:t>と</a:t>
            </a:r>
            <a:r>
              <a:rPr kumimoji="1" lang="en" altLang="ja-JP" sz="1200" b="0" kern="1200" dirty="0" err="1">
                <a:solidFill>
                  <a:schemeClr val="tx1"/>
                </a:solidFill>
                <a:effectLst/>
                <a:latin typeface="+mn-lt"/>
                <a:ea typeface="+mn-ea"/>
                <a:cs typeface="+mn-cs"/>
              </a:rPr>
              <a:t>XGBoost</a:t>
            </a:r>
            <a:r>
              <a:rPr kumimoji="1" lang="ja-JP" altLang="en-US" sz="1200" b="0" kern="1200">
                <a:solidFill>
                  <a:schemeClr val="tx1"/>
                </a:solidFill>
                <a:effectLst/>
                <a:latin typeface="+mn-lt"/>
                <a:ea typeface="+mn-ea"/>
                <a:cs typeface="+mn-cs"/>
              </a:rPr>
              <a:t>で機械学習、</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で説明性を確保するという構成です。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モデル評価の方法論について説明します。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最も重要な設計判断は、通常の</a:t>
            </a:r>
            <a:r>
              <a:rPr kumimoji="1" lang="en" altLang="ja-JP" sz="1200" b="0" kern="1200" dirty="0">
                <a:solidFill>
                  <a:schemeClr val="tx1"/>
                </a:solidFill>
                <a:effectLst/>
                <a:latin typeface="+mn-lt"/>
                <a:ea typeface="+mn-ea"/>
                <a:cs typeface="+mn-cs"/>
              </a:rPr>
              <a:t>k</a:t>
            </a:r>
            <a:r>
              <a:rPr kumimoji="1" lang="ja-JP" altLang="en-US" sz="1200" b="0" kern="1200">
                <a:solidFill>
                  <a:schemeClr val="tx1"/>
                </a:solidFill>
                <a:effectLst/>
                <a:latin typeface="+mn-lt"/>
                <a:ea typeface="+mn-ea"/>
                <a:cs typeface="+mn-cs"/>
              </a:rPr>
              <a:t>分割交差検証ではなく時系列交差検証を採用した点です。意思決定データは本質的に時間的依存性を持っており、ランダムな分割では訓練データに未来の情報が混入するデータリーケージが発生します。時系列交差検証では常に時系列の前半で訓練し後半でテストするため、この問題を回避できます。分割数は</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で、データ量に応じて動的に調整します。比較対象のモデルは</a:t>
            </a:r>
            <a:r>
              <a:rPr kumimoji="1" lang="en" altLang="ja-JP" sz="1200" b="0" kern="1200" dirty="0">
                <a:solidFill>
                  <a:schemeClr val="tx1"/>
                </a:solidFill>
                <a:effectLst/>
                <a:latin typeface="+mn-lt"/>
                <a:ea typeface="+mn-ea"/>
                <a:cs typeface="+mn-cs"/>
              </a:rPr>
              <a:t>Random Forest</a:t>
            </a:r>
            <a:r>
              <a:rPr kumimoji="1" lang="ja-JP" altLang="en" sz="1200" b="0" kern="1200">
                <a:solidFill>
                  <a:schemeClr val="tx1"/>
                </a:solidFill>
                <a:effectLst/>
                <a:latin typeface="+mn-lt"/>
                <a:ea typeface="+mn-ea"/>
                <a:cs typeface="+mn-cs"/>
              </a:rPr>
              <a:t>、</a:t>
            </a:r>
            <a:r>
              <a:rPr kumimoji="1" lang="en" altLang="ja-JP" sz="1200" b="0" kern="1200" dirty="0" err="1">
                <a:solidFill>
                  <a:schemeClr val="tx1"/>
                </a:solidFill>
                <a:effectLst/>
                <a:latin typeface="+mn-lt"/>
                <a:ea typeface="+mn-ea"/>
                <a:cs typeface="+mn-cs"/>
              </a:rPr>
              <a:t>XGBoost</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ルールベースの</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種類です。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評価指標について説明します。</a:t>
            </a:r>
          </a:p>
          <a:p>
            <a:r>
              <a:rPr kumimoji="1" lang="ja-JP" altLang="en-US" sz="1200" b="0" kern="1200">
                <a:solidFill>
                  <a:schemeClr val="tx1"/>
                </a:solidFill>
                <a:effectLst/>
                <a:latin typeface="+mn-lt"/>
                <a:ea typeface="+mn-ea"/>
                <a:cs typeface="+mn-cs"/>
              </a:rPr>
              <a:t>回帰指標として</a:t>
            </a:r>
            <a:r>
              <a:rPr kumimoji="1" lang="en" altLang="ja-JP" sz="1200" b="0" kern="1200" dirty="0">
                <a:solidFill>
                  <a:schemeClr val="tx1"/>
                </a:solidFill>
                <a:effectLst/>
                <a:latin typeface="+mn-lt"/>
                <a:ea typeface="+mn-ea"/>
                <a:cs typeface="+mn-cs"/>
              </a:rPr>
              <a:t>MAE</a:t>
            </a:r>
            <a:r>
              <a:rPr kumimoji="1" lang="ja-JP" altLang="en" sz="1200" b="0" kern="1200">
                <a:solidFill>
                  <a:schemeClr val="tx1"/>
                </a:solidFill>
                <a:effectLst/>
                <a:latin typeface="+mn-lt"/>
                <a:ea typeface="+mn-ea"/>
                <a:cs typeface="+mn-cs"/>
              </a:rPr>
              <a:t>、</a:t>
            </a:r>
            <a:r>
              <a:rPr kumimoji="1" lang="en" altLang="ja-JP" sz="1200" b="0" kern="1200" dirty="0">
                <a:solidFill>
                  <a:schemeClr val="tx1"/>
                </a:solidFill>
                <a:effectLst/>
                <a:latin typeface="+mn-lt"/>
                <a:ea typeface="+mn-ea"/>
                <a:cs typeface="+mn-cs"/>
              </a:rPr>
              <a:t>RMSE</a:t>
            </a:r>
            <a:r>
              <a:rPr kumimoji="1" lang="ja-JP" altLang="en" sz="1200" b="0" kern="1200">
                <a:solidFill>
                  <a:schemeClr val="tx1"/>
                </a:solidFill>
                <a:effectLst/>
                <a:latin typeface="+mn-lt"/>
                <a:ea typeface="+mn-ea"/>
                <a:cs typeface="+mn-cs"/>
              </a:rPr>
              <a:t>、</a:t>
            </a:r>
            <a:r>
              <a:rPr kumimoji="1" lang="en" altLang="ja-JP" sz="1200" b="0" kern="1200" dirty="0">
                <a:solidFill>
                  <a:schemeClr val="tx1"/>
                </a:solidFill>
                <a:effectLst/>
                <a:latin typeface="+mn-lt"/>
                <a:ea typeface="+mn-ea"/>
                <a:cs typeface="+mn-cs"/>
              </a:rPr>
              <a:t>R²</a:t>
            </a:r>
            <a:r>
              <a:rPr kumimoji="1" lang="ja-JP" altLang="en-US" sz="1200" b="0" kern="1200">
                <a:solidFill>
                  <a:schemeClr val="tx1"/>
                </a:solidFill>
                <a:effectLst/>
                <a:latin typeface="+mn-lt"/>
                <a:ea typeface="+mn-ea"/>
                <a:cs typeface="+mn-cs"/>
              </a:rPr>
              <a:t>を、分類指標として</a:t>
            </a:r>
            <a:r>
              <a:rPr kumimoji="1" lang="en" altLang="ja-JP" sz="1200" b="0" kern="1200" dirty="0">
                <a:solidFill>
                  <a:schemeClr val="tx1"/>
                </a:solidFill>
                <a:effectLst/>
                <a:latin typeface="+mn-lt"/>
                <a:ea typeface="+mn-ea"/>
                <a:cs typeface="+mn-cs"/>
              </a:rPr>
              <a:t>Accuracy</a:t>
            </a:r>
            <a:r>
              <a:rPr kumimoji="1" lang="ja-JP" altLang="en" sz="1200" b="0" kern="1200">
                <a:solidFill>
                  <a:schemeClr val="tx1"/>
                </a:solidFill>
                <a:effectLst/>
                <a:latin typeface="+mn-lt"/>
                <a:ea typeface="+mn-ea"/>
                <a:cs typeface="+mn-cs"/>
              </a:rPr>
              <a:t>、</a:t>
            </a:r>
            <a:r>
              <a:rPr kumimoji="1" lang="ja-JP" altLang="en-US" sz="1200" b="0" kern="1200">
                <a:solidFill>
                  <a:schemeClr val="tx1"/>
                </a:solidFill>
                <a:effectLst/>
                <a:latin typeface="+mn-lt"/>
                <a:ea typeface="+mn-ea"/>
                <a:cs typeface="+mn-cs"/>
              </a:rPr>
              <a:t>適合率、 再現率、</a:t>
            </a:r>
            <a:r>
              <a:rPr kumimoji="1" lang="en" altLang="ja-JP" sz="1200" b="0" kern="1200" dirty="0">
                <a:solidFill>
                  <a:schemeClr val="tx1"/>
                </a:solidFill>
                <a:effectLst/>
                <a:latin typeface="+mn-lt"/>
                <a:ea typeface="+mn-ea"/>
                <a:cs typeface="+mn-cs"/>
              </a:rPr>
              <a:t>F1</a:t>
            </a:r>
            <a:r>
              <a:rPr kumimoji="1" lang="ja-JP" altLang="en-US" sz="1200" b="0" kern="1200">
                <a:solidFill>
                  <a:schemeClr val="tx1"/>
                </a:solidFill>
                <a:effectLst/>
                <a:latin typeface="+mn-lt"/>
                <a:ea typeface="+mn-ea"/>
                <a:cs typeface="+mn-cs"/>
              </a:rPr>
              <a:t>スコアを算出します。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加えて、先ほど触れた</a:t>
            </a:r>
            <a:r>
              <a:rPr kumimoji="1" lang="en" altLang="ja-JP" sz="1200" b="0" kern="1200" dirty="0">
                <a:solidFill>
                  <a:schemeClr val="tx1"/>
                </a:solidFill>
                <a:effectLst/>
                <a:latin typeface="+mn-lt"/>
                <a:ea typeface="+mn-ea"/>
                <a:cs typeface="+mn-cs"/>
              </a:rPr>
              <a:t>RRR</a:t>
            </a:r>
            <a:r>
              <a:rPr kumimoji="1" lang="ja-JP" altLang="en" sz="1200" b="0" kern="1200">
                <a:solidFill>
                  <a:schemeClr val="tx1"/>
                </a:solidFill>
                <a:effectLst/>
                <a:latin typeface="+mn-lt"/>
                <a:ea typeface="+mn-ea"/>
                <a:cs typeface="+mn-cs"/>
              </a:rPr>
              <a:t>、</a:t>
            </a:r>
            <a:r>
              <a:rPr kumimoji="1" lang="en" altLang="ja-JP" sz="1200" b="0" kern="1200" dirty="0">
                <a:solidFill>
                  <a:schemeClr val="tx1"/>
                </a:solidFill>
                <a:effectLst/>
                <a:latin typeface="+mn-lt"/>
                <a:ea typeface="+mn-ea"/>
                <a:cs typeface="+mn-cs"/>
              </a:rPr>
              <a:t>Regret Reduction Rate</a:t>
            </a:r>
            <a:r>
              <a:rPr kumimoji="1" lang="ja-JP" altLang="en-US" sz="1200" b="0" kern="1200">
                <a:solidFill>
                  <a:schemeClr val="tx1"/>
                </a:solidFill>
                <a:effectLst/>
                <a:latin typeface="+mn-lt"/>
                <a:ea typeface="+mn-ea"/>
                <a:cs typeface="+mn-cs"/>
              </a:rPr>
              <a:t>についてです。計算式は、介入前の平均後悔度から介入後の平均後悔度を引き、介入前の平均後悔度で割ったものです。この値が大きいほどシステムによって後悔が減ったことを意味します。統計的有意性は</a:t>
            </a:r>
            <a:r>
              <a:rPr kumimoji="1" lang="en" altLang="ja-JP" sz="1200" b="0" kern="1200" dirty="0">
                <a:solidFill>
                  <a:schemeClr val="tx1"/>
                </a:solidFill>
                <a:effectLst/>
                <a:latin typeface="+mn-lt"/>
                <a:ea typeface="+mn-ea"/>
                <a:cs typeface="+mn-cs"/>
              </a:rPr>
              <a:t>t</a:t>
            </a:r>
            <a:r>
              <a:rPr kumimoji="1" lang="ja-JP" altLang="en-US" sz="1200" b="0" kern="1200">
                <a:solidFill>
                  <a:schemeClr val="tx1"/>
                </a:solidFill>
                <a:effectLst/>
                <a:latin typeface="+mn-lt"/>
                <a:ea typeface="+mn-ea"/>
                <a:cs typeface="+mn-cs"/>
              </a:rPr>
              <a:t>検定で検証し、</a:t>
            </a:r>
            <a:r>
              <a:rPr kumimoji="1" lang="en" altLang="ja-JP" sz="1200" b="0" kern="1200" dirty="0">
                <a:solidFill>
                  <a:schemeClr val="tx1"/>
                </a:solidFill>
                <a:effectLst/>
                <a:latin typeface="+mn-lt"/>
                <a:ea typeface="+mn-ea"/>
                <a:cs typeface="+mn-cs"/>
              </a:rPr>
              <a:t>p</a:t>
            </a:r>
            <a:r>
              <a:rPr kumimoji="1" lang="ja-JP" altLang="en-US" sz="1200" b="0" kern="1200">
                <a:solidFill>
                  <a:schemeClr val="tx1"/>
                </a:solidFill>
                <a:effectLst/>
                <a:latin typeface="+mn-lt"/>
                <a:ea typeface="+mn-ea"/>
                <a:cs typeface="+mn-cs"/>
              </a:rPr>
              <a:t>値</a:t>
            </a:r>
            <a:r>
              <a:rPr kumimoji="1" lang="en-US" altLang="ja-JP" sz="1200" b="0" kern="1200" dirty="0">
                <a:solidFill>
                  <a:schemeClr val="tx1"/>
                </a:solidFill>
                <a:effectLst/>
                <a:latin typeface="+mn-lt"/>
                <a:ea typeface="+mn-ea"/>
                <a:cs typeface="+mn-cs"/>
              </a:rPr>
              <a:t>0.05</a:t>
            </a:r>
            <a:r>
              <a:rPr kumimoji="1" lang="ja-JP" altLang="en-US" sz="1200" b="0" kern="1200">
                <a:solidFill>
                  <a:schemeClr val="tx1"/>
                </a:solidFill>
                <a:effectLst/>
                <a:latin typeface="+mn-lt"/>
                <a:ea typeface="+mn-ea"/>
                <a:cs typeface="+mn-cs"/>
              </a:rPr>
              <a:t>未満を有意差ありと判定します。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ダミーデータによる予備実験の結果をご報告します。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まずデータの準備方法です。行動経済学の知見をもとに、後悔に影響する要因をパラメータとして組み込んだ生成スクリプトを作成しました。具体的には、ストレスに敏感、価格に敏感、気分に左右されやすい、特定の傾向がないという</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タイプのユーザープロファイルを定義し、それぞれストレス感受性や価格感受性といった係数を変えています。コンテキストも現実に近づけており、例えば月末には残り予算が少なくなる、月曜日はストレスが上がりやすい、食事前は空腹度が高い、といった設定を入れています。後悔スコアはこれらの要因の重み付き加算にノイズを加えて算出し、乱数シードを固定して再現性を確保しています。</a:t>
            </a:r>
          </a:p>
          <a:p>
            <a:r>
              <a:rPr kumimoji="1" lang="ja-JP" altLang="en-US" sz="1200" b="0" kern="1200">
                <a:solidFill>
                  <a:schemeClr val="tx1"/>
                </a:solidFill>
                <a:effectLst/>
                <a:latin typeface="+mn-lt"/>
                <a:ea typeface="+mn-ea"/>
                <a:cs typeface="+mn-cs"/>
              </a:rPr>
              <a:t>この方法で</a:t>
            </a:r>
            <a:r>
              <a:rPr kumimoji="1" lang="en-US" altLang="ja-JP" sz="1200" b="0" kern="1200" dirty="0">
                <a:solidFill>
                  <a:schemeClr val="tx1"/>
                </a:solidFill>
                <a:effectLst/>
                <a:latin typeface="+mn-lt"/>
                <a:ea typeface="+mn-ea"/>
                <a:cs typeface="+mn-cs"/>
              </a:rPr>
              <a:t>33</a:t>
            </a:r>
            <a:r>
              <a:rPr kumimoji="1" lang="ja-JP" altLang="en-US" sz="1200" b="0" kern="1200">
                <a:solidFill>
                  <a:schemeClr val="tx1"/>
                </a:solidFill>
                <a:effectLst/>
                <a:latin typeface="+mn-lt"/>
                <a:ea typeface="+mn-ea"/>
                <a:cs typeface="+mn-cs"/>
              </a:rPr>
              <a:t>件の意思決定と</a:t>
            </a:r>
            <a:r>
              <a:rPr kumimoji="1" lang="en-US" altLang="ja-JP" sz="1200" b="0" kern="1200" dirty="0">
                <a:solidFill>
                  <a:schemeClr val="tx1"/>
                </a:solidFill>
                <a:effectLst/>
                <a:latin typeface="+mn-lt"/>
                <a:ea typeface="+mn-ea"/>
                <a:cs typeface="+mn-cs"/>
              </a:rPr>
              <a:t>32</a:t>
            </a:r>
            <a:r>
              <a:rPr kumimoji="1" lang="ja-JP" altLang="en-US" sz="1200" b="0" kern="1200">
                <a:solidFill>
                  <a:schemeClr val="tx1"/>
                </a:solidFill>
                <a:effectLst/>
                <a:latin typeface="+mn-lt"/>
                <a:ea typeface="+mn-ea"/>
                <a:cs typeface="+mn-cs"/>
              </a:rPr>
              <a:t>件のフィードバックからなるデータセットを構築し、</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分割時系列交差検証を実施しました。カテゴリは食事が最も多く、次いで買い物、娯楽、学習、仕事の順で、</a:t>
            </a:r>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ヶ月間の意思決定を模擬しています。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モデル比較の結果、</a:t>
            </a:r>
            <a:r>
              <a:rPr kumimoji="1" lang="en" altLang="ja-JP" sz="1200" b="0" kern="1200" dirty="0">
                <a:solidFill>
                  <a:schemeClr val="tx1"/>
                </a:solidFill>
                <a:effectLst/>
                <a:latin typeface="+mn-lt"/>
                <a:ea typeface="+mn-ea"/>
                <a:cs typeface="+mn-cs"/>
              </a:rPr>
              <a:t>Random Forest</a:t>
            </a:r>
            <a:r>
              <a:rPr kumimoji="1" lang="ja-JP" altLang="en-US" sz="1200" b="0" kern="1200">
                <a:solidFill>
                  <a:schemeClr val="tx1"/>
                </a:solidFill>
                <a:effectLst/>
                <a:latin typeface="+mn-lt"/>
                <a:ea typeface="+mn-ea"/>
                <a:cs typeface="+mn-cs"/>
              </a:rPr>
              <a:t>モデルは</a:t>
            </a:r>
            <a:r>
              <a:rPr kumimoji="1" lang="en" altLang="ja-JP" sz="1200" b="0" kern="1200" dirty="0">
                <a:solidFill>
                  <a:schemeClr val="tx1"/>
                </a:solidFill>
                <a:effectLst/>
                <a:latin typeface="+mn-lt"/>
                <a:ea typeface="+mn-ea"/>
                <a:cs typeface="+mn-cs"/>
              </a:rPr>
              <a:t>MAE</a:t>
            </a:r>
            <a:r>
              <a:rPr kumimoji="1" lang="ja-JP" altLang="en-US" sz="1200" b="0" kern="1200">
                <a:solidFill>
                  <a:schemeClr val="tx1"/>
                </a:solidFill>
                <a:effectLst/>
                <a:latin typeface="+mn-lt"/>
                <a:ea typeface="+mn-ea"/>
                <a:cs typeface="+mn-cs"/>
              </a:rPr>
              <a:t>および</a:t>
            </a:r>
            <a:r>
              <a:rPr kumimoji="1" lang="en" altLang="ja-JP" sz="1200" b="0" kern="1200" dirty="0">
                <a:solidFill>
                  <a:schemeClr val="tx1"/>
                </a:solidFill>
                <a:effectLst/>
                <a:latin typeface="+mn-lt"/>
                <a:ea typeface="+mn-ea"/>
                <a:cs typeface="+mn-cs"/>
              </a:rPr>
              <a:t>RMSE</a:t>
            </a:r>
            <a:r>
              <a:rPr kumimoji="1" lang="ja-JP" altLang="en-US" sz="1200" b="0" kern="1200">
                <a:solidFill>
                  <a:schemeClr val="tx1"/>
                </a:solidFill>
                <a:effectLst/>
                <a:latin typeface="+mn-lt"/>
                <a:ea typeface="+mn-ea"/>
                <a:cs typeface="+mn-cs"/>
              </a:rPr>
              <a:t>においてルールベースモデルを上回る性能を示しました。特に、ユーザー履歴特徴量を含む</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次元モデルが、決定要因のみの</a:t>
            </a:r>
            <a:r>
              <a:rPr kumimoji="1" lang="en-US" altLang="ja-JP" sz="1200" b="0" kern="1200" dirty="0">
                <a:solidFill>
                  <a:schemeClr val="tx1"/>
                </a:solidFill>
                <a:effectLst/>
                <a:latin typeface="+mn-lt"/>
                <a:ea typeface="+mn-ea"/>
                <a:cs typeface="+mn-cs"/>
              </a:rPr>
              <a:t>4</a:t>
            </a:r>
            <a:r>
              <a:rPr kumimoji="1" lang="ja-JP" altLang="en-US" sz="1200" b="0" kern="1200">
                <a:solidFill>
                  <a:schemeClr val="tx1"/>
                </a:solidFill>
                <a:effectLst/>
                <a:latin typeface="+mn-lt"/>
                <a:ea typeface="+mn-ea"/>
                <a:cs typeface="+mn-cs"/>
              </a:rPr>
              <a:t>次元モデルと比較して</a:t>
            </a:r>
            <a:r>
              <a:rPr kumimoji="1" lang="en" altLang="ja-JP" sz="1200" b="0" kern="1200" dirty="0">
                <a:solidFill>
                  <a:schemeClr val="tx1"/>
                </a:solidFill>
                <a:effectLst/>
                <a:latin typeface="+mn-lt"/>
                <a:ea typeface="+mn-ea"/>
                <a:cs typeface="+mn-cs"/>
              </a:rPr>
              <a:t>R²</a:t>
            </a:r>
            <a:r>
              <a:rPr kumimoji="1" lang="ja-JP" altLang="en-US" sz="1200" b="0" kern="1200">
                <a:solidFill>
                  <a:schemeClr val="tx1"/>
                </a:solidFill>
                <a:effectLst/>
                <a:latin typeface="+mn-lt"/>
                <a:ea typeface="+mn-ea"/>
                <a:cs typeface="+mn-cs"/>
              </a:rPr>
              <a:t>が大幅に改善された点が注目されます。</a:t>
            </a:r>
          </a:p>
          <a:p>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ただし、現時点ではダミーデータによる予備的な評価であり、統計的な有意性を主張するにはより大規模な実データでの検証が必要です。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分析の結果について補足します。</a:t>
            </a:r>
          </a:p>
          <a:p>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を用いて各特徴量の貢献度を算出し、個人ごとの後悔要因を可視化しました。分析から得られた知見は</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点です。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第一に、ホットステート理論の検証として、ストレスと空腹度がトップ要因として検出されました。行動経済学の知見と整合する結果です。第二に、個人履歴の有効性として、同カテゴリの過去の平均後悔度が</a:t>
            </a:r>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番目に高い重要度を持ち、履歴特徴量が予測に重要な情報をもたらしていることが確認されました。第三に、天気などの寄与が小さい特徴量を特定でき、</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次元から</a:t>
            </a:r>
            <a:r>
              <a:rPr kumimoji="1" lang="en-US" altLang="ja-JP" sz="1200" b="0" kern="1200" dirty="0">
                <a:solidFill>
                  <a:schemeClr val="tx1"/>
                </a:solidFill>
                <a:effectLst/>
                <a:latin typeface="+mn-lt"/>
                <a:ea typeface="+mn-ea"/>
                <a:cs typeface="+mn-cs"/>
              </a:rPr>
              <a:t>12</a:t>
            </a:r>
            <a:r>
              <a:rPr kumimoji="1" lang="ja-JP" altLang="en-US" sz="1200" b="0" kern="1200">
                <a:solidFill>
                  <a:schemeClr val="tx1"/>
                </a:solidFill>
                <a:effectLst/>
                <a:latin typeface="+mn-lt"/>
                <a:ea typeface="+mn-ea"/>
                <a:cs typeface="+mn-cs"/>
              </a:rPr>
              <a:t>次元への絞り込みの妥当性が裏付けられました。</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実装した</a:t>
            </a:r>
            <a:r>
              <a:rPr kumimoji="1" lang="en" altLang="ja-JP" sz="1200" b="0" kern="1200" dirty="0">
                <a:solidFill>
                  <a:schemeClr val="tx1"/>
                </a:solidFill>
                <a:effectLst/>
                <a:latin typeface="+mn-lt"/>
                <a:ea typeface="+mn-ea"/>
                <a:cs typeface="+mn-cs"/>
              </a:rPr>
              <a:t>Web</a:t>
            </a:r>
            <a:r>
              <a:rPr kumimoji="1" lang="ja-JP" altLang="en-US" sz="1200" b="0" kern="1200">
                <a:solidFill>
                  <a:schemeClr val="tx1"/>
                </a:solidFill>
                <a:effectLst/>
                <a:latin typeface="+mn-lt"/>
                <a:ea typeface="+mn-ea"/>
                <a:cs typeface="+mn-cs"/>
              </a:rPr>
              <a:t>アプリケーションの主要画面について説明します。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ダッシュボード画面では、直近</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件の意思決定履歴、カテゴリ別後悔率、週間トレンド、パターン警告を表示します。意思決定入力画面では、</a:t>
            </a:r>
            <a:r>
              <a:rPr kumimoji="1" lang="en-US" altLang="ja-JP" sz="1200" b="0" kern="1200" dirty="0">
                <a:solidFill>
                  <a:schemeClr val="tx1"/>
                </a:solidFill>
                <a:effectLst/>
                <a:latin typeface="+mn-lt"/>
                <a:ea typeface="+mn-ea"/>
                <a:cs typeface="+mn-cs"/>
              </a:rPr>
              <a:t>5</a:t>
            </a:r>
            <a:r>
              <a:rPr kumimoji="1" lang="ja-JP" altLang="en-US" sz="1200" b="0" kern="1200">
                <a:solidFill>
                  <a:schemeClr val="tx1"/>
                </a:solidFill>
                <a:effectLst/>
                <a:latin typeface="+mn-lt"/>
                <a:ea typeface="+mn-ea"/>
                <a:cs typeface="+mn-cs"/>
              </a:rPr>
              <a:t>カテゴリから選択し、コンテキスト情報を入力すると、リアルタイムで後悔スコアが予測されます。フィードバック画面では後悔度・満足度・後悔理由を入力でき、これがモデル再訓練の自動トリガーとなります。さらに研究用の評価画面として、</a:t>
            </a:r>
            <a:r>
              <a:rPr kumimoji="1" lang="en" altLang="ja-JP" sz="1200" b="0" kern="1200" dirty="0">
                <a:solidFill>
                  <a:schemeClr val="tx1"/>
                </a:solidFill>
                <a:effectLst/>
                <a:latin typeface="+mn-lt"/>
                <a:ea typeface="+mn-ea"/>
                <a:cs typeface="+mn-cs"/>
              </a:rPr>
              <a:t>Random Forest</a:t>
            </a:r>
            <a:r>
              <a:rPr kumimoji="1" lang="ja-JP" altLang="en-US" sz="1200" b="0" kern="1200">
                <a:solidFill>
                  <a:schemeClr val="tx1"/>
                </a:solidFill>
                <a:effectLst/>
                <a:latin typeface="+mn-lt"/>
                <a:ea typeface="+mn-ea"/>
                <a:cs typeface="+mn-cs"/>
              </a:rPr>
              <a:t>と</a:t>
            </a:r>
            <a:r>
              <a:rPr kumimoji="1" lang="en" altLang="ja-JP" sz="1200" b="0" kern="1200" dirty="0" err="1">
                <a:solidFill>
                  <a:schemeClr val="tx1"/>
                </a:solidFill>
                <a:effectLst/>
                <a:latin typeface="+mn-lt"/>
                <a:ea typeface="+mn-ea"/>
                <a:cs typeface="+mn-cs"/>
              </a:rPr>
              <a:t>XGBoost</a:t>
            </a:r>
            <a:r>
              <a:rPr kumimoji="1" lang="ja-JP" altLang="en-US" sz="1200" b="0" kern="1200">
                <a:solidFill>
                  <a:schemeClr val="tx1"/>
                </a:solidFill>
                <a:effectLst/>
                <a:latin typeface="+mn-lt"/>
                <a:ea typeface="+mn-ea"/>
                <a:cs typeface="+mn-cs"/>
              </a:rPr>
              <a:t>の比較実験、パラメータ調整、交差検証の実行、統計検定の結果出力が可能です。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考察と制限事項を述べます。</a:t>
            </a:r>
          </a:p>
          <a:p>
            <a:r>
              <a:rPr kumimoji="1" lang="ja-JP" altLang="en-US" sz="1200" b="0" kern="1200">
                <a:solidFill>
                  <a:schemeClr val="tx1"/>
                </a:solidFill>
                <a:effectLst/>
                <a:latin typeface="+mn-lt"/>
                <a:ea typeface="+mn-ea"/>
                <a:cs typeface="+mn-cs"/>
              </a:rPr>
              <a:t>設計上の強みとして、個人ごとに独立したモデルを訓練するアプローチは、後悔という主観的な体験の予測において重要な設計判断でした。ハイブリッドアーキテクチャにより、データ不足の初期段階でもルールベースで一定の予測を提供し、データ蓄積に伴って</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モデルに自動移行できます。</a:t>
            </a:r>
            <a:br>
              <a:rPr kumimoji="1" lang="ja-JP" altLang="en-US" sz="1200" b="0" kern="1200">
                <a:solidFill>
                  <a:schemeClr val="tx1"/>
                </a:solidFill>
                <a:effectLst/>
                <a:latin typeface="+mn-lt"/>
                <a:ea typeface="+mn-ea"/>
                <a:cs typeface="+mn-cs"/>
              </a:rPr>
            </a:br>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制限事項としては、現時点でのシングルユーザー設計であること、自己申告ベースのデータ収集による回答バイアスの影響、</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予測開始に最低</a:t>
            </a:r>
            <a:r>
              <a:rPr kumimoji="1" lang="en-US" altLang="ja-JP" sz="1200" b="0" kern="1200" dirty="0">
                <a:solidFill>
                  <a:schemeClr val="tx1"/>
                </a:solidFill>
                <a:effectLst/>
                <a:latin typeface="+mn-lt"/>
                <a:ea typeface="+mn-ea"/>
                <a:cs typeface="+mn-cs"/>
              </a:rPr>
              <a:t>10</a:t>
            </a:r>
            <a:r>
              <a:rPr kumimoji="1" lang="ja-JP" altLang="en-US" sz="1200" b="0" kern="1200">
                <a:solidFill>
                  <a:schemeClr val="tx1"/>
                </a:solidFill>
                <a:effectLst/>
                <a:latin typeface="+mn-lt"/>
                <a:ea typeface="+mn-ea"/>
                <a:cs typeface="+mn-cs"/>
              </a:rPr>
              <a:t>件のフィードバックが必要なこと、そして長期的な</a:t>
            </a:r>
            <a:r>
              <a:rPr kumimoji="1" lang="en" altLang="ja-JP" sz="1200" b="0" kern="1200" dirty="0">
                <a:solidFill>
                  <a:schemeClr val="tx1"/>
                </a:solidFill>
                <a:effectLst/>
                <a:latin typeface="+mn-lt"/>
                <a:ea typeface="+mn-ea"/>
                <a:cs typeface="+mn-cs"/>
              </a:rPr>
              <a:t>RRR</a:t>
            </a:r>
            <a:r>
              <a:rPr kumimoji="1" lang="ja-JP" altLang="en-US" sz="1200" b="0" kern="1200">
                <a:solidFill>
                  <a:schemeClr val="tx1"/>
                </a:solidFill>
                <a:effectLst/>
                <a:latin typeface="+mn-lt"/>
                <a:ea typeface="+mn-ea"/>
                <a:cs typeface="+mn-cs"/>
              </a:rPr>
              <a:t>の変化の検証が今後の課題であることが挙げられます。ただし、これらの制限はありつつも、日常的意思決定における後悔予測の実現可能性を示せたと考えています。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今後の展望として</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点あります。</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第一に、マルチユーザー対応と協調フィルタリングの導入です。類似ユーザーの知見を活用することで、コールドスタート問題の緩和が期待できます。第二に、</a:t>
            </a:r>
            <a:r>
              <a:rPr kumimoji="1" lang="en" altLang="ja-JP" sz="1200" b="0" kern="1200" dirty="0">
                <a:solidFill>
                  <a:schemeClr val="tx1"/>
                </a:solidFill>
                <a:effectLst/>
                <a:latin typeface="+mn-lt"/>
                <a:ea typeface="+mn-ea"/>
                <a:cs typeface="+mn-cs"/>
              </a:rPr>
              <a:t>LSTM</a:t>
            </a:r>
            <a:r>
              <a:rPr kumimoji="1" lang="ja-JP" altLang="en-US" sz="1200" b="0" kern="1200">
                <a:solidFill>
                  <a:schemeClr val="tx1"/>
                </a:solidFill>
                <a:effectLst/>
                <a:latin typeface="+mn-lt"/>
                <a:ea typeface="+mn-ea"/>
                <a:cs typeface="+mn-cs"/>
              </a:rPr>
              <a:t>や</a:t>
            </a:r>
            <a:r>
              <a:rPr kumimoji="1" lang="en" altLang="ja-JP" sz="1200" b="0" kern="1200" dirty="0">
                <a:solidFill>
                  <a:schemeClr val="tx1"/>
                </a:solidFill>
                <a:effectLst/>
                <a:latin typeface="+mn-lt"/>
                <a:ea typeface="+mn-ea"/>
                <a:cs typeface="+mn-cs"/>
              </a:rPr>
              <a:t>GRU</a:t>
            </a:r>
            <a:r>
              <a:rPr kumimoji="1" lang="ja-JP" altLang="en-US" sz="1200" b="0" kern="1200">
                <a:solidFill>
                  <a:schemeClr val="tx1"/>
                </a:solidFill>
                <a:effectLst/>
                <a:latin typeface="+mn-lt"/>
                <a:ea typeface="+mn-ea"/>
                <a:cs typeface="+mn-cs"/>
              </a:rPr>
              <a:t>などの時系列モデルの導入により、意思決定の遷移パターンの捕捉と長期的な後悔傾向の予測を目指します。第三に、反実仮想説明の強化です。「もしストレスが低ければスコアはこう変化する」といった説明により、ユーザーの理解をさらに促進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冒頭で挙げた</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つの研究課題に対する回答をまとめます。</a:t>
            </a:r>
          </a:p>
          <a:p>
            <a:r>
              <a:rPr kumimoji="1" lang="en-US" altLang="ja-JP" sz="1200" b="0" kern="1200" dirty="0">
                <a:solidFill>
                  <a:schemeClr val="tx1"/>
                </a:solidFill>
                <a:effectLst/>
                <a:latin typeface="+mn-lt"/>
                <a:ea typeface="+mn-ea"/>
                <a:cs typeface="+mn-cs"/>
              </a:rPr>
              <a:t>1</a:t>
            </a:r>
            <a:r>
              <a:rPr kumimoji="1" lang="ja-JP" altLang="en-US" sz="1200" b="0" kern="1200">
                <a:solidFill>
                  <a:schemeClr val="tx1"/>
                </a:solidFill>
                <a:effectLst/>
                <a:latin typeface="+mn-lt"/>
                <a:ea typeface="+mn-ea"/>
                <a:cs typeface="+mn-cs"/>
              </a:rPr>
              <a:t>点目の「後悔は機械学習で予測可能か」に対しては、コンテキスト情報を含む</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次元の特徴量から予測が可能であることを確認しました。</a:t>
            </a:r>
            <a:r>
              <a:rPr kumimoji="1" lang="en-US" altLang="ja-JP" sz="1200" b="0" kern="1200" dirty="0">
                <a:solidFill>
                  <a:schemeClr val="tx1"/>
                </a:solidFill>
                <a:effectLst/>
                <a:latin typeface="+mn-lt"/>
                <a:ea typeface="+mn-ea"/>
                <a:cs typeface="+mn-cs"/>
              </a:rPr>
              <a:t>2</a:t>
            </a:r>
            <a:r>
              <a:rPr kumimoji="1" lang="ja-JP" altLang="en-US" sz="1200" b="0" kern="1200">
                <a:solidFill>
                  <a:schemeClr val="tx1"/>
                </a:solidFill>
                <a:effectLst/>
                <a:latin typeface="+mn-lt"/>
                <a:ea typeface="+mn-ea"/>
                <a:cs typeface="+mn-cs"/>
              </a:rPr>
              <a:t>点目の「後悔要因の個人差を明らかにできるか」に対しては、</a:t>
            </a:r>
            <a:r>
              <a:rPr kumimoji="1" lang="en" altLang="ja-JP" sz="1200" b="0" kern="1200" dirty="0">
                <a:solidFill>
                  <a:schemeClr val="tx1"/>
                </a:solidFill>
                <a:effectLst/>
                <a:latin typeface="+mn-lt"/>
                <a:ea typeface="+mn-ea"/>
                <a:cs typeface="+mn-cs"/>
              </a:rPr>
              <a:t>SHAP</a:t>
            </a:r>
            <a:r>
              <a:rPr kumimoji="1" lang="ja-JP" altLang="en-US" sz="1200" b="0" kern="1200">
                <a:solidFill>
                  <a:schemeClr val="tx1"/>
                </a:solidFill>
                <a:effectLst/>
                <a:latin typeface="+mn-lt"/>
                <a:ea typeface="+mn-ea"/>
                <a:cs typeface="+mn-cs"/>
              </a:rPr>
              <a:t>分析により個人ごとに重要な要因が異なることを定量的に示しました。</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点目の「</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はルールベースに対してどの程度優位か」に対しては、</a:t>
            </a:r>
            <a:r>
              <a:rPr kumimoji="1" lang="en" altLang="ja-JP" sz="1200" b="0" kern="1200" dirty="0">
                <a:solidFill>
                  <a:schemeClr val="tx1"/>
                </a:solidFill>
                <a:effectLst/>
                <a:latin typeface="+mn-lt"/>
                <a:ea typeface="+mn-ea"/>
                <a:cs typeface="+mn-cs"/>
              </a:rPr>
              <a:t>ML</a:t>
            </a:r>
            <a:r>
              <a:rPr kumimoji="1" lang="ja-JP" altLang="en-US" sz="1200" b="0" kern="1200">
                <a:solidFill>
                  <a:schemeClr val="tx1"/>
                </a:solidFill>
                <a:effectLst/>
                <a:latin typeface="+mn-lt"/>
                <a:ea typeface="+mn-ea"/>
                <a:cs typeface="+mn-cs"/>
              </a:rPr>
              <a:t>モデルがルールベースを上回る予測精度を達成しました。</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本研究の意義としては、日常的な意思決定の後悔予測に特化した点での新規性、データが少ない段階からでも使えるハイブリッド設計による実用性、そして時系列交差検証でデータリーケージを防いだ再現性の</a:t>
            </a:r>
            <a:r>
              <a:rPr kumimoji="1" lang="en-US" altLang="ja-JP" sz="1200" b="0" kern="1200" dirty="0">
                <a:solidFill>
                  <a:schemeClr val="tx1"/>
                </a:solidFill>
                <a:effectLst/>
                <a:latin typeface="+mn-lt"/>
                <a:ea typeface="+mn-ea"/>
                <a:cs typeface="+mn-cs"/>
              </a:rPr>
              <a:t>3</a:t>
            </a:r>
            <a:r>
              <a:rPr kumimoji="1" lang="ja-JP" altLang="en-US" sz="1200" b="0" kern="1200">
                <a:solidFill>
                  <a:schemeClr val="tx1"/>
                </a:solidFill>
                <a:effectLst/>
                <a:latin typeface="+mn-lt"/>
                <a:ea typeface="+mn-ea"/>
                <a:cs typeface="+mn-cs"/>
              </a:rPr>
              <a:t>点が挙げられます。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sz="1200" b="0" kern="1200">
                <a:solidFill>
                  <a:schemeClr val="tx1"/>
                </a:solidFill>
                <a:effectLst/>
                <a:latin typeface="+mn-lt"/>
                <a:ea typeface="+mn-ea"/>
                <a:cs typeface="+mn-cs"/>
              </a:rPr>
              <a:t>まとめです。本研究では、日常の意思決定における後悔を事前に予測するシステムを提案しました。</a:t>
            </a:r>
            <a:r>
              <a:rPr kumimoji="1" lang="en-US" altLang="ja-JP" sz="1200" b="0" kern="1200" dirty="0">
                <a:solidFill>
                  <a:schemeClr val="tx1"/>
                </a:solidFill>
                <a:effectLst/>
                <a:latin typeface="+mn-lt"/>
                <a:ea typeface="+mn-ea"/>
                <a:cs typeface="+mn-cs"/>
              </a:rPr>
              <a:t>18</a:t>
            </a:r>
            <a:r>
              <a:rPr kumimoji="1" lang="ja-JP" altLang="en-US" sz="1200" b="0" kern="1200">
                <a:solidFill>
                  <a:schemeClr val="tx1"/>
                </a:solidFill>
                <a:effectLst/>
                <a:latin typeface="+mn-lt"/>
                <a:ea typeface="+mn-ea"/>
                <a:cs typeface="+mn-cs"/>
              </a:rPr>
              <a:t>次元の特徴量を設計し、機械学習とルールベースを組み合わせたハイブリッド予測を実現しています。予備実験では、機械学習モデルがルールベースを上回る精度を達成し、特徴量設計の有効性を確認しました。</a:t>
            </a:r>
          </a:p>
          <a:p>
            <a:endParaRPr kumimoji="1" lang="ja-JP" altLang="en-US" sz="1200" b="0" kern="120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以上で発表を終わります。ご清聴ありがとうございました。</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extLst>
      <p:ext uri="{BB962C8B-B14F-4D97-AF65-F5344CB8AC3E}">
        <p14:creationId xmlns:p14="http://schemas.microsoft.com/office/powerpoint/2010/main" val="7026698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4741125"/>
            <a:ext cx="9144000" cy="412200"/>
          </a:xfrm>
          <a:prstGeom prst="rect">
            <a:avLst/>
          </a:prstGeom>
          <a:solidFill>
            <a:srgbClr val="2F76B8"/>
          </a:solid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FFFF"/>
              </a:buClr>
              <a:buSzPts val="1800"/>
              <a:buFont typeface="Arial"/>
              <a:buNone/>
            </a:pPr>
            <a:r>
              <a:rPr lang="ja" dirty="0">
                <a:solidFill>
                  <a:schemeClr val="lt1"/>
                </a:solidFill>
                <a:latin typeface="M PLUS 1p"/>
                <a:ea typeface="M PLUS 1p"/>
                <a:cs typeface="M PLUS 1p"/>
                <a:sym typeface="M PLUS 1p"/>
              </a:rPr>
              <a:t>DEIM202</a:t>
            </a:r>
            <a:r>
              <a:rPr lang="en-US" altLang="ja" dirty="0">
                <a:solidFill>
                  <a:schemeClr val="lt1"/>
                </a:solidFill>
                <a:latin typeface="M PLUS 1p"/>
                <a:ea typeface="M PLUS 1p"/>
                <a:cs typeface="M PLUS 1p"/>
                <a:sym typeface="M PLUS 1p"/>
              </a:rPr>
              <a:t>6</a:t>
            </a:r>
            <a:r>
              <a:rPr lang="ja" dirty="0">
                <a:solidFill>
                  <a:schemeClr val="lt1"/>
                </a:solidFill>
                <a:latin typeface="M PLUS 1p"/>
                <a:ea typeface="M PLUS 1p"/>
                <a:cs typeface="M PLUS 1p"/>
                <a:sym typeface="M PLUS 1p"/>
              </a:rPr>
              <a:t> 第1</a:t>
            </a:r>
            <a:r>
              <a:rPr lang="en-US" altLang="ja" dirty="0">
                <a:solidFill>
                  <a:schemeClr val="lt1"/>
                </a:solidFill>
                <a:latin typeface="M PLUS 1p"/>
                <a:ea typeface="M PLUS 1p"/>
                <a:cs typeface="M PLUS 1p"/>
                <a:sym typeface="M PLUS 1p"/>
              </a:rPr>
              <a:t>8</a:t>
            </a:r>
            <a:r>
              <a:rPr lang="ja" dirty="0">
                <a:solidFill>
                  <a:schemeClr val="lt1"/>
                </a:solidFill>
                <a:latin typeface="M PLUS 1p"/>
                <a:ea typeface="M PLUS 1p"/>
                <a:cs typeface="M PLUS 1p"/>
                <a:sym typeface="M PLUS 1p"/>
              </a:rPr>
              <a:t>回データ工学と情報マネジメントに関するフォーラム</a:t>
            </a:r>
            <a:endParaRPr dirty="0">
              <a:solidFill>
                <a:schemeClr val="lt1"/>
              </a:solidFill>
              <a:latin typeface="M PLUS 1p"/>
              <a:ea typeface="M PLUS 1p"/>
              <a:cs typeface="M PLUS 1p"/>
              <a:sym typeface="M PLUS 1p"/>
            </a:endParaRPr>
          </a:p>
        </p:txBody>
      </p:sp>
      <p:sp>
        <p:nvSpPr>
          <p:cNvPr id="55" name="Google Shape;55;p13"/>
          <p:cNvSpPr txBox="1"/>
          <p:nvPr/>
        </p:nvSpPr>
        <p:spPr>
          <a:xfrm>
            <a:off x="782850" y="1151688"/>
            <a:ext cx="7578300" cy="119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3000" b="1">
                <a:solidFill>
                  <a:srgbClr val="2F76B8"/>
                </a:solidFill>
              </a:rPr>
              <a:t>特徴量選択を用いた</a:t>
            </a:r>
            <a:r>
              <a:rPr lang="ja-JP" altLang="en-US" sz="3000" b="1">
                <a:solidFill>
                  <a:schemeClr val="accent1"/>
                </a:solidFill>
              </a:rPr>
              <a:t>日常的意思決定</a:t>
            </a:r>
            <a:endParaRPr lang="en-US" altLang="ja-JP" sz="3000" b="1" dirty="0">
              <a:solidFill>
                <a:schemeClr val="accent1"/>
              </a:solidFill>
            </a:endParaRPr>
          </a:p>
          <a:p>
            <a:pPr marL="0" lvl="0" indent="0" algn="ctr" rtl="0">
              <a:spcBef>
                <a:spcPts val="0"/>
              </a:spcBef>
              <a:spcAft>
                <a:spcPts val="0"/>
              </a:spcAft>
              <a:buNone/>
            </a:pPr>
            <a:r>
              <a:rPr lang="ja-JP" altLang="en-US" sz="3000" b="1">
                <a:solidFill>
                  <a:schemeClr val="accent1"/>
                </a:solidFill>
              </a:rPr>
              <a:t>における個人化後悔予測システム</a:t>
            </a:r>
          </a:p>
        </p:txBody>
      </p:sp>
      <p:sp>
        <p:nvSpPr>
          <p:cNvPr id="56" name="Google Shape;56;p13"/>
          <p:cNvSpPr txBox="1"/>
          <p:nvPr/>
        </p:nvSpPr>
        <p:spPr>
          <a:xfrm>
            <a:off x="3211800" y="2484300"/>
            <a:ext cx="2720400" cy="32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000" u="sng" dirty="0">
                <a:solidFill>
                  <a:schemeClr val="dk2"/>
                </a:solidFill>
              </a:rPr>
              <a:t>乾映之右</a:t>
            </a:r>
            <a:r>
              <a:rPr lang="ja" sz="2000" dirty="0">
                <a:solidFill>
                  <a:schemeClr val="dk2"/>
                </a:solidFill>
              </a:rPr>
              <a:t> </a:t>
            </a:r>
            <a:r>
              <a:rPr lang="ja-JP" altLang="en-US" sz="2000">
                <a:solidFill>
                  <a:schemeClr val="dk2"/>
                </a:solidFill>
              </a:rPr>
              <a:t>石橋直樹</a:t>
            </a:r>
            <a:endParaRPr sz="2000" dirty="0">
              <a:solidFill>
                <a:schemeClr val="dk2"/>
              </a:solidFill>
            </a:endParaRPr>
          </a:p>
          <a:p>
            <a:pPr marL="0" lvl="0" indent="0" algn="l" rtl="0">
              <a:spcBef>
                <a:spcPts val="0"/>
              </a:spcBef>
              <a:spcAft>
                <a:spcPts val="0"/>
              </a:spcAft>
              <a:buNone/>
            </a:pPr>
            <a:endParaRPr sz="1800" dirty="0">
              <a:solidFill>
                <a:schemeClr val="dk2"/>
              </a:solidFill>
            </a:endParaRPr>
          </a:p>
        </p:txBody>
      </p:sp>
      <p:cxnSp>
        <p:nvCxnSpPr>
          <p:cNvPr id="57" name="Google Shape;57;p13"/>
          <p:cNvCxnSpPr/>
          <p:nvPr/>
        </p:nvCxnSpPr>
        <p:spPr>
          <a:xfrm>
            <a:off x="0" y="619175"/>
            <a:ext cx="1839900" cy="4800"/>
          </a:xfrm>
          <a:prstGeom prst="straightConnector1">
            <a:avLst/>
          </a:prstGeom>
          <a:noFill/>
          <a:ln w="76200" cap="flat" cmpd="sng">
            <a:solidFill>
              <a:srgbClr val="2F76B8"/>
            </a:solidFill>
            <a:prstDash val="solid"/>
            <a:round/>
            <a:headEnd type="none" w="sm" len="sm"/>
            <a:tailEnd type="none" w="sm" len="sm"/>
          </a:ln>
        </p:spPr>
      </p:cxnSp>
      <p:sp>
        <p:nvSpPr>
          <p:cNvPr id="58" name="Google Shape;58;p13"/>
          <p:cNvSpPr txBox="1"/>
          <p:nvPr/>
        </p:nvSpPr>
        <p:spPr>
          <a:xfrm>
            <a:off x="1161900" y="2877900"/>
            <a:ext cx="6820200" cy="32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2000">
                <a:solidFill>
                  <a:schemeClr val="dk2"/>
                </a:solidFill>
              </a:rPr>
              <a:t>武蔵野大学データサイエンス学部データサイエンス学科</a:t>
            </a:r>
            <a:endParaRPr sz="2000">
              <a:solidFill>
                <a:schemeClr val="dk2"/>
              </a:solidFill>
            </a:endParaRPr>
          </a:p>
          <a:p>
            <a:pPr marL="0" lvl="0" indent="0" algn="ctr" rtl="0">
              <a:spcBef>
                <a:spcPts val="0"/>
              </a:spcBef>
              <a:spcAft>
                <a:spcPts val="0"/>
              </a:spcAft>
              <a:buNone/>
            </a:pPr>
            <a:endParaRPr sz="2000" b="1">
              <a:solidFill>
                <a:schemeClr val="dk2"/>
              </a:solidFill>
            </a:endParaRPr>
          </a:p>
          <a:p>
            <a:pPr marL="0" lvl="0" indent="0" algn="l" rtl="0">
              <a:spcBef>
                <a:spcPts val="0"/>
              </a:spcBef>
              <a:spcAft>
                <a:spcPts val="0"/>
              </a:spcAft>
              <a:buNone/>
            </a:pPr>
            <a:endParaRPr sz="1800">
              <a:solidFill>
                <a:schemeClr val="dk2"/>
              </a:solidFill>
            </a:endParaRPr>
          </a:p>
        </p:txBody>
      </p:sp>
      <p:sp>
        <p:nvSpPr>
          <p:cNvPr id="59" name="Google Shape;59;p13"/>
          <p:cNvSpPr txBox="1"/>
          <p:nvPr/>
        </p:nvSpPr>
        <p:spPr>
          <a:xfrm>
            <a:off x="0" y="4785375"/>
            <a:ext cx="430200" cy="32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200" b="1">
                <a:solidFill>
                  <a:schemeClr val="lt1"/>
                </a:solidFill>
              </a:rPr>
              <a:t>1</a:t>
            </a:r>
            <a:endParaRPr sz="1200" b="1">
              <a:solidFill>
                <a:schemeClr val="lt1"/>
              </a:solidFill>
            </a:endParaRPr>
          </a:p>
        </p:txBody>
      </p:sp>
      <p:sp>
        <p:nvSpPr>
          <p:cNvPr id="60" name="Google Shape;60;p13"/>
          <p:cNvSpPr txBox="1"/>
          <p:nvPr/>
        </p:nvSpPr>
        <p:spPr>
          <a:xfrm>
            <a:off x="782850" y="69900"/>
            <a:ext cx="1229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tLang="ja" sz="2400" dirty="0">
                <a:solidFill>
                  <a:srgbClr val="2B2B2B"/>
                </a:solidFill>
                <a:highlight>
                  <a:srgbClr val="FFFFFF"/>
                </a:highlight>
                <a:latin typeface="Noto Sans"/>
                <a:ea typeface="Noto Sans"/>
                <a:cs typeface="Noto Sans"/>
                <a:sym typeface="Noto Sans"/>
              </a:rPr>
              <a:t>5L</a:t>
            </a:r>
            <a:r>
              <a:rPr lang="ja" sz="2400" dirty="0">
                <a:solidFill>
                  <a:srgbClr val="2B2B2B"/>
                </a:solidFill>
                <a:highlight>
                  <a:srgbClr val="FFFFFF"/>
                </a:highlight>
                <a:latin typeface="Noto Sans"/>
                <a:ea typeface="Noto Sans"/>
                <a:cs typeface="Noto Sans"/>
                <a:sym typeface="Noto Sans"/>
              </a:rPr>
              <a:t>-0</a:t>
            </a:r>
            <a:r>
              <a:rPr lang="en-US" altLang="ja" sz="2400" dirty="0">
                <a:solidFill>
                  <a:srgbClr val="2B2B2B"/>
                </a:solidFill>
                <a:highlight>
                  <a:srgbClr val="FFFFFF"/>
                </a:highlight>
                <a:latin typeface="Noto Sans"/>
                <a:ea typeface="Noto Sans"/>
                <a:cs typeface="Noto Sans"/>
                <a:sym typeface="Noto Sans"/>
              </a:rPr>
              <a:t>2</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背景と問題設定</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2/25</a:t>
            </a:r>
            <a:endParaRPr lang="en-US" sz="1100" dirty="0"/>
          </a:p>
        </p:txBody>
      </p:sp>
      <p:sp>
        <p:nvSpPr>
          <p:cNvPr id="5" name="Text 3"/>
          <p:cNvSpPr/>
          <p:nvPr/>
        </p:nvSpPr>
        <p:spPr>
          <a:xfrm>
            <a:off x="548640" y="1005840"/>
            <a:ext cx="8046720" cy="3840480"/>
          </a:xfrm>
          <a:prstGeom prst="rect">
            <a:avLst/>
          </a:prstGeom>
          <a:noFill/>
          <a:ln/>
        </p:spPr>
        <p:txBody>
          <a:bodyPr wrap="square" lIns="0" tIns="0" rIns="0" bIns="0" rtlCol="0" anchor="t"/>
          <a:lstStyle/>
          <a:p>
            <a:pPr marL="0" indent="0">
              <a:lnSpc>
                <a:spcPct val="140000"/>
              </a:lnSpc>
              <a:spcAft>
                <a:spcPts val="600"/>
              </a:spcAft>
              <a:buNone/>
            </a:pPr>
            <a:r>
              <a:rPr lang="en-US" sz="1600" b="1" dirty="0">
                <a:solidFill>
                  <a:srgbClr val="1A1A1A"/>
                </a:solidFill>
                <a:latin typeface="Calibri" pitchFamily="34" charset="0"/>
                <a:ea typeface="Calibri" pitchFamily="34" charset="-122"/>
                <a:cs typeface="Calibri" pitchFamily="34" charset="-120"/>
              </a:rPr>
              <a:t>【背景】</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日常の小さな意思決定（ランチ、買い物など）で後悔することは多い</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既存の後悔予測研究は投資・医療など大規模決定のみ対象</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個人の行動パターンに基づく「後悔の事前予測」は未開拓</a:t>
            </a:r>
            <a:endParaRPr lang="en-US" sz="1600" dirty="0"/>
          </a:p>
          <a:p>
            <a:pPr marL="0" indent="0">
              <a:lnSpc>
                <a:spcPct val="140000"/>
              </a:lnSpc>
              <a:spcAft>
                <a:spcPts val="600"/>
              </a:spcAft>
              <a:buNone/>
            </a:pPr>
            <a:endParaRPr lang="en-US" sz="1600" dirty="0"/>
          </a:p>
          <a:p>
            <a:pPr marL="0" indent="0">
              <a:lnSpc>
                <a:spcPct val="140000"/>
              </a:lnSpc>
              <a:spcAft>
                <a:spcPts val="600"/>
              </a:spcAft>
              <a:buNone/>
            </a:pPr>
            <a:r>
              <a:rPr lang="en-US" sz="1600" b="1" dirty="0">
                <a:solidFill>
                  <a:srgbClr val="1A1A1A"/>
                </a:solidFill>
                <a:latin typeface="Calibri" pitchFamily="34" charset="0"/>
                <a:ea typeface="Calibri" pitchFamily="34" charset="-122"/>
                <a:cs typeface="Calibri" pitchFamily="34" charset="-120"/>
              </a:rPr>
              <a:t>【提案】</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日常の意思決定に特化した後悔予測システム</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機械学習 ＋ 適応的特徴量選択で個人の後悔パターンを学習</a:t>
            </a:r>
            <a:endParaRPr lang="en-US" sz="1600" dirty="0"/>
          </a:p>
          <a:p>
            <a:pPr marL="0" indent="0">
              <a:lnSpc>
                <a:spcPct val="140000"/>
              </a:lnSpc>
              <a:spcAft>
                <a:spcPts val="600"/>
              </a:spcAft>
              <a:buNone/>
            </a:pPr>
            <a:r>
              <a:rPr lang="en-US" sz="1600" dirty="0">
                <a:solidFill>
                  <a:srgbClr val="1A1A1A"/>
                </a:solidFill>
                <a:latin typeface="Calibri" pitchFamily="34" charset="0"/>
                <a:ea typeface="Calibri" pitchFamily="34" charset="-122"/>
                <a:cs typeface="Calibri" pitchFamily="34" charset="-120"/>
              </a:rPr>
              <a:t>- 意思決定時点で後悔リスクを予測・警告</a:t>
            </a:r>
            <a:endParaRPr lang="en-US" sz="16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[1] Zeelenberg et al. (1998) - 後悔と失望の経験</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研究課題</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3/25</a:t>
            </a:r>
            <a:endParaRPr lang="en-US" sz="1100" dirty="0"/>
          </a:p>
        </p:txBody>
      </p:sp>
      <p:sp>
        <p:nvSpPr>
          <p:cNvPr id="5" name="Text 3"/>
          <p:cNvSpPr/>
          <p:nvPr/>
        </p:nvSpPr>
        <p:spPr>
          <a:xfrm>
            <a:off x="548640" y="1005840"/>
            <a:ext cx="8046720" cy="3840480"/>
          </a:xfrm>
          <a:prstGeom prst="rect">
            <a:avLst/>
          </a:prstGeom>
          <a:noFill/>
          <a:ln/>
        </p:spPr>
        <p:txBody>
          <a:bodyPr wrap="square" lIns="0" tIns="0" rIns="0" bIns="0" rtlCol="0" anchor="t"/>
          <a:lstStyle/>
          <a:p>
            <a:pPr marL="0" indent="0">
              <a:lnSpc>
                <a:spcPct val="120000"/>
              </a:lnSpc>
              <a:spcAft>
                <a:spcPts val="600"/>
              </a:spcAft>
              <a:buNone/>
            </a:pPr>
            <a:r>
              <a:rPr lang="en-US" b="1" dirty="0"/>
              <a:t>1：</a:t>
            </a:r>
            <a:r>
              <a:rPr lang="en-US" b="1"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個人の後悔はコンテキスト情報を含む特徴量から機械学習で予測可能か</a:t>
            </a:r>
            <a:endParaRPr lang="en-US" dirty="0">
              <a:solidFill>
                <a:srgbClr val="1A1A1A"/>
              </a:solidFill>
              <a:latin typeface="Calibri" pitchFamily="34" charset="0"/>
              <a:ea typeface="Calibri" pitchFamily="34" charset="-122"/>
              <a:cs typeface="Calibri" pitchFamily="34" charset="-120"/>
            </a:endParaRPr>
          </a:p>
          <a:p>
            <a:pPr marL="0" indent="0">
              <a:lnSpc>
                <a:spcPct val="120000"/>
              </a:lnSpc>
              <a:spcAft>
                <a:spcPts val="600"/>
              </a:spcAft>
              <a:buNone/>
            </a:pPr>
            <a:endParaRPr lang="en-US" dirty="0"/>
          </a:p>
          <a:p>
            <a:pPr>
              <a:lnSpc>
                <a:spcPct val="120000"/>
              </a:lnSpc>
              <a:spcAft>
                <a:spcPts val="600"/>
              </a:spcAft>
            </a:pPr>
            <a:r>
              <a:rPr lang="en-US" altLang="ja-JP" b="1" dirty="0"/>
              <a:t>2：</a:t>
            </a:r>
            <a:r>
              <a:rPr lang="en-US" altLang="ja-JP" b="1"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後悔要因の個人差を特徴量選択で明らかにできるか</a:t>
            </a:r>
            <a:endParaRPr lang="en-US" dirty="0">
              <a:solidFill>
                <a:srgbClr val="1A1A1A"/>
              </a:solidFill>
              <a:latin typeface="Calibri" pitchFamily="34" charset="0"/>
              <a:ea typeface="Calibri" pitchFamily="34" charset="-122"/>
              <a:cs typeface="Calibri" pitchFamily="34" charset="-120"/>
            </a:endParaRPr>
          </a:p>
          <a:p>
            <a:pPr marL="0" indent="0">
              <a:lnSpc>
                <a:spcPct val="120000"/>
              </a:lnSpc>
              <a:spcAft>
                <a:spcPts val="600"/>
              </a:spcAft>
              <a:buNone/>
            </a:pPr>
            <a:endParaRPr lang="en-US" dirty="0"/>
          </a:p>
          <a:p>
            <a:pPr>
              <a:lnSpc>
                <a:spcPct val="120000"/>
              </a:lnSpc>
              <a:spcAft>
                <a:spcPts val="600"/>
              </a:spcAft>
            </a:pPr>
            <a:r>
              <a:rPr lang="en-US" altLang="ja-JP" b="1" dirty="0"/>
              <a:t>3：</a:t>
            </a:r>
            <a:r>
              <a:rPr lang="en-US" altLang="ja-JP" b="1"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MLベース予測はルールベースに対しどの程度の精度差を生じるか</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関連研究と位置づけ</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4/25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既存の後悔予測研究との比較</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69748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研究領域</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代表的手法</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対象</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本研究との差異</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5943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投資後悔予測</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Prospect Theory</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ベースモデル</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金融意思決定</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大規模決定のみ</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日常場面は対象外</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推薦システム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協調フィルタリング</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コンテンツベース</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商品選択支援</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後悔予測なし</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購買後の分析のみ</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5943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感情分析</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BERT / LLM</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センチメント分類</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テキスト感情推定</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事後分析が中心</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事前予測が困難</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行動経済学</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ホットステート理論</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フレーミング効果</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認知バイアス研究</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理論的枠組のみ</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予測システム未実装</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4000500"/>
            <a:ext cx="8229600" cy="640080"/>
          </a:xfrm>
          <a:prstGeom prst="roundRect">
            <a:avLst>
              <a:gd name="adj" fmla="val 7143"/>
            </a:avLst>
          </a:prstGeom>
          <a:solidFill>
            <a:srgbClr val="E8EEF6"/>
          </a:solidFill>
          <a:ln w="19050">
            <a:solidFill>
              <a:srgbClr val="3366AA"/>
            </a:solidFill>
            <a:prstDash val="solid"/>
          </a:ln>
        </p:spPr>
        <p:txBody>
          <a:bodyPr/>
          <a:lstStyle/>
          <a:p>
            <a:endParaRPr lang="ja-JP" altLang="en-US"/>
          </a:p>
        </p:txBody>
      </p:sp>
      <p:sp>
        <p:nvSpPr>
          <p:cNvPr id="8" name="Text 5"/>
          <p:cNvSpPr/>
          <p:nvPr/>
        </p:nvSpPr>
        <p:spPr>
          <a:xfrm>
            <a:off x="640080" y="4000500"/>
            <a:ext cx="7863840" cy="640080"/>
          </a:xfrm>
          <a:prstGeom prst="rect">
            <a:avLst/>
          </a:prstGeom>
          <a:noFill/>
          <a:ln/>
        </p:spPr>
        <p:txBody>
          <a:bodyPr wrap="square" lIns="0" tIns="0" rIns="0" bIns="0" rtlCol="0" anchor="ctr"/>
          <a:lstStyle/>
          <a:p>
            <a:pPr marL="0" indent="0">
              <a:buNone/>
            </a:pPr>
            <a:r>
              <a:rPr lang="en-US" sz="1300" b="1" dirty="0" err="1">
                <a:solidFill>
                  <a:srgbClr val="1A1A1A"/>
                </a:solidFill>
                <a:latin typeface="Calibri" pitchFamily="34" charset="0"/>
                <a:ea typeface="Calibri" pitchFamily="34" charset="-122"/>
                <a:cs typeface="Calibri" pitchFamily="34" charset="-120"/>
              </a:rPr>
              <a:t>本研究の位置づけ：</a:t>
            </a:r>
            <a:r>
              <a:rPr lang="en-US" sz="1300" dirty="0" err="1">
                <a:solidFill>
                  <a:srgbClr val="3366AA"/>
                </a:solidFill>
                <a:latin typeface="Calibri" pitchFamily="34" charset="0"/>
                <a:ea typeface="Calibri" pitchFamily="34" charset="-122"/>
                <a:cs typeface="Calibri" pitchFamily="34" charset="-120"/>
              </a:rPr>
              <a:t>日常的意思決定に特化</a:t>
            </a:r>
            <a:r>
              <a:rPr lang="en-US" sz="1300" dirty="0">
                <a:solidFill>
                  <a:srgbClr val="3366AA"/>
                </a:solidFill>
                <a:latin typeface="Calibri" pitchFamily="34" charset="0"/>
                <a:ea typeface="Calibri" pitchFamily="34" charset="-122"/>
                <a:cs typeface="Calibri" pitchFamily="34" charset="-120"/>
              </a:rPr>
              <a:t> × ML事前予測 × </a:t>
            </a:r>
            <a:r>
              <a:rPr lang="en-US" sz="1300" dirty="0" err="1">
                <a:solidFill>
                  <a:srgbClr val="3366AA"/>
                </a:solidFill>
                <a:latin typeface="Calibri" pitchFamily="34" charset="0"/>
                <a:ea typeface="Calibri" pitchFamily="34" charset="-122"/>
                <a:cs typeface="Calibri" pitchFamily="34" charset="-120"/>
              </a:rPr>
              <a:t>個人適応</a:t>
            </a:r>
            <a:endParaRPr lang="en-US" sz="13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[2] Kahneman &amp; Tversky (1979) - プロスペクト理論  [3] Clearer Thinking - Decision Journal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本研究の貢献</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5/25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2700441960"/>
              </p:ext>
            </p:extLst>
          </p:nvPr>
        </p:nvGraphicFramePr>
        <p:xfrm>
          <a:off x="457200" y="914400"/>
          <a:ext cx="8229600" cy="310896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項目</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内容</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技術的ポイント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6858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18次元特徴量空間</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決定要因・コンテキスト・時間・</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ユーザー履歴の4カテゴリ統合設計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行動経済学のホットステート</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理論に基づく設計</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ハイブリッド予測</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ML（Random Forest）＋</a:t>
                      </a:r>
                      <a:endParaRPr lang="en-US" sz="1200" dirty="0">
                        <a:latin typeface="Calibri" charset="0"/>
                        <a:ea typeface="Calibri" charset="0"/>
                        <a:cs typeface="Calibri" charset="0"/>
                      </a:endParaRPr>
                    </a:p>
                    <a:p>
                      <a:pPr marL="0" indent="0" algn="l">
                        <a:buNone/>
                      </a:pPr>
                      <a:r>
                        <a:rPr lang="en-US" sz="1200" dirty="0" err="1">
                          <a:solidFill>
                            <a:srgbClr val="1A1A1A"/>
                          </a:solidFill>
                          <a:latin typeface="Calibri" pitchFamily="34" charset="0"/>
                          <a:ea typeface="Calibri" pitchFamily="34" charset="-122"/>
                          <a:cs typeface="Calibri" pitchFamily="34" charset="-120"/>
                        </a:rPr>
                        <a:t>ルールベース切替</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コールドスタート対応</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10件未満→ルール適用</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6858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適応的特徴量選択</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SHAP等4手法による</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個人最適化（18→12次元）</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個人ごとに重要な特徴量を</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自動選択・不要次元を除去</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時系列CV評価</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TimeSeriesSplit ＋</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RRR指標による実用効果測定</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データリーケージを防止</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t検定で有意性検証</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5" name="Text 3"/>
          <p:cNvSpPr/>
          <p:nvPr/>
        </p:nvSpPr>
        <p:spPr>
          <a:xfrm>
            <a:off x="457200" y="4160520"/>
            <a:ext cx="8229600" cy="320040"/>
          </a:xfrm>
          <a:prstGeom prst="rect">
            <a:avLst/>
          </a:prstGeom>
          <a:noFill/>
          <a:ln/>
        </p:spPr>
        <p:txBody>
          <a:bodyPr wrap="square" lIns="0" tIns="0" rIns="0" bIns="0" rtlCol="0" anchor="ctr"/>
          <a:lstStyle/>
          <a:p>
            <a:pPr marL="0" indent="0">
              <a:buNone/>
            </a:pPr>
            <a:r>
              <a:rPr lang="en-US" sz="1400" b="1" dirty="0">
                <a:solidFill>
                  <a:srgbClr val="3366AA"/>
                </a:solidFill>
                <a:latin typeface="Calibri" pitchFamily="34" charset="0"/>
                <a:ea typeface="Calibri" pitchFamily="34" charset="-122"/>
                <a:cs typeface="Calibri" pitchFamily="34" charset="-120"/>
              </a:rPr>
              <a:t>→ </a:t>
            </a:r>
            <a:r>
              <a:rPr lang="en-US" sz="1400" b="1" dirty="0" err="1">
                <a:solidFill>
                  <a:srgbClr val="3366AA"/>
                </a:solidFill>
                <a:latin typeface="Calibri" pitchFamily="34" charset="0"/>
                <a:ea typeface="Calibri" pitchFamily="34" charset="-122"/>
                <a:cs typeface="Calibri" pitchFamily="34" charset="-120"/>
              </a:rPr>
              <a:t>日常的意思決定の後悔予測に特化</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手法の全体像</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6/25</a:t>
            </a:r>
            <a:endParaRPr lang="en-US" sz="1100" dirty="0"/>
          </a:p>
        </p:txBody>
      </p:sp>
      <p:sp>
        <p:nvSpPr>
          <p:cNvPr id="5" name="Shape 3"/>
          <p:cNvSpPr/>
          <p:nvPr/>
        </p:nvSpPr>
        <p:spPr>
          <a:xfrm>
            <a:off x="320040" y="914399"/>
            <a:ext cx="1508760" cy="1480457"/>
          </a:xfrm>
          <a:prstGeom prst="roundRect">
            <a:avLst>
              <a:gd name="adj" fmla="val 5333"/>
            </a:avLst>
          </a:prstGeom>
          <a:solidFill>
            <a:srgbClr val="E8EEF6"/>
          </a:solidFill>
          <a:ln w="19050">
            <a:solidFill>
              <a:srgbClr val="3366AA"/>
            </a:solidFill>
            <a:prstDash val="solid"/>
          </a:ln>
        </p:spPr>
        <p:txBody>
          <a:bodyPr/>
          <a:lstStyle/>
          <a:p>
            <a:endParaRPr lang="ja-JP" altLang="en-US"/>
          </a:p>
        </p:txBody>
      </p:sp>
      <p:sp>
        <p:nvSpPr>
          <p:cNvPr id="6" name="Text 4"/>
          <p:cNvSpPr/>
          <p:nvPr/>
        </p:nvSpPr>
        <p:spPr>
          <a:xfrm>
            <a:off x="320040" y="914400"/>
            <a:ext cx="1508760" cy="1371600"/>
          </a:xfrm>
          <a:prstGeom prst="rect">
            <a:avLst/>
          </a:prstGeom>
          <a:noFill/>
          <a:ln/>
        </p:spPr>
        <p:txBody>
          <a:bodyPr wrap="square" lIns="0" tIns="0" rIns="0" bIns="0" rtlCol="0" anchor="ctr"/>
          <a:lstStyle/>
          <a:p>
            <a:pPr marL="0" indent="0" algn="ctr">
              <a:buNone/>
            </a:pPr>
            <a:endParaRPr lang="en-US" sz="1100" dirty="0"/>
          </a:p>
        </p:txBody>
      </p:sp>
      <p:sp>
        <p:nvSpPr>
          <p:cNvPr id="7" name="Text 5"/>
          <p:cNvSpPr/>
          <p:nvPr/>
        </p:nvSpPr>
        <p:spPr>
          <a:xfrm>
            <a:off x="411480" y="1005839"/>
            <a:ext cx="1325880" cy="1283063"/>
          </a:xfrm>
          <a:prstGeom prst="rect">
            <a:avLst/>
          </a:prstGeom>
          <a:noFill/>
          <a:ln/>
        </p:spPr>
        <p:txBody>
          <a:bodyPr wrap="square" lIns="0" tIns="0" rIns="0" bIns="0" rtlCol="0" anchor="t"/>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Phase 1</a:t>
            </a:r>
            <a:endParaRPr lang="en-US" sz="1200" dirty="0"/>
          </a:p>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データ収集</a:t>
            </a:r>
            <a:endParaRPr lang="en-US" sz="1200" dirty="0"/>
          </a:p>
          <a:p>
            <a:pPr marL="0" indent="0">
              <a:lnSpc>
                <a:spcPct val="130000"/>
              </a:lnSpc>
              <a:buNone/>
            </a:pP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意思決定記録</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コンテキスト情報</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5カテゴリ分類</a:t>
            </a:r>
            <a:endParaRPr lang="en-US" sz="1200" dirty="0"/>
          </a:p>
        </p:txBody>
      </p:sp>
      <p:sp>
        <p:nvSpPr>
          <p:cNvPr id="8" name="Shape 6"/>
          <p:cNvSpPr/>
          <p:nvPr/>
        </p:nvSpPr>
        <p:spPr>
          <a:xfrm>
            <a:off x="1828800" y="1600200"/>
            <a:ext cx="274320" cy="0"/>
          </a:xfrm>
          <a:prstGeom prst="line">
            <a:avLst/>
          </a:prstGeom>
          <a:noFill/>
          <a:ln w="25400">
            <a:solidFill>
              <a:srgbClr val="3366AA"/>
            </a:solidFill>
            <a:prstDash val="solid"/>
          </a:ln>
        </p:spPr>
        <p:txBody>
          <a:bodyPr/>
          <a:lstStyle/>
          <a:p>
            <a:endParaRPr lang="ja-JP" altLang="en-US"/>
          </a:p>
        </p:txBody>
      </p:sp>
      <p:sp>
        <p:nvSpPr>
          <p:cNvPr id="10" name="Shape 8"/>
          <p:cNvSpPr/>
          <p:nvPr/>
        </p:nvSpPr>
        <p:spPr>
          <a:xfrm>
            <a:off x="2103120" y="914399"/>
            <a:ext cx="1508760" cy="1480437"/>
          </a:xfrm>
          <a:prstGeom prst="roundRect">
            <a:avLst>
              <a:gd name="adj" fmla="val 5333"/>
            </a:avLst>
          </a:prstGeom>
          <a:solidFill>
            <a:srgbClr val="E8F5E9"/>
          </a:solidFill>
          <a:ln w="19050">
            <a:solidFill>
              <a:srgbClr val="3366AA"/>
            </a:solidFill>
            <a:prstDash val="solid"/>
          </a:ln>
        </p:spPr>
        <p:txBody>
          <a:bodyPr/>
          <a:lstStyle/>
          <a:p>
            <a:endParaRPr lang="ja-JP" altLang="en-US"/>
          </a:p>
        </p:txBody>
      </p:sp>
      <p:sp>
        <p:nvSpPr>
          <p:cNvPr id="11" name="Text 9"/>
          <p:cNvSpPr/>
          <p:nvPr/>
        </p:nvSpPr>
        <p:spPr>
          <a:xfrm>
            <a:off x="2103120" y="1005838"/>
            <a:ext cx="1508760" cy="1280161"/>
          </a:xfrm>
          <a:prstGeom prst="rect">
            <a:avLst/>
          </a:prstGeom>
          <a:noFill/>
          <a:ln/>
        </p:spPr>
        <p:txBody>
          <a:bodyPr wrap="square" lIns="0" tIns="0" rIns="0" bIns="0" rtlCol="0" anchor="ctr"/>
          <a:lstStyle/>
          <a:p>
            <a:pPr marL="0" indent="0" algn="ctr">
              <a:buNone/>
            </a:pPr>
            <a:endParaRPr lang="en-US" sz="1100" dirty="0"/>
          </a:p>
        </p:txBody>
      </p:sp>
      <p:sp>
        <p:nvSpPr>
          <p:cNvPr id="12" name="Text 10"/>
          <p:cNvSpPr/>
          <p:nvPr/>
        </p:nvSpPr>
        <p:spPr>
          <a:xfrm>
            <a:off x="2194560" y="1005840"/>
            <a:ext cx="1325880" cy="1188720"/>
          </a:xfrm>
          <a:prstGeom prst="rect">
            <a:avLst/>
          </a:prstGeom>
          <a:noFill/>
          <a:ln/>
        </p:spPr>
        <p:txBody>
          <a:bodyPr wrap="square" lIns="0" tIns="0" rIns="0" bIns="0" rtlCol="0" anchor="t"/>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Phase 2</a:t>
            </a:r>
            <a:endParaRPr lang="en-US" sz="1200" dirty="0"/>
          </a:p>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特徴量設計</a:t>
            </a:r>
            <a:endParaRPr lang="en-US" sz="1200" dirty="0"/>
          </a:p>
          <a:p>
            <a:pPr marL="0" indent="0">
              <a:lnSpc>
                <a:spcPct val="130000"/>
              </a:lnSpc>
              <a:buNone/>
            </a:pP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18次元特徴量空間</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4カテゴリ統合</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リーケージ防止</a:t>
            </a:r>
            <a:endParaRPr lang="en-US" sz="1200" dirty="0"/>
          </a:p>
        </p:txBody>
      </p:sp>
      <p:sp>
        <p:nvSpPr>
          <p:cNvPr id="13" name="Shape 11"/>
          <p:cNvSpPr/>
          <p:nvPr/>
        </p:nvSpPr>
        <p:spPr>
          <a:xfrm>
            <a:off x="3611880" y="1600200"/>
            <a:ext cx="274320" cy="0"/>
          </a:xfrm>
          <a:prstGeom prst="line">
            <a:avLst/>
          </a:prstGeom>
          <a:noFill/>
          <a:ln w="25400">
            <a:solidFill>
              <a:srgbClr val="3366AA"/>
            </a:solidFill>
            <a:prstDash val="solid"/>
          </a:ln>
        </p:spPr>
        <p:txBody>
          <a:bodyPr/>
          <a:lstStyle/>
          <a:p>
            <a:endParaRPr lang="ja-JP" altLang="en-US"/>
          </a:p>
        </p:txBody>
      </p:sp>
      <p:sp>
        <p:nvSpPr>
          <p:cNvPr id="15" name="Shape 13"/>
          <p:cNvSpPr/>
          <p:nvPr/>
        </p:nvSpPr>
        <p:spPr>
          <a:xfrm>
            <a:off x="3886200" y="914399"/>
            <a:ext cx="1508760" cy="1480413"/>
          </a:xfrm>
          <a:prstGeom prst="roundRect">
            <a:avLst>
              <a:gd name="adj" fmla="val 5333"/>
            </a:avLst>
          </a:prstGeom>
          <a:solidFill>
            <a:srgbClr val="D6E4F0"/>
          </a:solidFill>
          <a:ln w="19050">
            <a:solidFill>
              <a:srgbClr val="3366AA"/>
            </a:solidFill>
            <a:prstDash val="solid"/>
          </a:ln>
        </p:spPr>
        <p:txBody>
          <a:bodyPr/>
          <a:lstStyle/>
          <a:p>
            <a:endParaRPr lang="ja-JP" altLang="en-US"/>
          </a:p>
        </p:txBody>
      </p:sp>
      <p:sp>
        <p:nvSpPr>
          <p:cNvPr id="16" name="Text 14"/>
          <p:cNvSpPr/>
          <p:nvPr/>
        </p:nvSpPr>
        <p:spPr>
          <a:xfrm>
            <a:off x="3886200" y="914400"/>
            <a:ext cx="1508760" cy="1371600"/>
          </a:xfrm>
          <a:prstGeom prst="rect">
            <a:avLst/>
          </a:prstGeom>
          <a:noFill/>
          <a:ln/>
        </p:spPr>
        <p:txBody>
          <a:bodyPr wrap="square" lIns="0" tIns="0" rIns="0" bIns="0" rtlCol="0" anchor="ctr"/>
          <a:lstStyle/>
          <a:p>
            <a:pPr marL="0" indent="0" algn="ctr">
              <a:buNone/>
            </a:pPr>
            <a:endParaRPr lang="en-US" sz="1100" dirty="0"/>
          </a:p>
        </p:txBody>
      </p:sp>
      <p:sp>
        <p:nvSpPr>
          <p:cNvPr id="17" name="Text 15"/>
          <p:cNvSpPr/>
          <p:nvPr/>
        </p:nvSpPr>
        <p:spPr>
          <a:xfrm>
            <a:off x="3977640" y="1005840"/>
            <a:ext cx="1325880" cy="1188720"/>
          </a:xfrm>
          <a:prstGeom prst="rect">
            <a:avLst/>
          </a:prstGeom>
          <a:noFill/>
          <a:ln/>
        </p:spPr>
        <p:txBody>
          <a:bodyPr wrap="square" lIns="0" tIns="0" rIns="0" bIns="0" rtlCol="0" anchor="t"/>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Phase 3</a:t>
            </a:r>
            <a:endParaRPr lang="en-US" sz="1200" dirty="0"/>
          </a:p>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予測モデル</a:t>
            </a:r>
            <a:endParaRPr lang="en-US" sz="1200" dirty="0"/>
          </a:p>
          <a:p>
            <a:pPr marL="0" indent="0">
              <a:lnSpc>
                <a:spcPct val="130000"/>
              </a:lnSpc>
              <a:buNone/>
            </a:pP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RF + ルールベース</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ハイブリッド設計</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個人独立モデル</a:t>
            </a:r>
            <a:endParaRPr lang="en-US" sz="1200" dirty="0"/>
          </a:p>
        </p:txBody>
      </p:sp>
      <p:sp>
        <p:nvSpPr>
          <p:cNvPr id="18" name="Shape 16"/>
          <p:cNvSpPr/>
          <p:nvPr/>
        </p:nvSpPr>
        <p:spPr>
          <a:xfrm>
            <a:off x="5394960" y="1600200"/>
            <a:ext cx="274320" cy="0"/>
          </a:xfrm>
          <a:prstGeom prst="line">
            <a:avLst/>
          </a:prstGeom>
          <a:noFill/>
          <a:ln w="25400">
            <a:solidFill>
              <a:srgbClr val="3366AA"/>
            </a:solidFill>
            <a:prstDash val="solid"/>
          </a:ln>
        </p:spPr>
        <p:txBody>
          <a:bodyPr/>
          <a:lstStyle/>
          <a:p>
            <a:endParaRPr lang="ja-JP" altLang="en-US"/>
          </a:p>
        </p:txBody>
      </p:sp>
      <p:sp>
        <p:nvSpPr>
          <p:cNvPr id="20" name="Shape 18"/>
          <p:cNvSpPr/>
          <p:nvPr/>
        </p:nvSpPr>
        <p:spPr>
          <a:xfrm>
            <a:off x="5669280" y="914399"/>
            <a:ext cx="1508760" cy="1480403"/>
          </a:xfrm>
          <a:prstGeom prst="roundRect">
            <a:avLst>
              <a:gd name="adj" fmla="val 5333"/>
            </a:avLst>
          </a:prstGeom>
          <a:solidFill>
            <a:srgbClr val="FFF3E0"/>
          </a:solidFill>
          <a:ln w="19050">
            <a:solidFill>
              <a:srgbClr val="3366AA"/>
            </a:solidFill>
            <a:prstDash val="solid"/>
          </a:ln>
        </p:spPr>
        <p:txBody>
          <a:bodyPr/>
          <a:lstStyle/>
          <a:p>
            <a:endParaRPr lang="ja-JP" altLang="en-US"/>
          </a:p>
        </p:txBody>
      </p:sp>
      <p:sp>
        <p:nvSpPr>
          <p:cNvPr id="21" name="Text 19"/>
          <p:cNvSpPr/>
          <p:nvPr/>
        </p:nvSpPr>
        <p:spPr>
          <a:xfrm>
            <a:off x="5669280" y="953984"/>
            <a:ext cx="1508760" cy="1332015"/>
          </a:xfrm>
          <a:prstGeom prst="rect">
            <a:avLst/>
          </a:prstGeom>
          <a:noFill/>
          <a:ln/>
        </p:spPr>
        <p:txBody>
          <a:bodyPr wrap="square" lIns="0" tIns="0" rIns="0" bIns="0" rtlCol="0" anchor="ctr"/>
          <a:lstStyle/>
          <a:p>
            <a:pPr marL="0" indent="0" algn="ctr">
              <a:buNone/>
            </a:pPr>
            <a:endParaRPr lang="en-US" sz="1100" dirty="0"/>
          </a:p>
        </p:txBody>
      </p:sp>
      <p:sp>
        <p:nvSpPr>
          <p:cNvPr id="22" name="Text 20"/>
          <p:cNvSpPr/>
          <p:nvPr/>
        </p:nvSpPr>
        <p:spPr>
          <a:xfrm>
            <a:off x="5760720" y="1005840"/>
            <a:ext cx="1325880" cy="1188720"/>
          </a:xfrm>
          <a:prstGeom prst="rect">
            <a:avLst/>
          </a:prstGeom>
          <a:noFill/>
          <a:ln/>
        </p:spPr>
        <p:txBody>
          <a:bodyPr wrap="square" lIns="0" tIns="0" rIns="0" bIns="0" rtlCol="0" anchor="t"/>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Phase 4</a:t>
            </a:r>
            <a:endParaRPr lang="en-US" sz="1200" dirty="0"/>
          </a:p>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特徴量選択</a:t>
            </a:r>
            <a:endParaRPr lang="en-US" sz="1200" dirty="0"/>
          </a:p>
          <a:p>
            <a:pPr marL="0" indent="0">
              <a:lnSpc>
                <a:spcPct val="130000"/>
              </a:lnSpc>
              <a:buNone/>
            </a:pP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SHAP等4手法</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18→12次元</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個人最適化</a:t>
            </a:r>
            <a:endParaRPr lang="en-US" sz="1200" dirty="0"/>
          </a:p>
        </p:txBody>
      </p:sp>
      <p:sp>
        <p:nvSpPr>
          <p:cNvPr id="23" name="Shape 21"/>
          <p:cNvSpPr/>
          <p:nvPr/>
        </p:nvSpPr>
        <p:spPr>
          <a:xfrm>
            <a:off x="7178040" y="1600200"/>
            <a:ext cx="274320" cy="0"/>
          </a:xfrm>
          <a:prstGeom prst="line">
            <a:avLst/>
          </a:prstGeom>
          <a:noFill/>
          <a:ln w="25400">
            <a:solidFill>
              <a:srgbClr val="3366AA"/>
            </a:solidFill>
            <a:prstDash val="solid"/>
          </a:ln>
        </p:spPr>
        <p:txBody>
          <a:bodyPr/>
          <a:lstStyle/>
          <a:p>
            <a:endParaRPr lang="ja-JP" altLang="en-US"/>
          </a:p>
        </p:txBody>
      </p:sp>
      <p:sp>
        <p:nvSpPr>
          <p:cNvPr id="25" name="Shape 23"/>
          <p:cNvSpPr/>
          <p:nvPr/>
        </p:nvSpPr>
        <p:spPr>
          <a:xfrm>
            <a:off x="7452360" y="914399"/>
            <a:ext cx="1508760" cy="1480395"/>
          </a:xfrm>
          <a:prstGeom prst="roundRect">
            <a:avLst>
              <a:gd name="adj" fmla="val 5333"/>
            </a:avLst>
          </a:prstGeom>
          <a:solidFill>
            <a:srgbClr val="F3E5F5"/>
          </a:solidFill>
          <a:ln w="19050">
            <a:solidFill>
              <a:srgbClr val="3366AA"/>
            </a:solidFill>
            <a:prstDash val="solid"/>
          </a:ln>
        </p:spPr>
        <p:txBody>
          <a:bodyPr/>
          <a:lstStyle/>
          <a:p>
            <a:endParaRPr lang="ja-JP" altLang="en-US"/>
          </a:p>
        </p:txBody>
      </p:sp>
      <p:sp>
        <p:nvSpPr>
          <p:cNvPr id="26" name="Text 24"/>
          <p:cNvSpPr/>
          <p:nvPr/>
        </p:nvSpPr>
        <p:spPr>
          <a:xfrm>
            <a:off x="7452360" y="914400"/>
            <a:ext cx="1508760" cy="1371600"/>
          </a:xfrm>
          <a:prstGeom prst="rect">
            <a:avLst/>
          </a:prstGeom>
          <a:noFill/>
          <a:ln/>
        </p:spPr>
        <p:txBody>
          <a:bodyPr wrap="square" lIns="0" tIns="0" rIns="0" bIns="0" rtlCol="0" anchor="ctr"/>
          <a:lstStyle/>
          <a:p>
            <a:pPr marL="0" indent="0" algn="ctr">
              <a:buNone/>
            </a:pPr>
            <a:endParaRPr lang="en-US" sz="1100" dirty="0"/>
          </a:p>
        </p:txBody>
      </p:sp>
      <p:sp>
        <p:nvSpPr>
          <p:cNvPr id="27" name="Text 25"/>
          <p:cNvSpPr/>
          <p:nvPr/>
        </p:nvSpPr>
        <p:spPr>
          <a:xfrm>
            <a:off x="7543800" y="1005840"/>
            <a:ext cx="1325880" cy="1188720"/>
          </a:xfrm>
          <a:prstGeom prst="rect">
            <a:avLst/>
          </a:prstGeom>
          <a:noFill/>
          <a:ln/>
        </p:spPr>
        <p:txBody>
          <a:bodyPr wrap="square" lIns="0" tIns="0" rIns="0" bIns="0" rtlCol="0" anchor="t"/>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Phase 5</a:t>
            </a:r>
            <a:endParaRPr lang="en-US" sz="1200" dirty="0"/>
          </a:p>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評価・検証</a:t>
            </a:r>
            <a:endParaRPr lang="en-US" sz="1200" dirty="0"/>
          </a:p>
          <a:p>
            <a:pPr marL="0" indent="0">
              <a:lnSpc>
                <a:spcPct val="130000"/>
              </a:lnSpc>
              <a:buNone/>
            </a:pP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時系列CV</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RRR指標</a:t>
            </a:r>
            <a:endParaRPr lang="en-US" sz="1200" dirty="0"/>
          </a:p>
          <a:p>
            <a:pPr marL="0" indent="0">
              <a:lnSpc>
                <a:spcPct val="130000"/>
              </a:lnSpc>
              <a:buNone/>
            </a:pPr>
            <a:r>
              <a:rPr lang="en-US" sz="1000" dirty="0">
                <a:solidFill>
                  <a:srgbClr val="888888"/>
                </a:solidFill>
                <a:latin typeface="Calibri" pitchFamily="34" charset="0"/>
                <a:ea typeface="Calibri" pitchFamily="34" charset="-122"/>
                <a:cs typeface="Calibri" pitchFamily="34" charset="-120"/>
              </a:rPr>
              <a:t>t検定検証</a:t>
            </a:r>
            <a:endParaRPr lang="en-US" sz="1200" dirty="0"/>
          </a:p>
        </p:txBody>
      </p:sp>
      <p:sp>
        <p:nvSpPr>
          <p:cNvPr id="28" name="Text 26"/>
          <p:cNvSpPr/>
          <p:nvPr/>
        </p:nvSpPr>
        <p:spPr>
          <a:xfrm>
            <a:off x="457200" y="2560320"/>
            <a:ext cx="18288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設計原則</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178308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原則</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理由</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実装</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個人独立モデル</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後悔パターンには大きな個人差がある</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ユーザーごとにRFモデルを訓練</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コールドスタート対応</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初期段階でもサービス提供が必要</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ルールベースから自動移行</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継続的学習</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時間経過で後悔パターンが変化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フィードバックループで再訓練</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説明可能性</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ユーザーの信頼獲得が不可欠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SHAP値で予測根拠を提示</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システムアーキテクチャ</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7/25</a:t>
            </a:r>
            <a:endParaRPr lang="en-US" sz="1100" dirty="0"/>
          </a:p>
        </p:txBody>
      </p:sp>
      <p:sp>
        <p:nvSpPr>
          <p:cNvPr id="5" name="Text 3"/>
          <p:cNvSpPr/>
          <p:nvPr/>
        </p:nvSpPr>
        <p:spPr>
          <a:xfrm>
            <a:off x="457200" y="822960"/>
            <a:ext cx="8229600" cy="32004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Flask + PostgreSQL + scikit-learn + XGBoost + SHAP</a:t>
            </a:r>
            <a:endParaRPr lang="en-US" sz="1300" dirty="0"/>
          </a:p>
        </p:txBody>
      </p:sp>
      <p:sp>
        <p:nvSpPr>
          <p:cNvPr id="6" name="Shape 4"/>
          <p:cNvSpPr/>
          <p:nvPr/>
        </p:nvSpPr>
        <p:spPr>
          <a:xfrm>
            <a:off x="548640" y="1371600"/>
            <a:ext cx="3474720" cy="1280160"/>
          </a:xfrm>
          <a:prstGeom prst="roundRect">
            <a:avLst>
              <a:gd name="adj" fmla="val 5714"/>
            </a:avLst>
          </a:prstGeom>
          <a:solidFill>
            <a:srgbClr val="E8EEF6"/>
          </a:solidFill>
          <a:ln w="19050">
            <a:solidFill>
              <a:srgbClr val="3366AA"/>
            </a:solidFill>
            <a:prstDash val="solid"/>
          </a:ln>
        </p:spPr>
        <p:txBody>
          <a:bodyPr/>
          <a:lstStyle/>
          <a:p>
            <a:endParaRPr lang="ja-JP" altLang="en-US"/>
          </a:p>
        </p:txBody>
      </p:sp>
      <p:sp>
        <p:nvSpPr>
          <p:cNvPr id="7" name="Text 5"/>
          <p:cNvSpPr/>
          <p:nvPr/>
        </p:nvSpPr>
        <p:spPr>
          <a:xfrm>
            <a:off x="548640" y="1371600"/>
            <a:ext cx="3474720" cy="1280160"/>
          </a:xfrm>
          <a:prstGeom prst="rect">
            <a:avLst/>
          </a:prstGeom>
          <a:noFill/>
          <a:ln/>
        </p:spPr>
        <p:txBody>
          <a:bodyPr wrap="square" lIns="0" tIns="0" rIns="0" bIns="0" rtlCol="0" anchor="ctr"/>
          <a:lstStyle/>
          <a:p>
            <a:pPr marL="0" indent="0" algn="ctr">
              <a:buNone/>
            </a:pPr>
            <a:endParaRPr lang="en-US" sz="1100" dirty="0"/>
          </a:p>
        </p:txBody>
      </p:sp>
      <p:sp>
        <p:nvSpPr>
          <p:cNvPr id="8" name="Text 6"/>
          <p:cNvSpPr/>
          <p:nvPr/>
        </p:nvSpPr>
        <p:spPr>
          <a:xfrm>
            <a:off x="685800" y="1463040"/>
            <a:ext cx="3200400" cy="109728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ml_engine</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後悔予測の中核モジュール</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特徴量抽出 / モデル訓練 / 予測</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ルールベースフォールバック</a:t>
            </a:r>
            <a:endParaRPr lang="en-US" sz="1400" dirty="0"/>
          </a:p>
        </p:txBody>
      </p:sp>
      <p:sp>
        <p:nvSpPr>
          <p:cNvPr id="9" name="Shape 7"/>
          <p:cNvSpPr/>
          <p:nvPr/>
        </p:nvSpPr>
        <p:spPr>
          <a:xfrm>
            <a:off x="4754880" y="1371600"/>
            <a:ext cx="3474720" cy="1280160"/>
          </a:xfrm>
          <a:prstGeom prst="roundRect">
            <a:avLst>
              <a:gd name="adj" fmla="val 5714"/>
            </a:avLst>
          </a:prstGeom>
          <a:solidFill>
            <a:srgbClr val="E8F5E9"/>
          </a:solidFill>
          <a:ln w="19050">
            <a:solidFill>
              <a:srgbClr val="3366AA"/>
            </a:solidFill>
            <a:prstDash val="solid"/>
          </a:ln>
        </p:spPr>
        <p:txBody>
          <a:bodyPr/>
          <a:lstStyle/>
          <a:p>
            <a:endParaRPr lang="ja-JP" altLang="en-US"/>
          </a:p>
        </p:txBody>
      </p:sp>
      <p:sp>
        <p:nvSpPr>
          <p:cNvPr id="10" name="Text 8"/>
          <p:cNvSpPr/>
          <p:nvPr/>
        </p:nvSpPr>
        <p:spPr>
          <a:xfrm>
            <a:off x="4754880" y="1371600"/>
            <a:ext cx="3474720" cy="1280160"/>
          </a:xfrm>
          <a:prstGeom prst="rect">
            <a:avLst/>
          </a:prstGeom>
          <a:noFill/>
          <a:ln/>
        </p:spPr>
        <p:txBody>
          <a:bodyPr wrap="square" lIns="0" tIns="0" rIns="0" bIns="0" rtlCol="0" anchor="ctr"/>
          <a:lstStyle/>
          <a:p>
            <a:pPr marL="0" indent="0" algn="ctr">
              <a:buNone/>
            </a:pPr>
            <a:endParaRPr lang="en-US" sz="1100" dirty="0"/>
          </a:p>
        </p:txBody>
      </p:sp>
      <p:sp>
        <p:nvSpPr>
          <p:cNvPr id="11" name="Text 9"/>
          <p:cNvSpPr/>
          <p:nvPr/>
        </p:nvSpPr>
        <p:spPr>
          <a:xfrm>
            <a:off x="4892040" y="1463040"/>
            <a:ext cx="3200400" cy="109728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adaptive_features</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個人適応型特徴量選択</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SHAP / Permutation Importance</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RFE / SelectKBest</a:t>
            </a:r>
            <a:endParaRPr lang="en-US" sz="1400" dirty="0"/>
          </a:p>
        </p:txBody>
      </p:sp>
      <p:sp>
        <p:nvSpPr>
          <p:cNvPr id="12" name="Shape 10"/>
          <p:cNvSpPr/>
          <p:nvPr/>
        </p:nvSpPr>
        <p:spPr>
          <a:xfrm>
            <a:off x="548640" y="3063240"/>
            <a:ext cx="3474720" cy="1280160"/>
          </a:xfrm>
          <a:prstGeom prst="roundRect">
            <a:avLst>
              <a:gd name="adj" fmla="val 5714"/>
            </a:avLst>
          </a:prstGeom>
          <a:solidFill>
            <a:srgbClr val="FFF3E0"/>
          </a:solidFill>
          <a:ln w="19050">
            <a:solidFill>
              <a:srgbClr val="E68A00"/>
            </a:solidFill>
            <a:prstDash val="solid"/>
          </a:ln>
        </p:spPr>
        <p:txBody>
          <a:bodyPr/>
          <a:lstStyle/>
          <a:p>
            <a:endParaRPr lang="ja-JP" altLang="en-US"/>
          </a:p>
        </p:txBody>
      </p:sp>
      <p:sp>
        <p:nvSpPr>
          <p:cNvPr id="13" name="Text 11"/>
          <p:cNvSpPr/>
          <p:nvPr/>
        </p:nvSpPr>
        <p:spPr>
          <a:xfrm>
            <a:off x="548640" y="3063240"/>
            <a:ext cx="3474720" cy="1280160"/>
          </a:xfrm>
          <a:prstGeom prst="rect">
            <a:avLst/>
          </a:prstGeom>
          <a:noFill/>
          <a:ln/>
        </p:spPr>
        <p:txBody>
          <a:bodyPr wrap="square" lIns="0" tIns="0" rIns="0" bIns="0" rtlCol="0" anchor="ctr"/>
          <a:lstStyle/>
          <a:p>
            <a:pPr marL="0" indent="0" algn="ctr">
              <a:buNone/>
            </a:pPr>
            <a:endParaRPr lang="en-US" sz="1100" dirty="0"/>
          </a:p>
        </p:txBody>
      </p:sp>
      <p:sp>
        <p:nvSpPr>
          <p:cNvPr id="14" name="Text 12"/>
          <p:cNvSpPr/>
          <p:nvPr/>
        </p:nvSpPr>
        <p:spPr>
          <a:xfrm>
            <a:off x="685800" y="3154680"/>
            <a:ext cx="3200400" cy="109728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pattern_analyzer</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後悔パターン検出</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4種パターン検出 / 警告生成</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類似ケース検索</a:t>
            </a:r>
            <a:endParaRPr lang="en-US" sz="1400" dirty="0"/>
          </a:p>
        </p:txBody>
      </p:sp>
      <p:sp>
        <p:nvSpPr>
          <p:cNvPr id="15" name="Shape 13"/>
          <p:cNvSpPr/>
          <p:nvPr/>
        </p:nvSpPr>
        <p:spPr>
          <a:xfrm>
            <a:off x="4754880" y="3063240"/>
            <a:ext cx="3474720" cy="1280160"/>
          </a:xfrm>
          <a:prstGeom prst="roundRect">
            <a:avLst>
              <a:gd name="adj" fmla="val 5714"/>
            </a:avLst>
          </a:prstGeom>
          <a:solidFill>
            <a:srgbClr val="F3E5F5"/>
          </a:solidFill>
          <a:ln w="19050">
            <a:solidFill>
              <a:srgbClr val="7B1FA2"/>
            </a:solidFill>
            <a:prstDash val="solid"/>
          </a:ln>
        </p:spPr>
        <p:txBody>
          <a:bodyPr/>
          <a:lstStyle/>
          <a:p>
            <a:endParaRPr lang="ja-JP" altLang="en-US"/>
          </a:p>
        </p:txBody>
      </p:sp>
      <p:sp>
        <p:nvSpPr>
          <p:cNvPr id="16" name="Text 14"/>
          <p:cNvSpPr/>
          <p:nvPr/>
        </p:nvSpPr>
        <p:spPr>
          <a:xfrm>
            <a:off x="4754880" y="3063240"/>
            <a:ext cx="3474720" cy="1280160"/>
          </a:xfrm>
          <a:prstGeom prst="rect">
            <a:avLst/>
          </a:prstGeom>
          <a:noFill/>
          <a:ln/>
        </p:spPr>
        <p:txBody>
          <a:bodyPr wrap="square" lIns="0" tIns="0" rIns="0" bIns="0" rtlCol="0" anchor="ctr"/>
          <a:lstStyle/>
          <a:p>
            <a:pPr marL="0" indent="0" algn="ctr">
              <a:buNone/>
            </a:pPr>
            <a:endParaRPr lang="en-US" sz="1100" dirty="0"/>
          </a:p>
        </p:txBody>
      </p:sp>
      <p:sp>
        <p:nvSpPr>
          <p:cNvPr id="17" name="Text 15"/>
          <p:cNvSpPr/>
          <p:nvPr/>
        </p:nvSpPr>
        <p:spPr>
          <a:xfrm>
            <a:off x="4892040" y="3154680"/>
            <a:ext cx="3200400" cy="109728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model_evaluator</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モデル評価</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時系列CV / 指標算出</a:t>
            </a:r>
            <a:endParaRPr lang="en-US" sz="1400" dirty="0"/>
          </a:p>
          <a:p>
            <a:pPr marL="0" indent="0">
              <a:lnSpc>
                <a:spcPct val="130000"/>
              </a:lnSpc>
              <a:buNone/>
            </a:pPr>
            <a:r>
              <a:rPr lang="en-US" sz="1000" dirty="0">
                <a:solidFill>
                  <a:srgbClr val="1A1A1A"/>
                </a:solidFill>
                <a:latin typeface="Calibri" pitchFamily="34" charset="0"/>
                <a:ea typeface="Calibri" pitchFamily="34" charset="-122"/>
                <a:cs typeface="Calibri" pitchFamily="34" charset="-120"/>
              </a:rPr>
              <a:t>RRR計算 / 統計検定</a:t>
            </a:r>
            <a:endParaRPr lang="en-US" sz="1400" dirty="0"/>
          </a:p>
        </p:txBody>
      </p:sp>
      <p:sp>
        <p:nvSpPr>
          <p:cNvPr id="18" name="Shape 16"/>
          <p:cNvSpPr/>
          <p:nvPr/>
        </p:nvSpPr>
        <p:spPr>
          <a:xfrm>
            <a:off x="4023360" y="2011680"/>
            <a:ext cx="624840" cy="0"/>
          </a:xfrm>
          <a:prstGeom prst="line">
            <a:avLst/>
          </a:prstGeom>
          <a:noFill/>
          <a:ln w="25400">
            <a:solidFill>
              <a:srgbClr val="3366AA"/>
            </a:solidFill>
            <a:prstDash val="solid"/>
          </a:ln>
        </p:spPr>
        <p:txBody>
          <a:bodyPr/>
          <a:lstStyle/>
          <a:p>
            <a:endParaRPr lang="ja-JP" altLang="en-US"/>
          </a:p>
        </p:txBody>
      </p:sp>
      <p:sp>
        <p:nvSpPr>
          <p:cNvPr id="20" name="Shape 18"/>
          <p:cNvSpPr/>
          <p:nvPr/>
        </p:nvSpPr>
        <p:spPr>
          <a:xfrm>
            <a:off x="2286000" y="2651760"/>
            <a:ext cx="0" cy="365760"/>
          </a:xfrm>
          <a:prstGeom prst="line">
            <a:avLst/>
          </a:prstGeom>
          <a:noFill/>
          <a:ln w="25400">
            <a:solidFill>
              <a:srgbClr val="3366AA"/>
            </a:solidFill>
            <a:prstDash val="solid"/>
          </a:ln>
        </p:spPr>
        <p:txBody>
          <a:bodyPr/>
          <a:lstStyle/>
          <a:p>
            <a:endParaRPr lang="ja-JP" altLang="en-US"/>
          </a:p>
        </p:txBody>
      </p:sp>
      <p:sp>
        <p:nvSpPr>
          <p:cNvPr id="21" name="Text 19"/>
          <p:cNvSpPr/>
          <p:nvPr/>
        </p:nvSpPr>
        <p:spPr>
          <a:xfrm>
            <a:off x="2194560" y="292608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
        <p:nvSpPr>
          <p:cNvPr id="22" name="Text 19">
            <a:extLst>
              <a:ext uri="{FF2B5EF4-FFF2-40B4-BE49-F238E27FC236}">
                <a16:creationId xmlns:a16="http://schemas.microsoft.com/office/drawing/2014/main" id="{793A4C2A-D378-1F5C-BF02-5CA19D16B5DB}"/>
              </a:ext>
            </a:extLst>
          </p:cNvPr>
          <p:cNvSpPr/>
          <p:nvPr/>
        </p:nvSpPr>
        <p:spPr>
          <a:xfrm rot="16200000">
            <a:off x="4594860" y="192024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データフロー</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8/25</a:t>
            </a:r>
            <a:endParaRPr lang="en-US" sz="1100" dirty="0"/>
          </a:p>
        </p:txBody>
      </p:sp>
      <p:sp>
        <p:nvSpPr>
          <p:cNvPr id="5" name="Shape 3"/>
          <p:cNvSpPr/>
          <p:nvPr/>
        </p:nvSpPr>
        <p:spPr>
          <a:xfrm>
            <a:off x="457200" y="1005840"/>
            <a:ext cx="1371600" cy="777240"/>
          </a:xfrm>
          <a:prstGeom prst="roundRect">
            <a:avLst>
              <a:gd name="adj" fmla="val 9412"/>
            </a:avLst>
          </a:prstGeom>
          <a:solidFill>
            <a:srgbClr val="E8EEF6"/>
          </a:solidFill>
          <a:ln w="19050">
            <a:solidFill>
              <a:srgbClr val="3366AA"/>
            </a:solidFill>
            <a:prstDash val="solid"/>
          </a:ln>
        </p:spPr>
        <p:txBody>
          <a:bodyPr/>
          <a:lstStyle/>
          <a:p>
            <a:endParaRPr lang="ja-JP" altLang="en-US"/>
          </a:p>
        </p:txBody>
      </p:sp>
      <p:sp>
        <p:nvSpPr>
          <p:cNvPr id="6" name="Text 4"/>
          <p:cNvSpPr/>
          <p:nvPr/>
        </p:nvSpPr>
        <p:spPr>
          <a:xfrm>
            <a:off x="457200" y="1005840"/>
            <a:ext cx="1371600" cy="7772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入力</a:t>
            </a:r>
            <a:endParaRPr lang="en-US" sz="1200" dirty="0"/>
          </a:p>
        </p:txBody>
      </p:sp>
      <p:sp>
        <p:nvSpPr>
          <p:cNvPr id="7" name="Shape 5"/>
          <p:cNvSpPr/>
          <p:nvPr/>
        </p:nvSpPr>
        <p:spPr>
          <a:xfrm>
            <a:off x="1828800" y="1394460"/>
            <a:ext cx="314724" cy="0"/>
          </a:xfrm>
          <a:prstGeom prst="line">
            <a:avLst/>
          </a:prstGeom>
          <a:noFill/>
          <a:ln w="25400">
            <a:solidFill>
              <a:srgbClr val="3366AA"/>
            </a:solidFill>
            <a:prstDash val="solid"/>
          </a:ln>
        </p:spPr>
        <p:txBody>
          <a:bodyPr/>
          <a:lstStyle/>
          <a:p>
            <a:endParaRPr lang="ja-JP" altLang="en-US"/>
          </a:p>
        </p:txBody>
      </p:sp>
      <p:sp>
        <p:nvSpPr>
          <p:cNvPr id="9" name="Text 7"/>
          <p:cNvSpPr/>
          <p:nvPr/>
        </p:nvSpPr>
        <p:spPr>
          <a:xfrm>
            <a:off x="457200" y="1874520"/>
            <a:ext cx="1371600" cy="77724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カテゴリ</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コンテキスト</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決定要因</a:t>
            </a:r>
            <a:endParaRPr lang="en-US" sz="1100" dirty="0"/>
          </a:p>
        </p:txBody>
      </p:sp>
      <p:sp>
        <p:nvSpPr>
          <p:cNvPr id="10" name="Shape 8"/>
          <p:cNvSpPr/>
          <p:nvPr/>
        </p:nvSpPr>
        <p:spPr>
          <a:xfrm>
            <a:off x="2240280" y="1005840"/>
            <a:ext cx="1371600" cy="777240"/>
          </a:xfrm>
          <a:prstGeom prst="roundRect">
            <a:avLst>
              <a:gd name="adj" fmla="val 9412"/>
            </a:avLst>
          </a:prstGeom>
          <a:solidFill>
            <a:srgbClr val="E8EEF6"/>
          </a:solidFill>
          <a:ln w="19050">
            <a:solidFill>
              <a:srgbClr val="3366AA"/>
            </a:solidFill>
            <a:prstDash val="solid"/>
          </a:ln>
        </p:spPr>
        <p:txBody>
          <a:bodyPr/>
          <a:lstStyle/>
          <a:p>
            <a:endParaRPr lang="ja-JP" altLang="en-US"/>
          </a:p>
        </p:txBody>
      </p:sp>
      <p:sp>
        <p:nvSpPr>
          <p:cNvPr id="11" name="Text 9"/>
          <p:cNvSpPr/>
          <p:nvPr/>
        </p:nvSpPr>
        <p:spPr>
          <a:xfrm>
            <a:off x="2240280" y="1005840"/>
            <a:ext cx="1371600" cy="7772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特徴量</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抽出</a:t>
            </a:r>
            <a:endParaRPr lang="en-US" sz="1200" dirty="0"/>
          </a:p>
        </p:txBody>
      </p:sp>
      <p:sp>
        <p:nvSpPr>
          <p:cNvPr id="12" name="Shape 10"/>
          <p:cNvSpPr/>
          <p:nvPr/>
        </p:nvSpPr>
        <p:spPr>
          <a:xfrm flipV="1">
            <a:off x="3611880" y="1394459"/>
            <a:ext cx="313660" cy="1"/>
          </a:xfrm>
          <a:prstGeom prst="line">
            <a:avLst/>
          </a:prstGeom>
          <a:noFill/>
          <a:ln w="25400">
            <a:solidFill>
              <a:srgbClr val="3366AA"/>
            </a:solidFill>
            <a:prstDash val="solid"/>
          </a:ln>
        </p:spPr>
        <p:txBody>
          <a:bodyPr/>
          <a:lstStyle/>
          <a:p>
            <a:endParaRPr lang="ja-JP" altLang="en-US"/>
          </a:p>
        </p:txBody>
      </p:sp>
      <p:sp>
        <p:nvSpPr>
          <p:cNvPr id="14" name="Text 12"/>
          <p:cNvSpPr/>
          <p:nvPr/>
        </p:nvSpPr>
        <p:spPr>
          <a:xfrm>
            <a:off x="2240280" y="1874520"/>
            <a:ext cx="1371600" cy="77724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18次元</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ベクトル化</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リーケージ防止</a:t>
            </a:r>
            <a:endParaRPr lang="en-US" sz="1100" dirty="0"/>
          </a:p>
        </p:txBody>
      </p:sp>
      <p:sp>
        <p:nvSpPr>
          <p:cNvPr id="15" name="Shape 13"/>
          <p:cNvSpPr/>
          <p:nvPr/>
        </p:nvSpPr>
        <p:spPr>
          <a:xfrm>
            <a:off x="4023360" y="1005840"/>
            <a:ext cx="1371600" cy="777240"/>
          </a:xfrm>
          <a:prstGeom prst="roundRect">
            <a:avLst>
              <a:gd name="adj" fmla="val 9412"/>
            </a:avLst>
          </a:prstGeom>
          <a:solidFill>
            <a:srgbClr val="D6E4F0"/>
          </a:solidFill>
          <a:ln w="19050">
            <a:solidFill>
              <a:srgbClr val="3366AA"/>
            </a:solidFill>
            <a:prstDash val="solid"/>
          </a:ln>
        </p:spPr>
        <p:txBody>
          <a:bodyPr/>
          <a:lstStyle/>
          <a:p>
            <a:endParaRPr lang="ja-JP" altLang="en-US"/>
          </a:p>
        </p:txBody>
      </p:sp>
      <p:sp>
        <p:nvSpPr>
          <p:cNvPr id="16" name="Text 14"/>
          <p:cNvSpPr/>
          <p:nvPr/>
        </p:nvSpPr>
        <p:spPr>
          <a:xfrm>
            <a:off x="4023360" y="1005840"/>
            <a:ext cx="1371600" cy="7772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予測</a:t>
            </a:r>
            <a:endParaRPr lang="en-US" sz="1200" dirty="0"/>
          </a:p>
        </p:txBody>
      </p:sp>
      <p:sp>
        <p:nvSpPr>
          <p:cNvPr id="17" name="Shape 15"/>
          <p:cNvSpPr/>
          <p:nvPr/>
        </p:nvSpPr>
        <p:spPr>
          <a:xfrm flipV="1">
            <a:off x="5394960" y="1394459"/>
            <a:ext cx="316850" cy="1"/>
          </a:xfrm>
          <a:prstGeom prst="line">
            <a:avLst/>
          </a:prstGeom>
          <a:noFill/>
          <a:ln w="25400">
            <a:solidFill>
              <a:srgbClr val="3366AA"/>
            </a:solidFill>
            <a:prstDash val="solid"/>
          </a:ln>
        </p:spPr>
        <p:txBody>
          <a:bodyPr/>
          <a:lstStyle/>
          <a:p>
            <a:endParaRPr lang="ja-JP" altLang="en-US"/>
          </a:p>
        </p:txBody>
      </p:sp>
      <p:sp>
        <p:nvSpPr>
          <p:cNvPr id="19" name="Text 17"/>
          <p:cNvSpPr/>
          <p:nvPr/>
        </p:nvSpPr>
        <p:spPr>
          <a:xfrm>
            <a:off x="4023360" y="1874520"/>
            <a:ext cx="1371600" cy="77724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ML or</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ルールベース</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自動切替</a:t>
            </a:r>
            <a:endParaRPr lang="en-US" sz="1100" dirty="0"/>
          </a:p>
        </p:txBody>
      </p:sp>
      <p:sp>
        <p:nvSpPr>
          <p:cNvPr id="20" name="Shape 18"/>
          <p:cNvSpPr/>
          <p:nvPr/>
        </p:nvSpPr>
        <p:spPr>
          <a:xfrm>
            <a:off x="5806440" y="1005840"/>
            <a:ext cx="1371600" cy="777240"/>
          </a:xfrm>
          <a:prstGeom prst="roundRect">
            <a:avLst>
              <a:gd name="adj" fmla="val 9412"/>
            </a:avLst>
          </a:prstGeom>
          <a:solidFill>
            <a:srgbClr val="E8EEF6"/>
          </a:solidFill>
          <a:ln w="19050">
            <a:solidFill>
              <a:srgbClr val="3366AA"/>
            </a:solidFill>
            <a:prstDash val="solid"/>
          </a:ln>
        </p:spPr>
        <p:txBody>
          <a:bodyPr/>
          <a:lstStyle/>
          <a:p>
            <a:endParaRPr lang="ja-JP" altLang="en-US"/>
          </a:p>
        </p:txBody>
      </p:sp>
      <p:sp>
        <p:nvSpPr>
          <p:cNvPr id="21" name="Text 19"/>
          <p:cNvSpPr/>
          <p:nvPr/>
        </p:nvSpPr>
        <p:spPr>
          <a:xfrm>
            <a:off x="5806440" y="1005840"/>
            <a:ext cx="1371600" cy="7772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結果</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提示</a:t>
            </a:r>
            <a:endParaRPr lang="en-US" sz="1200" dirty="0"/>
          </a:p>
        </p:txBody>
      </p:sp>
      <p:sp>
        <p:nvSpPr>
          <p:cNvPr id="22" name="Shape 20"/>
          <p:cNvSpPr/>
          <p:nvPr/>
        </p:nvSpPr>
        <p:spPr>
          <a:xfrm flipV="1">
            <a:off x="7178040" y="1394459"/>
            <a:ext cx="324832" cy="1"/>
          </a:xfrm>
          <a:prstGeom prst="line">
            <a:avLst/>
          </a:prstGeom>
          <a:noFill/>
          <a:ln w="25400">
            <a:solidFill>
              <a:srgbClr val="3366AA"/>
            </a:solidFill>
            <a:prstDash val="solid"/>
          </a:ln>
        </p:spPr>
        <p:txBody>
          <a:bodyPr/>
          <a:lstStyle/>
          <a:p>
            <a:endParaRPr lang="ja-JP" altLang="en-US"/>
          </a:p>
        </p:txBody>
      </p:sp>
      <p:sp>
        <p:nvSpPr>
          <p:cNvPr id="24" name="Text 22"/>
          <p:cNvSpPr/>
          <p:nvPr/>
        </p:nvSpPr>
        <p:spPr>
          <a:xfrm>
            <a:off x="5806440" y="1874520"/>
            <a:ext cx="1371600" cy="77724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後悔スコア</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警告</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類似ケース</a:t>
            </a:r>
            <a:endParaRPr lang="en-US" sz="1100" dirty="0"/>
          </a:p>
        </p:txBody>
      </p:sp>
      <p:sp>
        <p:nvSpPr>
          <p:cNvPr id="25" name="Shape 23"/>
          <p:cNvSpPr/>
          <p:nvPr/>
        </p:nvSpPr>
        <p:spPr>
          <a:xfrm>
            <a:off x="7589520" y="1005840"/>
            <a:ext cx="1371600" cy="777240"/>
          </a:xfrm>
          <a:prstGeom prst="roundRect">
            <a:avLst>
              <a:gd name="adj" fmla="val 9412"/>
            </a:avLst>
          </a:prstGeom>
          <a:solidFill>
            <a:srgbClr val="E8EEF6"/>
          </a:solidFill>
          <a:ln w="19050">
            <a:solidFill>
              <a:srgbClr val="3366AA"/>
            </a:solidFill>
            <a:prstDash val="solid"/>
          </a:ln>
        </p:spPr>
        <p:txBody>
          <a:bodyPr/>
          <a:lstStyle/>
          <a:p>
            <a:endParaRPr lang="ja-JP" altLang="en-US"/>
          </a:p>
        </p:txBody>
      </p:sp>
      <p:sp>
        <p:nvSpPr>
          <p:cNvPr id="26" name="Text 24"/>
          <p:cNvSpPr/>
          <p:nvPr/>
        </p:nvSpPr>
        <p:spPr>
          <a:xfrm>
            <a:off x="7589520" y="1005840"/>
            <a:ext cx="1371600" cy="777240"/>
          </a:xfrm>
          <a:prstGeom prst="rect">
            <a:avLst/>
          </a:prstGeom>
          <a:noFill/>
          <a:ln/>
        </p:spPr>
        <p:txBody>
          <a:bodyPr wrap="square" lIns="0" tIns="0" rIns="0" bIns="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フィード</a:t>
            </a:r>
            <a:endParaRPr lang="en-US" sz="1200" dirty="0"/>
          </a:p>
          <a:p>
            <a:pPr marL="0" indent="0" algn="ctr">
              <a:buNone/>
            </a:pPr>
            <a:r>
              <a:rPr lang="en-US" sz="1200" b="1" dirty="0">
                <a:solidFill>
                  <a:srgbClr val="1A1A1A"/>
                </a:solidFill>
                <a:latin typeface="Calibri" pitchFamily="34" charset="0"/>
                <a:ea typeface="Calibri" pitchFamily="34" charset="-122"/>
                <a:cs typeface="Calibri" pitchFamily="34" charset="-120"/>
              </a:rPr>
              <a:t>バック</a:t>
            </a:r>
            <a:endParaRPr lang="en-US" sz="1200" dirty="0"/>
          </a:p>
        </p:txBody>
      </p:sp>
      <p:sp>
        <p:nvSpPr>
          <p:cNvPr id="27" name="Text 25"/>
          <p:cNvSpPr/>
          <p:nvPr/>
        </p:nvSpPr>
        <p:spPr>
          <a:xfrm>
            <a:off x="7589520" y="1874520"/>
            <a:ext cx="1371600" cy="77724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後悔度(1-5)</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満足度</a:t>
            </a:r>
            <a:endParaRPr lang="en-US" sz="1100" dirty="0"/>
          </a:p>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後悔理由</a:t>
            </a:r>
            <a:endParaRPr lang="en-US" sz="1100" dirty="0"/>
          </a:p>
        </p:txBody>
      </p:sp>
      <p:sp>
        <p:nvSpPr>
          <p:cNvPr id="28" name="Shape 26"/>
          <p:cNvSpPr/>
          <p:nvPr/>
        </p:nvSpPr>
        <p:spPr>
          <a:xfrm>
            <a:off x="457200" y="3108959"/>
            <a:ext cx="8229600" cy="1725923"/>
          </a:xfrm>
          <a:prstGeom prst="roundRect">
            <a:avLst>
              <a:gd name="adj" fmla="val 5333"/>
            </a:avLst>
          </a:prstGeom>
          <a:solidFill>
            <a:srgbClr val="F5F8FC"/>
          </a:solidFill>
          <a:ln w="12700">
            <a:solidFill>
              <a:srgbClr val="3366AA"/>
            </a:solidFill>
            <a:prstDash val="dash"/>
          </a:ln>
        </p:spPr>
        <p:txBody>
          <a:bodyPr/>
          <a:lstStyle/>
          <a:p>
            <a:endParaRPr lang="ja-JP" altLang="en-US"/>
          </a:p>
        </p:txBody>
      </p:sp>
      <p:sp>
        <p:nvSpPr>
          <p:cNvPr id="29" name="Text 27"/>
          <p:cNvSpPr/>
          <p:nvPr/>
        </p:nvSpPr>
        <p:spPr>
          <a:xfrm>
            <a:off x="640080" y="3200400"/>
            <a:ext cx="7863840" cy="1188720"/>
          </a:xfrm>
          <a:prstGeom prst="rect">
            <a:avLst/>
          </a:prstGeom>
          <a:noFill/>
          <a:ln/>
        </p:spPr>
        <p:txBody>
          <a:bodyPr wrap="square" lIns="0" tIns="0" rIns="0" bIns="0" rtlCol="0" anchor="t"/>
          <a:lstStyle/>
          <a:p>
            <a:pPr marL="0" indent="0">
              <a:lnSpc>
                <a:spcPct val="140000"/>
              </a:lnSpc>
              <a:buNone/>
            </a:pPr>
            <a:r>
              <a:rPr lang="en-US" sz="1400" b="1" dirty="0" err="1">
                <a:solidFill>
                  <a:srgbClr val="1A1A1A"/>
                </a:solidFill>
                <a:latin typeface="Calibri" pitchFamily="34" charset="0"/>
                <a:ea typeface="Calibri" pitchFamily="34" charset="-122"/>
                <a:cs typeface="Calibri" pitchFamily="34" charset="-120"/>
              </a:rPr>
              <a:t>学習ループ</a:t>
            </a:r>
            <a:endParaRPr lang="en-US" sz="1400" dirty="0"/>
          </a:p>
          <a:p>
            <a:pPr marL="0" indent="0">
              <a:lnSpc>
                <a:spcPct val="140000"/>
              </a:lnSpc>
              <a:buNone/>
            </a:pPr>
            <a:endParaRPr lang="en-US" sz="1400" dirty="0"/>
          </a:p>
          <a:p>
            <a:pPr marL="0" indent="0">
              <a:lnSpc>
                <a:spcPct val="140000"/>
              </a:lnSpc>
              <a:buNone/>
            </a:pPr>
            <a:r>
              <a:rPr lang="en-US" sz="1300" dirty="0">
                <a:solidFill>
                  <a:srgbClr val="3366AA"/>
                </a:solidFill>
                <a:latin typeface="Calibri" pitchFamily="34" charset="0"/>
                <a:ea typeface="Calibri" pitchFamily="34" charset="-122"/>
                <a:cs typeface="Calibri" pitchFamily="34" charset="-120"/>
              </a:rPr>
              <a:t>フィードバック収集 → モデル再訓練 → 予測精度向上 → さらにフィードバック</a:t>
            </a:r>
            <a:endParaRPr lang="en-US" sz="1400" dirty="0"/>
          </a:p>
          <a:p>
            <a:pPr marL="0" indent="0">
              <a:lnSpc>
                <a:spcPct val="140000"/>
              </a:lnSpc>
              <a:buNone/>
            </a:pPr>
            <a:r>
              <a:rPr lang="en-US" sz="1200" dirty="0">
                <a:solidFill>
                  <a:srgbClr val="1A1A1A"/>
                </a:solidFill>
                <a:latin typeface="Calibri" pitchFamily="34" charset="0"/>
                <a:ea typeface="Calibri" pitchFamily="34" charset="-122"/>
                <a:cs typeface="Calibri" pitchFamily="34" charset="-120"/>
              </a:rPr>
              <a:t>・フィードバック10件以上でルールベース → ML自動移行</a:t>
            </a:r>
            <a:endParaRPr lang="en-US" sz="1400" dirty="0"/>
          </a:p>
          <a:p>
            <a:pPr marL="0" indent="0">
              <a:lnSpc>
                <a:spcPct val="140000"/>
              </a:lnSpc>
              <a:buNone/>
            </a:pPr>
            <a:r>
              <a:rPr lang="en-US" sz="1200" dirty="0">
                <a:solidFill>
                  <a:srgbClr val="1A1A1A"/>
                </a:solidFill>
                <a:latin typeface="Calibri" pitchFamily="34" charset="0"/>
                <a:ea typeface="Calibri" pitchFamily="34" charset="-122"/>
                <a:cs typeface="Calibri" pitchFamily="34" charset="-120"/>
              </a:rPr>
              <a:t>・新データ追加時に特徴量重要度を再計算</a:t>
            </a:r>
            <a:endParaRPr lang="en-US" sz="1400" dirty="0"/>
          </a:p>
        </p:txBody>
      </p:sp>
      <p:sp>
        <p:nvSpPr>
          <p:cNvPr id="30" name="Text 19">
            <a:extLst>
              <a:ext uri="{FF2B5EF4-FFF2-40B4-BE49-F238E27FC236}">
                <a16:creationId xmlns:a16="http://schemas.microsoft.com/office/drawing/2014/main" id="{B169109A-7B4B-0164-1E2A-3DCBEFDFBC0C}"/>
              </a:ext>
            </a:extLst>
          </p:cNvPr>
          <p:cNvSpPr/>
          <p:nvPr/>
        </p:nvSpPr>
        <p:spPr>
          <a:xfrm rot="16200000">
            <a:off x="2100462" y="130302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
        <p:nvSpPr>
          <p:cNvPr id="31" name="Text 19">
            <a:extLst>
              <a:ext uri="{FF2B5EF4-FFF2-40B4-BE49-F238E27FC236}">
                <a16:creationId xmlns:a16="http://schemas.microsoft.com/office/drawing/2014/main" id="{A38C6480-971B-EFFD-7E88-4A834C2E809B}"/>
              </a:ext>
            </a:extLst>
          </p:cNvPr>
          <p:cNvSpPr/>
          <p:nvPr/>
        </p:nvSpPr>
        <p:spPr>
          <a:xfrm rot="16200000">
            <a:off x="3886200" y="130302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
        <p:nvSpPr>
          <p:cNvPr id="32" name="Text 19">
            <a:extLst>
              <a:ext uri="{FF2B5EF4-FFF2-40B4-BE49-F238E27FC236}">
                <a16:creationId xmlns:a16="http://schemas.microsoft.com/office/drawing/2014/main" id="{FCD9A1CC-C135-F32C-D319-A95106B7A83F}"/>
              </a:ext>
            </a:extLst>
          </p:cNvPr>
          <p:cNvSpPr/>
          <p:nvPr/>
        </p:nvSpPr>
        <p:spPr>
          <a:xfrm rot="16200000">
            <a:off x="5669280" y="130302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
        <p:nvSpPr>
          <p:cNvPr id="33" name="Text 19">
            <a:extLst>
              <a:ext uri="{FF2B5EF4-FFF2-40B4-BE49-F238E27FC236}">
                <a16:creationId xmlns:a16="http://schemas.microsoft.com/office/drawing/2014/main" id="{023FE204-48D4-02AE-6E78-1A55B5DCDF07}"/>
              </a:ext>
            </a:extLst>
          </p:cNvPr>
          <p:cNvSpPr/>
          <p:nvPr/>
        </p:nvSpPr>
        <p:spPr>
          <a:xfrm rot="16200000">
            <a:off x="7452360" y="1303020"/>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データモデル</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9/25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【基盤テーブル】</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1417320"/>
        </p:xfrm>
        <a:graphic>
          <a:graphicData uri="http://schemas.openxmlformats.org/drawingml/2006/table">
            <a:tbl>
              <a:tblPr/>
              <a:tblGrid>
                <a:gridCol w="16459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テーブル</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主要カラム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説明</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decisions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category, text, alternatives, context(JSONB)</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意思決定記録</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feedbacks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regret_score(1-5 CHECK), satisfaction, would_change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フィードバック</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regret_patterns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pattern_type, trigger_conditions, avg_regret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パターン蓄積</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457200" y="274320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【研究用拡張テーブル（6テーブル）】</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7200" y="3063240"/>
          <a:ext cx="8229600" cy="16002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テーブル</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目的</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2004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model_performance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モデル精度記録（MAE, RMSE, R², Accuracy）</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feature_importance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特徴量重要度の経時変化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2004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experiments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実験条件・パラメータ・結果の管理</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prediction_explanations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SHAP値に基づく予測根拠の保存</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特徴量設計 ① 決定要因 + コンテキスト</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10/25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18次元の特徴量空間（4カテゴリ）</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0360"/>
        </p:xfrm>
        <a:graphic>
          <a:graphicData uri="http://schemas.openxmlformats.org/drawingml/2006/table">
            <a:tbl>
              <a:tblPr/>
              <a:tblGrid>
                <a:gridCol w="12801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カテゴリ</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特徴量</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次元</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値域・説明</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決定要因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金額（円）: 意思決定のコスト</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taste_expectation</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味の期待値 (1-5): 選択肢への期待</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65760">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health_value, time_required</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健康価値 / 所要時間</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コンテキスト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mood_score</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気分 (1-5): 意思決定時の感情状態</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365760">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stress_level</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ストレス (1-5): ★ ホットステート指標</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hunger_level</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空腹度 (1-5): ★ ホットステート指標</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365760">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budget_remaining, with_others</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残り予算 / 同伴者の有無</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4251960"/>
            <a:ext cx="8229600" cy="274320"/>
          </a:xfrm>
          <a:prstGeom prst="rect">
            <a:avLst/>
          </a:prstGeom>
          <a:noFill/>
          <a:ln/>
        </p:spPr>
        <p:txBody>
          <a:bodyPr wrap="square" lIns="0" tIns="0" rIns="0" bIns="0" rtlCol="0" anchor="ctr"/>
          <a:lstStyle/>
          <a:p>
            <a:pPr marL="0" indent="0">
              <a:buNone/>
            </a:pPr>
            <a:r>
              <a:rPr lang="en-US" sz="1200" i="1" dirty="0">
                <a:solidFill>
                  <a:srgbClr val="3366AA"/>
                </a:solidFill>
                <a:latin typeface="Calibri" pitchFamily="34" charset="0"/>
                <a:ea typeface="Calibri" pitchFamily="34" charset="-122"/>
                <a:cs typeface="Calibri" pitchFamily="34" charset="-120"/>
              </a:rPr>
              <a:t>★ stress + hunger = ホットステート指標（行動経済学: 生理的覚醒が判断を歪める）</a:t>
            </a:r>
            <a:endParaRPr lang="en-US" sz="12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[2] Kahneman &amp; Tversky (1979) - プロスペクト理論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特徴量設計 ② 時間 + ユーザー履歴</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11/25</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1783080"/>
        </p:xfrm>
        <a:graphic>
          <a:graphicData uri="http://schemas.openxmlformats.org/drawingml/2006/table">
            <a:tbl>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カテゴリ</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特徴量</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次元</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説明</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時間</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hour_of_day, is_lunch_time(11-13時),</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is_dinner_time(18-20時),</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day_of_week, weather_encoded</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時間帯・曜日・天気</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食事時間帯フラグ</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ユーザー</a:t>
                      </a:r>
                      <a:endParaRPr lang="en-US" sz="1200" dirty="0">
                        <a:latin typeface="Calibri" charset="0"/>
                        <a:ea typeface="Calibri" charset="0"/>
                        <a:cs typeface="Calibri" charset="0"/>
                      </a:endParaRPr>
                    </a:p>
                    <a:p>
                      <a:pPr marL="0" indent="0" algn="l">
                        <a:buNone/>
                      </a:pPr>
                      <a:r>
                        <a:rPr lang="en-US" sz="1200" b="1" dirty="0">
                          <a:solidFill>
                            <a:srgbClr val="1A1A1A"/>
                          </a:solidFill>
                          <a:latin typeface="Calibri" pitchFamily="34" charset="0"/>
                          <a:ea typeface="Calibri" pitchFamily="34" charset="-122"/>
                          <a:cs typeface="Calibri" pitchFamily="34" charset="-120"/>
                        </a:rPr>
                        <a:t>履歴</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avg_regret_category,</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regret_variance,</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similar_decisions, recent_trend</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カテゴリ別平均後悔度</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分散・類似度・傾向</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bl>
          </a:graphicData>
        </a:graphic>
      </p:graphicFrame>
      <p:sp>
        <p:nvSpPr>
          <p:cNvPr id="6" name="Shape 3"/>
          <p:cNvSpPr/>
          <p:nvPr/>
        </p:nvSpPr>
        <p:spPr>
          <a:xfrm>
            <a:off x="457200" y="3108960"/>
            <a:ext cx="8229600" cy="640080"/>
          </a:xfrm>
          <a:prstGeom prst="roundRect">
            <a:avLst>
              <a:gd name="adj" fmla="val 7143"/>
            </a:avLst>
          </a:prstGeom>
          <a:solidFill>
            <a:srgbClr val="FFF8E1"/>
          </a:solidFill>
          <a:ln w="12700">
            <a:solidFill>
              <a:srgbClr val="E68A00"/>
            </a:solidFill>
            <a:prstDash val="solid"/>
          </a:ln>
        </p:spPr>
        <p:txBody>
          <a:bodyPr/>
          <a:lstStyle/>
          <a:p>
            <a:endParaRPr lang="ja-JP" altLang="en-US"/>
          </a:p>
        </p:txBody>
      </p:sp>
      <p:sp>
        <p:nvSpPr>
          <p:cNvPr id="7" name="Text 4"/>
          <p:cNvSpPr/>
          <p:nvPr/>
        </p:nvSpPr>
        <p:spPr>
          <a:xfrm>
            <a:off x="640080" y="3154680"/>
            <a:ext cx="7863840" cy="54864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データリーケージ防止: </a:t>
            </a:r>
            <a:r>
              <a:rPr lang="en-US" sz="1300" dirty="0" err="1">
                <a:solidFill>
                  <a:srgbClr val="1A1A1A"/>
                </a:solidFill>
                <a:latin typeface="Calibri" pitchFamily="34" charset="0"/>
                <a:ea typeface="Calibri" pitchFamily="34" charset="-122"/>
                <a:cs typeface="Calibri" pitchFamily="34" charset="-120"/>
              </a:rPr>
              <a:t>各意思決定より過去のデータのみで履歴特徴量を計算</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予測モデル ① MLモデル</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12/25</a:t>
            </a:r>
            <a:endParaRPr lang="en-US" sz="1100" dirty="0"/>
          </a:p>
        </p:txBody>
      </p:sp>
      <p:sp>
        <p:nvSpPr>
          <p:cNvPr id="5" name="Text 3"/>
          <p:cNvSpPr/>
          <p:nvPr/>
        </p:nvSpPr>
        <p:spPr>
          <a:xfrm>
            <a:off x="457200" y="822960"/>
            <a:ext cx="82296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Random Forest Regressor</a:t>
            </a:r>
            <a:endParaRPr lang="en-US" sz="1800" dirty="0"/>
          </a:p>
        </p:txBody>
      </p:sp>
      <p:sp>
        <p:nvSpPr>
          <p:cNvPr id="6" name="Text 4"/>
          <p:cNvSpPr/>
          <p:nvPr/>
        </p:nvSpPr>
        <p:spPr>
          <a:xfrm>
            <a:off x="457200" y="118872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個人ごとに独立モデルを訓練（最低10件のフィードバックで開始）</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196596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パラメータ</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値</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理由</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n_estimators</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個人データ数十件に適したサイズ</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max_depth</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過学習抑制と表現力のバランス</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前処理</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StandardScaler</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ゼロ平均・単位分散に正規化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出力正規化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(score-1)/4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regret_score(1-5) → 0〜1に変換</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8" name="Text 5"/>
          <p:cNvSpPr/>
          <p:nvPr/>
        </p:nvSpPr>
        <p:spPr>
          <a:xfrm>
            <a:off x="457200" y="3657600"/>
            <a:ext cx="18288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訓練フロー</a:t>
            </a:r>
            <a:endParaRPr lang="en-US" sz="1300" dirty="0"/>
          </a:p>
        </p:txBody>
      </p:sp>
      <p:sp>
        <p:nvSpPr>
          <p:cNvPr id="9" name="Shape 6"/>
          <p:cNvSpPr/>
          <p:nvPr/>
        </p:nvSpPr>
        <p:spPr>
          <a:xfrm>
            <a:off x="457200" y="397764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10" name="Text 7"/>
          <p:cNvSpPr/>
          <p:nvPr/>
        </p:nvSpPr>
        <p:spPr>
          <a:xfrm>
            <a:off x="457200" y="397764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データ取得</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(10件以上)</a:t>
            </a:r>
            <a:endParaRPr lang="en-US" sz="1000" dirty="0"/>
          </a:p>
        </p:txBody>
      </p:sp>
      <p:sp>
        <p:nvSpPr>
          <p:cNvPr id="11" name="Shape 8"/>
          <p:cNvSpPr/>
          <p:nvPr/>
        </p:nvSpPr>
        <p:spPr>
          <a:xfrm>
            <a:off x="2286000" y="4274820"/>
            <a:ext cx="320040" cy="0"/>
          </a:xfrm>
          <a:prstGeom prst="line">
            <a:avLst/>
          </a:prstGeom>
          <a:noFill/>
          <a:ln w="25400">
            <a:solidFill>
              <a:srgbClr val="3366AA"/>
            </a:solidFill>
            <a:prstDash val="solid"/>
          </a:ln>
        </p:spPr>
        <p:txBody>
          <a:bodyPr/>
          <a:lstStyle/>
          <a:p>
            <a:endParaRPr lang="ja-JP" altLang="en-US"/>
          </a:p>
        </p:txBody>
      </p:sp>
      <p:sp>
        <p:nvSpPr>
          <p:cNvPr id="7" name="Shape 10"/>
          <p:cNvSpPr/>
          <p:nvPr/>
        </p:nvSpPr>
        <p:spPr>
          <a:xfrm>
            <a:off x="2606040" y="397764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14" name="Text 11"/>
          <p:cNvSpPr/>
          <p:nvPr/>
        </p:nvSpPr>
        <p:spPr>
          <a:xfrm>
            <a:off x="2606040" y="397764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StandardScaler</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正規化</a:t>
            </a:r>
            <a:endParaRPr lang="en-US" sz="1000" dirty="0"/>
          </a:p>
        </p:txBody>
      </p:sp>
      <p:sp>
        <p:nvSpPr>
          <p:cNvPr id="15" name="Shape 12"/>
          <p:cNvSpPr/>
          <p:nvPr/>
        </p:nvSpPr>
        <p:spPr>
          <a:xfrm>
            <a:off x="4434840" y="4274820"/>
            <a:ext cx="320040" cy="0"/>
          </a:xfrm>
          <a:prstGeom prst="line">
            <a:avLst/>
          </a:prstGeom>
          <a:noFill/>
          <a:ln w="25400">
            <a:solidFill>
              <a:srgbClr val="3366AA"/>
            </a:solidFill>
            <a:prstDash val="solid"/>
          </a:ln>
        </p:spPr>
        <p:txBody>
          <a:bodyPr/>
          <a:lstStyle/>
          <a:p>
            <a:endParaRPr lang="ja-JP" altLang="en-US"/>
          </a:p>
        </p:txBody>
      </p:sp>
      <p:sp>
        <p:nvSpPr>
          <p:cNvPr id="17" name="Shape 14"/>
          <p:cNvSpPr/>
          <p:nvPr/>
        </p:nvSpPr>
        <p:spPr>
          <a:xfrm>
            <a:off x="4754880" y="3977640"/>
            <a:ext cx="1828800" cy="594360"/>
          </a:xfrm>
          <a:prstGeom prst="roundRect">
            <a:avLst>
              <a:gd name="adj" fmla="val 12308"/>
            </a:avLst>
          </a:prstGeom>
          <a:solidFill>
            <a:srgbClr val="D6E4F0"/>
          </a:solidFill>
          <a:ln w="19050">
            <a:solidFill>
              <a:srgbClr val="3366AA"/>
            </a:solidFill>
            <a:prstDash val="solid"/>
          </a:ln>
        </p:spPr>
        <p:txBody>
          <a:bodyPr/>
          <a:lstStyle/>
          <a:p>
            <a:endParaRPr lang="ja-JP" altLang="en-US"/>
          </a:p>
        </p:txBody>
      </p:sp>
      <p:sp>
        <p:nvSpPr>
          <p:cNvPr id="18" name="Text 15"/>
          <p:cNvSpPr/>
          <p:nvPr/>
        </p:nvSpPr>
        <p:spPr>
          <a:xfrm>
            <a:off x="4754880" y="397764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RF訓練</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(50 trees)</a:t>
            </a:r>
            <a:endParaRPr lang="en-US" sz="1000" dirty="0"/>
          </a:p>
        </p:txBody>
      </p:sp>
      <p:sp>
        <p:nvSpPr>
          <p:cNvPr id="19" name="Shape 16"/>
          <p:cNvSpPr/>
          <p:nvPr/>
        </p:nvSpPr>
        <p:spPr>
          <a:xfrm>
            <a:off x="6583680" y="4274820"/>
            <a:ext cx="320040" cy="0"/>
          </a:xfrm>
          <a:prstGeom prst="line">
            <a:avLst/>
          </a:prstGeom>
          <a:noFill/>
          <a:ln w="25400">
            <a:solidFill>
              <a:srgbClr val="3366AA"/>
            </a:solidFill>
            <a:prstDash val="solid"/>
          </a:ln>
        </p:spPr>
        <p:txBody>
          <a:bodyPr/>
          <a:lstStyle/>
          <a:p>
            <a:endParaRPr lang="ja-JP" altLang="en-US"/>
          </a:p>
        </p:txBody>
      </p:sp>
      <p:sp>
        <p:nvSpPr>
          <p:cNvPr id="21" name="Shape 18"/>
          <p:cNvSpPr/>
          <p:nvPr/>
        </p:nvSpPr>
        <p:spPr>
          <a:xfrm>
            <a:off x="6903720" y="397764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22" name="Text 19"/>
          <p:cNvSpPr/>
          <p:nvPr/>
        </p:nvSpPr>
        <p:spPr>
          <a:xfrm>
            <a:off x="6903720" y="397764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スコア出力</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予測モデル ② ルールベースフォールバック</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13/25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フィードバック &lt; 10件 → 自動適用（コールドスタート対応）</a:t>
            </a:r>
            <a:endParaRPr lang="en-US" sz="1300" dirty="0"/>
          </a:p>
        </p:txBody>
      </p:sp>
      <p:sp>
        <p:nvSpPr>
          <p:cNvPr id="6" name="Text 4"/>
          <p:cNvSpPr/>
          <p:nvPr/>
        </p:nvSpPr>
        <p:spPr>
          <a:xfrm>
            <a:off x="457200" y="109728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重み付き加算スコアリング（ベーススコア: 0.3）</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1965960"/>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条件</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加算値</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条件</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加算値</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stress ≥ 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cat_regret ≥ 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price &gt; 1000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trend ≥ 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taste ≤ 2</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mood ≤ 2</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hunger = 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budget &lt; price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8" name="Text 5"/>
          <p:cNvSpPr/>
          <p:nvPr/>
        </p:nvSpPr>
        <p:spPr>
          <a:xfrm>
            <a:off x="457200" y="3520440"/>
            <a:ext cx="18288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リスクレベル分類</a:t>
            </a:r>
            <a:endParaRPr lang="en-US" sz="1300" dirty="0"/>
          </a:p>
        </p:txBody>
      </p:sp>
      <p:sp>
        <p:nvSpPr>
          <p:cNvPr id="9" name="Shape 6"/>
          <p:cNvSpPr/>
          <p:nvPr/>
        </p:nvSpPr>
        <p:spPr>
          <a:xfrm>
            <a:off x="2560320" y="3474720"/>
            <a:ext cx="1828800" cy="640080"/>
          </a:xfrm>
          <a:prstGeom prst="roundRect">
            <a:avLst>
              <a:gd name="adj" fmla="val 11429"/>
            </a:avLst>
          </a:prstGeom>
          <a:solidFill>
            <a:srgbClr val="FFCDD2"/>
          </a:solidFill>
          <a:ln w="19050">
            <a:solidFill>
              <a:srgbClr val="D32F2F"/>
            </a:solidFill>
            <a:prstDash val="solid"/>
          </a:ln>
        </p:spPr>
        <p:txBody>
          <a:bodyPr/>
          <a:lstStyle/>
          <a:p>
            <a:endParaRPr lang="ja-JP" altLang="en-US"/>
          </a:p>
        </p:txBody>
      </p:sp>
      <p:sp>
        <p:nvSpPr>
          <p:cNvPr id="10" name="Text 7"/>
          <p:cNvSpPr/>
          <p:nvPr/>
        </p:nvSpPr>
        <p:spPr>
          <a:xfrm>
            <a:off x="2560320" y="3474720"/>
            <a:ext cx="1828800" cy="640080"/>
          </a:xfrm>
          <a:prstGeom prst="rect">
            <a:avLst/>
          </a:prstGeom>
          <a:noFill/>
          <a:ln/>
        </p:spPr>
        <p:txBody>
          <a:bodyPr wrap="square" lIns="0" tIns="0" rIns="0" bIns="0" rtlCol="0" anchor="ctr"/>
          <a:lstStyle/>
          <a:p>
            <a:pPr marL="0" indent="0" algn="ctr">
              <a:buNone/>
            </a:pPr>
            <a:endParaRPr lang="en-US" sz="1100" dirty="0"/>
          </a:p>
        </p:txBody>
      </p:sp>
      <p:sp>
        <p:nvSpPr>
          <p:cNvPr id="11" name="Text 8"/>
          <p:cNvSpPr/>
          <p:nvPr/>
        </p:nvSpPr>
        <p:spPr>
          <a:xfrm>
            <a:off x="2560320" y="3474720"/>
            <a:ext cx="1828800" cy="640080"/>
          </a:xfrm>
          <a:prstGeom prst="rect">
            <a:avLst/>
          </a:prstGeom>
          <a:noFill/>
          <a:ln/>
        </p:spPr>
        <p:txBody>
          <a:bodyPr wrap="square" lIns="0" tIns="0" rIns="0" bIns="0" rtlCol="0" anchor="ctr"/>
          <a:lstStyle/>
          <a:p>
            <a:pPr marL="0" indent="0" algn="ctr">
              <a:lnSpc>
                <a:spcPct val="130000"/>
              </a:lnSpc>
              <a:buNone/>
            </a:pPr>
            <a:r>
              <a:rPr lang="en-US" sz="1300" b="1" dirty="0">
                <a:solidFill>
                  <a:srgbClr val="1A1A1A"/>
                </a:solidFill>
                <a:latin typeface="Calibri" pitchFamily="34" charset="0"/>
                <a:ea typeface="Calibri" pitchFamily="34" charset="-122"/>
                <a:cs typeface="Calibri" pitchFamily="34" charset="-120"/>
              </a:rPr>
              <a:t>高リスク  ≥ 0.7</a:t>
            </a:r>
            <a:endParaRPr lang="en-US" sz="1300" dirty="0"/>
          </a:p>
          <a:p>
            <a:pPr marL="0" indent="0" algn="ctr">
              <a:lnSpc>
                <a:spcPct val="130000"/>
              </a:lnSpc>
              <a:buNone/>
            </a:pPr>
            <a:r>
              <a:rPr lang="en-US" sz="1000" dirty="0">
                <a:solidFill>
                  <a:srgbClr val="888888"/>
                </a:solidFill>
                <a:latin typeface="Calibri" pitchFamily="34" charset="0"/>
                <a:ea typeface="Calibri" pitchFamily="34" charset="-122"/>
                <a:cs typeface="Calibri" pitchFamily="34" charset="-120"/>
              </a:rPr>
              <a:t>強い警告を表示</a:t>
            </a:r>
            <a:endParaRPr lang="en-US" sz="1300" dirty="0"/>
          </a:p>
        </p:txBody>
      </p:sp>
      <p:sp>
        <p:nvSpPr>
          <p:cNvPr id="12" name="Shape 9"/>
          <p:cNvSpPr/>
          <p:nvPr/>
        </p:nvSpPr>
        <p:spPr>
          <a:xfrm>
            <a:off x="4572000" y="3474720"/>
            <a:ext cx="1828800" cy="640080"/>
          </a:xfrm>
          <a:prstGeom prst="roundRect">
            <a:avLst>
              <a:gd name="adj" fmla="val 11429"/>
            </a:avLst>
          </a:prstGeom>
          <a:solidFill>
            <a:srgbClr val="FFF9C4"/>
          </a:solidFill>
          <a:ln w="19050">
            <a:solidFill>
              <a:srgbClr val="F9A825"/>
            </a:solidFill>
            <a:prstDash val="solid"/>
          </a:ln>
        </p:spPr>
        <p:txBody>
          <a:bodyPr/>
          <a:lstStyle/>
          <a:p>
            <a:endParaRPr lang="ja-JP" altLang="en-US"/>
          </a:p>
        </p:txBody>
      </p:sp>
      <p:sp>
        <p:nvSpPr>
          <p:cNvPr id="13" name="Text 10"/>
          <p:cNvSpPr/>
          <p:nvPr/>
        </p:nvSpPr>
        <p:spPr>
          <a:xfrm>
            <a:off x="4572000" y="3474720"/>
            <a:ext cx="1828800" cy="640080"/>
          </a:xfrm>
          <a:prstGeom prst="rect">
            <a:avLst/>
          </a:prstGeom>
          <a:noFill/>
          <a:ln/>
        </p:spPr>
        <p:txBody>
          <a:bodyPr wrap="square" lIns="0" tIns="0" rIns="0" bIns="0" rtlCol="0" anchor="ctr"/>
          <a:lstStyle/>
          <a:p>
            <a:pPr marL="0" indent="0" algn="ctr">
              <a:buNone/>
            </a:pPr>
            <a:endParaRPr lang="en-US" sz="1100" dirty="0"/>
          </a:p>
        </p:txBody>
      </p:sp>
      <p:sp>
        <p:nvSpPr>
          <p:cNvPr id="7" name="Text 11"/>
          <p:cNvSpPr/>
          <p:nvPr/>
        </p:nvSpPr>
        <p:spPr>
          <a:xfrm>
            <a:off x="4572000" y="3474720"/>
            <a:ext cx="1828800" cy="640080"/>
          </a:xfrm>
          <a:prstGeom prst="rect">
            <a:avLst/>
          </a:prstGeom>
          <a:noFill/>
          <a:ln/>
        </p:spPr>
        <p:txBody>
          <a:bodyPr wrap="square" lIns="0" tIns="0" rIns="0" bIns="0" rtlCol="0" anchor="ctr"/>
          <a:lstStyle/>
          <a:p>
            <a:pPr marL="0" indent="0" algn="ctr">
              <a:lnSpc>
                <a:spcPct val="130000"/>
              </a:lnSpc>
              <a:buNone/>
            </a:pPr>
            <a:r>
              <a:rPr lang="en-US" sz="1300" b="1" dirty="0">
                <a:solidFill>
                  <a:srgbClr val="1A1A1A"/>
                </a:solidFill>
                <a:latin typeface="Calibri" pitchFamily="34" charset="0"/>
                <a:ea typeface="Calibri" pitchFamily="34" charset="-122"/>
                <a:cs typeface="Calibri" pitchFamily="34" charset="-120"/>
              </a:rPr>
              <a:t>中リスク  ≥ 0.4</a:t>
            </a:r>
            <a:endParaRPr lang="en-US" sz="1300" dirty="0"/>
          </a:p>
          <a:p>
            <a:pPr marL="0" indent="0" algn="ctr">
              <a:lnSpc>
                <a:spcPct val="130000"/>
              </a:lnSpc>
              <a:buNone/>
            </a:pPr>
            <a:r>
              <a:rPr lang="en-US" sz="1000" dirty="0">
                <a:solidFill>
                  <a:srgbClr val="888888"/>
                </a:solidFill>
                <a:latin typeface="Calibri" pitchFamily="34" charset="0"/>
                <a:ea typeface="Calibri" pitchFamily="34" charset="-122"/>
                <a:cs typeface="Calibri" pitchFamily="34" charset="-120"/>
              </a:rPr>
              <a:t>注意喚起を提示</a:t>
            </a:r>
            <a:endParaRPr lang="en-US" sz="1300" dirty="0"/>
          </a:p>
        </p:txBody>
      </p:sp>
      <p:sp>
        <p:nvSpPr>
          <p:cNvPr id="15" name="Shape 12"/>
          <p:cNvSpPr/>
          <p:nvPr/>
        </p:nvSpPr>
        <p:spPr>
          <a:xfrm>
            <a:off x="6583680" y="3474720"/>
            <a:ext cx="1828800" cy="640080"/>
          </a:xfrm>
          <a:prstGeom prst="roundRect">
            <a:avLst>
              <a:gd name="adj" fmla="val 11429"/>
            </a:avLst>
          </a:prstGeom>
          <a:solidFill>
            <a:srgbClr val="C8E6C9"/>
          </a:solidFill>
          <a:ln w="19050">
            <a:solidFill>
              <a:srgbClr val="388E3C"/>
            </a:solidFill>
            <a:prstDash val="solid"/>
          </a:ln>
        </p:spPr>
        <p:txBody>
          <a:bodyPr/>
          <a:lstStyle/>
          <a:p>
            <a:endParaRPr lang="ja-JP" altLang="en-US"/>
          </a:p>
        </p:txBody>
      </p:sp>
      <p:sp>
        <p:nvSpPr>
          <p:cNvPr id="16" name="Text 13"/>
          <p:cNvSpPr/>
          <p:nvPr/>
        </p:nvSpPr>
        <p:spPr>
          <a:xfrm>
            <a:off x="6583680" y="3474720"/>
            <a:ext cx="1828800" cy="640080"/>
          </a:xfrm>
          <a:prstGeom prst="rect">
            <a:avLst/>
          </a:prstGeom>
          <a:noFill/>
          <a:ln/>
        </p:spPr>
        <p:txBody>
          <a:bodyPr wrap="square" lIns="0" tIns="0" rIns="0" bIns="0" rtlCol="0" anchor="ctr"/>
          <a:lstStyle/>
          <a:p>
            <a:pPr marL="0" indent="0" algn="ctr">
              <a:buNone/>
            </a:pPr>
            <a:endParaRPr lang="en-US" sz="1100" dirty="0"/>
          </a:p>
        </p:txBody>
      </p:sp>
      <p:sp>
        <p:nvSpPr>
          <p:cNvPr id="17" name="Text 14"/>
          <p:cNvSpPr/>
          <p:nvPr/>
        </p:nvSpPr>
        <p:spPr>
          <a:xfrm>
            <a:off x="6583680" y="3474720"/>
            <a:ext cx="1828800" cy="640080"/>
          </a:xfrm>
          <a:prstGeom prst="rect">
            <a:avLst/>
          </a:prstGeom>
          <a:noFill/>
          <a:ln/>
        </p:spPr>
        <p:txBody>
          <a:bodyPr wrap="square" lIns="0" tIns="0" rIns="0" bIns="0" rtlCol="0" anchor="ctr"/>
          <a:lstStyle/>
          <a:p>
            <a:pPr marL="0" indent="0" algn="ctr">
              <a:lnSpc>
                <a:spcPct val="130000"/>
              </a:lnSpc>
              <a:buNone/>
            </a:pPr>
            <a:r>
              <a:rPr lang="en-US" sz="1300" b="1" dirty="0">
                <a:solidFill>
                  <a:srgbClr val="1A1A1A"/>
                </a:solidFill>
                <a:latin typeface="Calibri" pitchFamily="34" charset="0"/>
                <a:ea typeface="Calibri" pitchFamily="34" charset="-122"/>
                <a:cs typeface="Calibri" pitchFamily="34" charset="-120"/>
              </a:rPr>
              <a:t>低リスク  &lt; 0.4</a:t>
            </a:r>
            <a:endParaRPr lang="en-US" sz="1300" dirty="0"/>
          </a:p>
          <a:p>
            <a:pPr marL="0" indent="0" algn="ctr">
              <a:lnSpc>
                <a:spcPct val="130000"/>
              </a:lnSpc>
              <a:buNone/>
            </a:pPr>
            <a:r>
              <a:rPr lang="en-US" sz="1000" dirty="0">
                <a:solidFill>
                  <a:srgbClr val="888888"/>
                </a:solidFill>
                <a:latin typeface="Calibri" pitchFamily="34" charset="0"/>
                <a:ea typeface="Calibri" pitchFamily="34" charset="-122"/>
                <a:cs typeface="Calibri" pitchFamily="34" charset="-120"/>
              </a:rPr>
              <a:t>通常の意思決定</a:t>
            </a:r>
            <a:endParaRPr lang="en-US" sz="1300" dirty="0"/>
          </a:p>
        </p:txBody>
      </p:sp>
      <p:sp>
        <p:nvSpPr>
          <p:cNvPr id="18" name="Text 15"/>
          <p:cNvSpPr/>
          <p:nvPr/>
        </p:nvSpPr>
        <p:spPr>
          <a:xfrm>
            <a:off x="457200" y="4251960"/>
            <a:ext cx="8229600" cy="274320"/>
          </a:xfrm>
          <a:prstGeom prst="rect">
            <a:avLst/>
          </a:prstGeom>
          <a:noFill/>
          <a:ln/>
        </p:spPr>
        <p:txBody>
          <a:bodyPr wrap="square" lIns="0" tIns="0" rIns="0" bIns="0" rtlCol="0" anchor="ctr"/>
          <a:lstStyle/>
          <a:p>
            <a:pPr marL="0" indent="0">
              <a:buNone/>
            </a:pPr>
            <a:r>
              <a:rPr lang="en-US" sz="1200" i="1" dirty="0">
                <a:solidFill>
                  <a:srgbClr val="3366AA"/>
                </a:solidFill>
                <a:latin typeface="Calibri" pitchFamily="34" charset="0"/>
                <a:ea typeface="Calibri" pitchFamily="34" charset="-122"/>
                <a:cs typeface="Calibri" pitchFamily="34" charset="-120"/>
              </a:rPr>
              <a:t>例: base(0.3) + stress≥4(+0.20) + price&gt;1000(+0.15) = 0.65 → 中リスク</a:t>
            </a:r>
            <a:endParaRPr lang="en-US" sz="12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[6] Vinyals et al. (2016) - One-shot learning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適応的特徴量選択</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14/25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18次元 → 12次元に自動絞り込み（個人ごとに最適なサブセット）</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手法</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概要</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特性</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41148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SHAP値</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TreeExplainerでShapley値を計算</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正負の貢献方向を可視化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Permutation</a:t>
                      </a:r>
                      <a:endParaRPr lang="en-US" sz="1200" dirty="0">
                        <a:latin typeface="Calibri" charset="0"/>
                        <a:ea typeface="Calibri" charset="0"/>
                        <a:cs typeface="Calibri" charset="0"/>
                      </a:endParaRPr>
                    </a:p>
                    <a:p>
                      <a:pPr marL="0" indent="0" algn="l">
                        <a:buNone/>
                      </a:pPr>
                      <a:r>
                        <a:rPr lang="en-US" sz="1200" b="1" dirty="0">
                          <a:solidFill>
                            <a:srgbClr val="1A1A1A"/>
                          </a:solidFill>
                          <a:latin typeface="Calibri" pitchFamily="34" charset="0"/>
                          <a:ea typeface="Calibri" pitchFamily="34" charset="-122"/>
                          <a:cs typeface="Calibri" pitchFamily="34" charset="-120"/>
                        </a:rPr>
                        <a:t>Importance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特徴量シャッフルで性能低下量を測定</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n_repeats=10, モデル非依存</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1148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RFE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再帰的特徴量除去</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相互作用考慮、計算コスト高</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SelectKBest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F回帰統計量でフィルタリング</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計算軽量、初期スクリーニング</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7" name="Text 4"/>
          <p:cNvSpPr/>
          <p:nvPr/>
        </p:nvSpPr>
        <p:spPr>
          <a:xfrm>
            <a:off x="457200" y="3383280"/>
            <a:ext cx="18288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選択アルゴリズム</a:t>
            </a:r>
            <a:endParaRPr lang="en-US" sz="1300" dirty="0"/>
          </a:p>
        </p:txBody>
      </p:sp>
      <p:sp>
        <p:nvSpPr>
          <p:cNvPr id="8" name="Shape 5"/>
          <p:cNvSpPr/>
          <p:nvPr/>
        </p:nvSpPr>
        <p:spPr>
          <a:xfrm>
            <a:off x="457200" y="370332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9" name="Text 6"/>
          <p:cNvSpPr/>
          <p:nvPr/>
        </p:nvSpPr>
        <p:spPr>
          <a:xfrm>
            <a:off x="457200" y="370332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全18特徴量</a:t>
            </a:r>
            <a:endParaRPr lang="en-US" sz="1000" dirty="0"/>
          </a:p>
        </p:txBody>
      </p:sp>
      <p:sp>
        <p:nvSpPr>
          <p:cNvPr id="10" name="Shape 7"/>
          <p:cNvSpPr/>
          <p:nvPr/>
        </p:nvSpPr>
        <p:spPr>
          <a:xfrm>
            <a:off x="2286000" y="4000500"/>
            <a:ext cx="320040" cy="0"/>
          </a:xfrm>
          <a:prstGeom prst="line">
            <a:avLst/>
          </a:prstGeom>
          <a:noFill/>
          <a:ln w="25400">
            <a:solidFill>
              <a:srgbClr val="3366AA"/>
            </a:solidFill>
            <a:prstDash val="solid"/>
          </a:ln>
        </p:spPr>
        <p:txBody>
          <a:bodyPr/>
          <a:lstStyle/>
          <a:p>
            <a:endParaRPr lang="ja-JP" altLang="en-US"/>
          </a:p>
        </p:txBody>
      </p:sp>
      <p:sp>
        <p:nvSpPr>
          <p:cNvPr id="12" name="Shape 9"/>
          <p:cNvSpPr/>
          <p:nvPr/>
        </p:nvSpPr>
        <p:spPr>
          <a:xfrm>
            <a:off x="2606040" y="370332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13" name="Text 10"/>
          <p:cNvSpPr/>
          <p:nvPr/>
        </p:nvSpPr>
        <p:spPr>
          <a:xfrm>
            <a:off x="2606040" y="370332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SHAP or PI</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でランキング</a:t>
            </a:r>
            <a:endParaRPr lang="en-US" sz="1000" dirty="0"/>
          </a:p>
        </p:txBody>
      </p:sp>
      <p:sp>
        <p:nvSpPr>
          <p:cNvPr id="14" name="Shape 11"/>
          <p:cNvSpPr/>
          <p:nvPr/>
        </p:nvSpPr>
        <p:spPr>
          <a:xfrm>
            <a:off x="4434840" y="4000500"/>
            <a:ext cx="320040" cy="0"/>
          </a:xfrm>
          <a:prstGeom prst="line">
            <a:avLst/>
          </a:prstGeom>
          <a:noFill/>
          <a:ln w="25400">
            <a:solidFill>
              <a:srgbClr val="3366AA"/>
            </a:solidFill>
            <a:prstDash val="solid"/>
          </a:ln>
        </p:spPr>
        <p:txBody>
          <a:bodyPr/>
          <a:lstStyle/>
          <a:p>
            <a:endParaRPr lang="ja-JP" altLang="en-US"/>
          </a:p>
        </p:txBody>
      </p:sp>
      <p:sp>
        <p:nvSpPr>
          <p:cNvPr id="16" name="Shape 13"/>
          <p:cNvSpPr/>
          <p:nvPr/>
        </p:nvSpPr>
        <p:spPr>
          <a:xfrm>
            <a:off x="4754880" y="3703320"/>
            <a:ext cx="1828800" cy="594360"/>
          </a:xfrm>
          <a:prstGeom prst="roundRect">
            <a:avLst>
              <a:gd name="adj" fmla="val 12308"/>
            </a:avLst>
          </a:prstGeom>
          <a:solidFill>
            <a:srgbClr val="E8F5E9"/>
          </a:solidFill>
          <a:ln w="19050">
            <a:solidFill>
              <a:srgbClr val="388E3C"/>
            </a:solidFill>
            <a:prstDash val="solid"/>
          </a:ln>
        </p:spPr>
        <p:txBody>
          <a:bodyPr/>
          <a:lstStyle/>
          <a:p>
            <a:endParaRPr lang="ja-JP" altLang="en-US"/>
          </a:p>
        </p:txBody>
      </p:sp>
      <p:sp>
        <p:nvSpPr>
          <p:cNvPr id="17" name="Text 14"/>
          <p:cNvSpPr/>
          <p:nvPr/>
        </p:nvSpPr>
        <p:spPr>
          <a:xfrm>
            <a:off x="4754880" y="370332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上位12特徴量</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選択</a:t>
            </a:r>
            <a:endParaRPr lang="en-US" sz="1000" dirty="0"/>
          </a:p>
        </p:txBody>
      </p:sp>
      <p:sp>
        <p:nvSpPr>
          <p:cNvPr id="18" name="Shape 15"/>
          <p:cNvSpPr/>
          <p:nvPr/>
        </p:nvSpPr>
        <p:spPr>
          <a:xfrm>
            <a:off x="6583680" y="4000500"/>
            <a:ext cx="320040" cy="0"/>
          </a:xfrm>
          <a:prstGeom prst="line">
            <a:avLst/>
          </a:prstGeom>
          <a:noFill/>
          <a:ln w="25400">
            <a:solidFill>
              <a:srgbClr val="3366AA"/>
            </a:solidFill>
            <a:prstDash val="solid"/>
          </a:ln>
        </p:spPr>
        <p:txBody>
          <a:bodyPr/>
          <a:lstStyle/>
          <a:p>
            <a:endParaRPr lang="ja-JP" altLang="en-US"/>
          </a:p>
        </p:txBody>
      </p:sp>
      <p:sp>
        <p:nvSpPr>
          <p:cNvPr id="20" name="Shape 17"/>
          <p:cNvSpPr/>
          <p:nvPr/>
        </p:nvSpPr>
        <p:spPr>
          <a:xfrm>
            <a:off x="6903720" y="3703320"/>
            <a:ext cx="1828800" cy="594360"/>
          </a:xfrm>
          <a:prstGeom prst="roundRect">
            <a:avLst>
              <a:gd name="adj" fmla="val 12308"/>
            </a:avLst>
          </a:prstGeom>
          <a:solidFill>
            <a:srgbClr val="F5F8FC"/>
          </a:solidFill>
          <a:ln w="19050">
            <a:solidFill>
              <a:srgbClr val="3366AA"/>
            </a:solidFill>
            <a:prstDash val="solid"/>
          </a:ln>
        </p:spPr>
        <p:txBody>
          <a:bodyPr/>
          <a:lstStyle/>
          <a:p>
            <a:endParaRPr lang="ja-JP" altLang="en-US"/>
          </a:p>
        </p:txBody>
      </p:sp>
      <p:sp>
        <p:nvSpPr>
          <p:cNvPr id="21" name="Text 18"/>
          <p:cNvSpPr/>
          <p:nvPr/>
        </p:nvSpPr>
        <p:spPr>
          <a:xfrm>
            <a:off x="6903720" y="3703320"/>
            <a:ext cx="1828800" cy="59436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モデル再訓練</a:t>
            </a:r>
            <a:endParaRPr lang="en-US" sz="1000" dirty="0"/>
          </a:p>
          <a:p>
            <a:pPr marL="0" indent="0" algn="ctr">
              <a:buNone/>
            </a:pPr>
            <a:r>
              <a:rPr lang="en-US" sz="1000" dirty="0">
                <a:solidFill>
                  <a:srgbClr val="1A1A1A"/>
                </a:solidFill>
                <a:latin typeface="Calibri" pitchFamily="34" charset="0"/>
                <a:ea typeface="Calibri" pitchFamily="34" charset="-122"/>
                <a:cs typeface="Calibri" pitchFamily="34" charset="-120"/>
              </a:rPr>
              <a:t>精度検証</a:t>
            </a:r>
            <a:endParaRPr lang="en-US" sz="10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[4] Guyon &amp; Elisseeff (2003) - 特徴量選択入門</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パターン検出と警告生成</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15/25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4種のパターン検出（最低2回以上の出現で登録）</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1783080"/>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パターン</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検出条件</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例</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高ストレス時</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stress ≥ 4 かつ regret ≥ 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疲れている時の食事選択</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高額購入時</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price &gt; 1000 かつ regret ≥ 3</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衝動買いの後悔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低期待値</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taste_exp ≤ 2 かつ regret ≥ 3</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妥協した選択での後悔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曜日別</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曜日×カテゴリで regret ≥ 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金曜夜の外食パターン</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3200400"/>
            <a:ext cx="8229600" cy="822960"/>
          </a:xfrm>
          <a:prstGeom prst="roundRect">
            <a:avLst>
              <a:gd name="adj" fmla="val 5556"/>
            </a:avLst>
          </a:prstGeom>
          <a:solidFill>
            <a:srgbClr val="FFF3E0"/>
          </a:solidFill>
          <a:ln w="12700">
            <a:solidFill>
              <a:srgbClr val="E68A00"/>
            </a:solidFill>
            <a:prstDash val="solid"/>
          </a:ln>
        </p:spPr>
        <p:txBody>
          <a:bodyPr/>
          <a:lstStyle/>
          <a:p>
            <a:endParaRPr lang="ja-JP" altLang="en-US"/>
          </a:p>
        </p:txBody>
      </p:sp>
      <p:sp>
        <p:nvSpPr>
          <p:cNvPr id="8" name="Text 5"/>
          <p:cNvSpPr/>
          <p:nvPr/>
        </p:nvSpPr>
        <p:spPr>
          <a:xfrm>
            <a:off x="640080" y="3246120"/>
            <a:ext cx="7863840" cy="731520"/>
          </a:xfrm>
          <a:prstGeom prst="rect">
            <a:avLst/>
          </a:prstGeom>
          <a:noFill/>
          <a:ln/>
        </p:spPr>
        <p:txBody>
          <a:bodyPr wrap="square" lIns="0" tIns="0" rIns="0" bIns="0" rtlCol="0" anchor="ctr"/>
          <a:lstStyle/>
          <a:p>
            <a:pPr marL="0" indent="0">
              <a:lnSpc>
                <a:spcPct val="140000"/>
              </a:lnSpc>
              <a:buNone/>
            </a:pPr>
            <a:r>
              <a:rPr lang="en-US" sz="1300" b="1" dirty="0">
                <a:solidFill>
                  <a:srgbClr val="1A1A1A"/>
                </a:solidFill>
                <a:latin typeface="Calibri" pitchFamily="34" charset="0"/>
                <a:ea typeface="Calibri" pitchFamily="34" charset="-122"/>
                <a:cs typeface="Calibri" pitchFamily="34" charset="-120"/>
              </a:rPr>
              <a:t>警告例: </a:t>
            </a:r>
            <a:r>
              <a:rPr lang="en-US" sz="1300" dirty="0">
                <a:solidFill>
                  <a:srgbClr val="1A1A1A"/>
                </a:solidFill>
                <a:latin typeface="Calibri" pitchFamily="34" charset="0"/>
                <a:ea typeface="Calibri" pitchFamily="34" charset="-122"/>
                <a:cs typeface="Calibri" pitchFamily="34" charset="-120"/>
              </a:rPr>
              <a:t>「あなたは疲れている時に食事で後悔しやすい傾向があります（過去3回）」</a:t>
            </a:r>
            <a:endParaRPr lang="en-US" sz="1300" dirty="0"/>
          </a:p>
          <a:p>
            <a:pPr marL="0" indent="0">
              <a:lnSpc>
                <a:spcPct val="140000"/>
              </a:lnSpc>
              <a:buNone/>
            </a:pPr>
            <a:r>
              <a:rPr lang="en-US" sz="1100" dirty="0">
                <a:solidFill>
                  <a:srgbClr val="888888"/>
                </a:solidFill>
                <a:latin typeface="Calibri" pitchFamily="34" charset="0"/>
                <a:ea typeface="Calibri" pitchFamily="34" charset="-122"/>
                <a:cs typeface="Calibri" pitchFamily="34" charset="-120"/>
              </a:rPr>
              <a:t>＋ 類似ケースを最大3件表示（日付・内容・スコア・理由）</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実装の詳細</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16/25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主要APIエンドポイント（Flask RESTful）</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029968"/>
        </p:xfrm>
        <a:graphic>
          <a:graphicData uri="http://schemas.openxmlformats.org/drawingml/2006/table">
            <a:tbl>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エンドポイント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メソッド</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機能</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レスポンス</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4747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/api/predict</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後悔リスク予測</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score, risk_level, warnings</a:t>
                      </a:r>
                      <a:endParaRPr lang="en-US" sz="10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/api/feedback</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フィードバック登録+再訓練</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updated_model_info</a:t>
                      </a:r>
                      <a:endParaRPr lang="en-US" sz="10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4747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/api/patterns</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後悔パターン一覧取得</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patterns[], similar_cases[]</a:t>
                      </a:r>
                      <a:endParaRPr lang="en-US" sz="10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/api/evaluate</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POST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モデル評価・比較実験</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metrics{}, comparison{}</a:t>
                      </a:r>
                      <a:endParaRPr lang="en-US" sz="10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34747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/api/features</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GET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特徴量重要度取得</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shap_values, rankings</a:t>
                      </a:r>
                      <a:endParaRPr lang="en-US" sz="10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3246120"/>
            <a:ext cx="18288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技術スタック</a:t>
            </a:r>
            <a:endParaRPr lang="en-US" sz="1300" dirty="0"/>
          </a:p>
        </p:txBody>
      </p:sp>
      <p:sp>
        <p:nvSpPr>
          <p:cNvPr id="8" name="Shape 5"/>
          <p:cNvSpPr/>
          <p:nvPr/>
        </p:nvSpPr>
        <p:spPr>
          <a:xfrm>
            <a:off x="457200" y="3566160"/>
            <a:ext cx="1463040" cy="914400"/>
          </a:xfrm>
          <a:prstGeom prst="roundRect">
            <a:avLst>
              <a:gd name="adj" fmla="val 8000"/>
            </a:avLst>
          </a:prstGeom>
          <a:solidFill>
            <a:srgbClr val="E8EEF6"/>
          </a:solidFill>
          <a:ln w="19050">
            <a:solidFill>
              <a:srgbClr val="3366AA"/>
            </a:solidFill>
            <a:prstDash val="solid"/>
          </a:ln>
        </p:spPr>
        <p:txBody>
          <a:bodyPr/>
          <a:lstStyle/>
          <a:p>
            <a:endParaRPr lang="ja-JP" altLang="en-US"/>
          </a:p>
        </p:txBody>
      </p:sp>
      <p:sp>
        <p:nvSpPr>
          <p:cNvPr id="9" name="Text 6"/>
          <p:cNvSpPr/>
          <p:nvPr/>
        </p:nvSpPr>
        <p:spPr>
          <a:xfrm>
            <a:off x="457200" y="3566160"/>
            <a:ext cx="1463040" cy="914400"/>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Flask</a:t>
            </a:r>
            <a:endParaRPr lang="en-US" sz="1100" dirty="0"/>
          </a:p>
          <a:p>
            <a:pPr marL="0" indent="0" algn="ctr">
              <a:buNone/>
            </a:pPr>
            <a:r>
              <a:rPr lang="en-US" sz="1100" b="1" dirty="0">
                <a:solidFill>
                  <a:srgbClr val="1A1A1A"/>
                </a:solidFill>
                <a:latin typeface="Calibri" pitchFamily="34" charset="0"/>
                <a:ea typeface="Calibri" pitchFamily="34" charset="-122"/>
                <a:cs typeface="Calibri" pitchFamily="34" charset="-120"/>
              </a:rPr>
              <a:t>(Backend)</a:t>
            </a:r>
            <a:endParaRPr lang="en-US" sz="1100" dirty="0"/>
          </a:p>
        </p:txBody>
      </p:sp>
      <p:sp>
        <p:nvSpPr>
          <p:cNvPr id="10" name="Shape 7"/>
          <p:cNvSpPr/>
          <p:nvPr/>
        </p:nvSpPr>
        <p:spPr>
          <a:xfrm>
            <a:off x="1920240" y="4023360"/>
            <a:ext cx="228600" cy="0"/>
          </a:xfrm>
          <a:prstGeom prst="line">
            <a:avLst/>
          </a:prstGeom>
          <a:noFill/>
          <a:ln w="25400">
            <a:solidFill>
              <a:srgbClr val="3366AA"/>
            </a:solidFill>
            <a:prstDash val="solid"/>
          </a:ln>
        </p:spPr>
        <p:txBody>
          <a:bodyPr/>
          <a:lstStyle/>
          <a:p>
            <a:endParaRPr lang="ja-JP" altLang="en-US"/>
          </a:p>
        </p:txBody>
      </p:sp>
      <p:sp>
        <p:nvSpPr>
          <p:cNvPr id="12" name="Shape 9"/>
          <p:cNvSpPr/>
          <p:nvPr/>
        </p:nvSpPr>
        <p:spPr>
          <a:xfrm>
            <a:off x="2148840" y="3566160"/>
            <a:ext cx="1463040" cy="914400"/>
          </a:xfrm>
          <a:prstGeom prst="roundRect">
            <a:avLst>
              <a:gd name="adj" fmla="val 8000"/>
            </a:avLst>
          </a:prstGeom>
          <a:solidFill>
            <a:srgbClr val="E8F5E9"/>
          </a:solidFill>
          <a:ln w="19050">
            <a:solidFill>
              <a:srgbClr val="3366AA"/>
            </a:solidFill>
            <a:prstDash val="solid"/>
          </a:ln>
        </p:spPr>
        <p:txBody>
          <a:bodyPr/>
          <a:lstStyle/>
          <a:p>
            <a:endParaRPr lang="ja-JP" altLang="en-US"/>
          </a:p>
        </p:txBody>
      </p:sp>
      <p:sp>
        <p:nvSpPr>
          <p:cNvPr id="13" name="Text 10"/>
          <p:cNvSpPr/>
          <p:nvPr/>
        </p:nvSpPr>
        <p:spPr>
          <a:xfrm>
            <a:off x="2148840" y="3566160"/>
            <a:ext cx="1463040" cy="914400"/>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PostgreSQL</a:t>
            </a:r>
            <a:endParaRPr lang="en-US" sz="1100" dirty="0"/>
          </a:p>
          <a:p>
            <a:pPr marL="0" indent="0" algn="ctr">
              <a:buNone/>
            </a:pPr>
            <a:r>
              <a:rPr lang="en-US" sz="1100" b="1" dirty="0">
                <a:solidFill>
                  <a:srgbClr val="1A1A1A"/>
                </a:solidFill>
                <a:latin typeface="Calibri" pitchFamily="34" charset="0"/>
                <a:ea typeface="Calibri" pitchFamily="34" charset="-122"/>
                <a:cs typeface="Calibri" pitchFamily="34" charset="-120"/>
              </a:rPr>
              <a:t>(JSONB)</a:t>
            </a:r>
            <a:endParaRPr lang="en-US" sz="1100" dirty="0"/>
          </a:p>
        </p:txBody>
      </p:sp>
      <p:sp>
        <p:nvSpPr>
          <p:cNvPr id="14" name="Shape 11"/>
          <p:cNvSpPr/>
          <p:nvPr/>
        </p:nvSpPr>
        <p:spPr>
          <a:xfrm>
            <a:off x="3611880" y="4023360"/>
            <a:ext cx="228600" cy="0"/>
          </a:xfrm>
          <a:prstGeom prst="line">
            <a:avLst/>
          </a:prstGeom>
          <a:noFill/>
          <a:ln w="25400">
            <a:solidFill>
              <a:srgbClr val="3366AA"/>
            </a:solidFill>
            <a:prstDash val="solid"/>
          </a:ln>
        </p:spPr>
        <p:txBody>
          <a:bodyPr/>
          <a:lstStyle/>
          <a:p>
            <a:endParaRPr lang="ja-JP" altLang="en-US"/>
          </a:p>
        </p:txBody>
      </p:sp>
      <p:sp>
        <p:nvSpPr>
          <p:cNvPr id="16" name="Shape 13"/>
          <p:cNvSpPr/>
          <p:nvPr/>
        </p:nvSpPr>
        <p:spPr>
          <a:xfrm>
            <a:off x="3840480" y="3566160"/>
            <a:ext cx="1463040" cy="914400"/>
          </a:xfrm>
          <a:prstGeom prst="roundRect">
            <a:avLst>
              <a:gd name="adj" fmla="val 8000"/>
            </a:avLst>
          </a:prstGeom>
          <a:solidFill>
            <a:srgbClr val="D6E4F0"/>
          </a:solidFill>
          <a:ln w="19050">
            <a:solidFill>
              <a:srgbClr val="3366AA"/>
            </a:solidFill>
            <a:prstDash val="solid"/>
          </a:ln>
        </p:spPr>
        <p:txBody>
          <a:bodyPr/>
          <a:lstStyle/>
          <a:p>
            <a:endParaRPr lang="ja-JP" altLang="en-US"/>
          </a:p>
        </p:txBody>
      </p:sp>
      <p:sp>
        <p:nvSpPr>
          <p:cNvPr id="6" name="Text 14"/>
          <p:cNvSpPr/>
          <p:nvPr/>
        </p:nvSpPr>
        <p:spPr>
          <a:xfrm>
            <a:off x="3840480" y="3566160"/>
            <a:ext cx="1463040" cy="914400"/>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scikit-learn</a:t>
            </a:r>
            <a:endParaRPr lang="en-US" sz="1100" dirty="0"/>
          </a:p>
          <a:p>
            <a:pPr marL="0" indent="0" algn="ctr">
              <a:buNone/>
            </a:pPr>
            <a:r>
              <a:rPr lang="en-US" sz="1100" b="1" dirty="0">
                <a:solidFill>
                  <a:srgbClr val="1A1A1A"/>
                </a:solidFill>
                <a:latin typeface="Calibri" pitchFamily="34" charset="0"/>
                <a:ea typeface="Calibri" pitchFamily="34" charset="-122"/>
                <a:cs typeface="Calibri" pitchFamily="34" charset="-120"/>
              </a:rPr>
              <a:t>(RF/RFE)</a:t>
            </a:r>
            <a:endParaRPr lang="en-US" sz="1100" dirty="0"/>
          </a:p>
        </p:txBody>
      </p:sp>
      <p:sp>
        <p:nvSpPr>
          <p:cNvPr id="18" name="Shape 15"/>
          <p:cNvSpPr/>
          <p:nvPr/>
        </p:nvSpPr>
        <p:spPr>
          <a:xfrm>
            <a:off x="5303520" y="4023360"/>
            <a:ext cx="228600" cy="0"/>
          </a:xfrm>
          <a:prstGeom prst="line">
            <a:avLst/>
          </a:prstGeom>
          <a:noFill/>
          <a:ln w="25400">
            <a:solidFill>
              <a:srgbClr val="3366AA"/>
            </a:solidFill>
            <a:prstDash val="solid"/>
          </a:ln>
        </p:spPr>
        <p:txBody>
          <a:bodyPr/>
          <a:lstStyle/>
          <a:p>
            <a:endParaRPr lang="ja-JP" altLang="en-US"/>
          </a:p>
        </p:txBody>
      </p:sp>
      <p:sp>
        <p:nvSpPr>
          <p:cNvPr id="20" name="Shape 17"/>
          <p:cNvSpPr/>
          <p:nvPr/>
        </p:nvSpPr>
        <p:spPr>
          <a:xfrm>
            <a:off x="5532120" y="3566160"/>
            <a:ext cx="1463040" cy="914400"/>
          </a:xfrm>
          <a:prstGeom prst="roundRect">
            <a:avLst>
              <a:gd name="adj" fmla="val 8000"/>
            </a:avLst>
          </a:prstGeom>
          <a:solidFill>
            <a:srgbClr val="FFF3E0"/>
          </a:solidFill>
          <a:ln w="19050">
            <a:solidFill>
              <a:srgbClr val="3366AA"/>
            </a:solidFill>
            <a:prstDash val="solid"/>
          </a:ln>
        </p:spPr>
        <p:txBody>
          <a:bodyPr/>
          <a:lstStyle/>
          <a:p>
            <a:endParaRPr lang="ja-JP" altLang="en-US"/>
          </a:p>
        </p:txBody>
      </p:sp>
      <p:sp>
        <p:nvSpPr>
          <p:cNvPr id="21" name="Text 18"/>
          <p:cNvSpPr/>
          <p:nvPr/>
        </p:nvSpPr>
        <p:spPr>
          <a:xfrm>
            <a:off x="5532120" y="3566160"/>
            <a:ext cx="1463040" cy="914400"/>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XGBoost</a:t>
            </a:r>
            <a:endParaRPr lang="en-US" sz="1100" dirty="0"/>
          </a:p>
          <a:p>
            <a:pPr marL="0" indent="0" algn="ctr">
              <a:buNone/>
            </a:pPr>
            <a:r>
              <a:rPr lang="en-US" sz="1100" b="1" dirty="0">
                <a:solidFill>
                  <a:srgbClr val="1A1A1A"/>
                </a:solidFill>
                <a:latin typeface="Calibri" pitchFamily="34" charset="0"/>
                <a:ea typeface="Calibri" pitchFamily="34" charset="-122"/>
                <a:cs typeface="Calibri" pitchFamily="34" charset="-120"/>
              </a:rPr>
              <a:t>(比較用)</a:t>
            </a:r>
            <a:endParaRPr lang="en-US" sz="1100" dirty="0"/>
          </a:p>
        </p:txBody>
      </p:sp>
      <p:sp>
        <p:nvSpPr>
          <p:cNvPr id="22" name="Shape 19"/>
          <p:cNvSpPr/>
          <p:nvPr/>
        </p:nvSpPr>
        <p:spPr>
          <a:xfrm>
            <a:off x="6995160" y="4023360"/>
            <a:ext cx="228600" cy="0"/>
          </a:xfrm>
          <a:prstGeom prst="line">
            <a:avLst/>
          </a:prstGeom>
          <a:noFill/>
          <a:ln w="25400">
            <a:solidFill>
              <a:srgbClr val="3366AA"/>
            </a:solidFill>
            <a:prstDash val="solid"/>
          </a:ln>
        </p:spPr>
        <p:txBody>
          <a:bodyPr/>
          <a:lstStyle/>
          <a:p>
            <a:endParaRPr lang="ja-JP" altLang="en-US"/>
          </a:p>
        </p:txBody>
      </p:sp>
      <p:sp>
        <p:nvSpPr>
          <p:cNvPr id="24" name="Shape 21"/>
          <p:cNvSpPr/>
          <p:nvPr/>
        </p:nvSpPr>
        <p:spPr>
          <a:xfrm>
            <a:off x="7223760" y="3566160"/>
            <a:ext cx="1463040" cy="914400"/>
          </a:xfrm>
          <a:prstGeom prst="roundRect">
            <a:avLst>
              <a:gd name="adj" fmla="val 8000"/>
            </a:avLst>
          </a:prstGeom>
          <a:solidFill>
            <a:srgbClr val="F3E5F5"/>
          </a:solidFill>
          <a:ln w="19050">
            <a:solidFill>
              <a:srgbClr val="3366AA"/>
            </a:solidFill>
            <a:prstDash val="solid"/>
          </a:ln>
        </p:spPr>
        <p:txBody>
          <a:bodyPr/>
          <a:lstStyle/>
          <a:p>
            <a:endParaRPr lang="ja-JP" altLang="en-US"/>
          </a:p>
        </p:txBody>
      </p:sp>
      <p:sp>
        <p:nvSpPr>
          <p:cNvPr id="25" name="Text 22"/>
          <p:cNvSpPr/>
          <p:nvPr/>
        </p:nvSpPr>
        <p:spPr>
          <a:xfrm>
            <a:off x="7223760" y="3566160"/>
            <a:ext cx="1463040" cy="914400"/>
          </a:xfrm>
          <a:prstGeom prst="rect">
            <a:avLst/>
          </a:prstGeom>
          <a:noFill/>
          <a:ln/>
        </p:spPr>
        <p:txBody>
          <a:bodyPr wrap="square" lIns="0" tIns="0" rIns="0" bIns="0"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SHAP</a:t>
            </a:r>
            <a:endParaRPr lang="en-US" sz="1100" dirty="0"/>
          </a:p>
          <a:p>
            <a:pPr marL="0" indent="0" algn="ctr">
              <a:buNone/>
            </a:pPr>
            <a:r>
              <a:rPr lang="en-US" sz="1100" b="1" dirty="0">
                <a:solidFill>
                  <a:srgbClr val="1A1A1A"/>
                </a:solidFill>
                <a:latin typeface="Calibri" pitchFamily="34" charset="0"/>
                <a:ea typeface="Calibri" pitchFamily="34" charset="-122"/>
                <a:cs typeface="Calibri" pitchFamily="34" charset="-120"/>
              </a:rPr>
              <a:t>(説明性)</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評価フレームワーク ① 交差検証</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000" dirty="0">
                <a:solidFill>
                  <a:srgbClr val="888888"/>
                </a:solidFill>
                <a:latin typeface="Calibri" pitchFamily="34" charset="0"/>
                <a:ea typeface="Calibri" pitchFamily="34" charset="-122"/>
                <a:cs typeface="Calibri" pitchFamily="34" charset="-120"/>
              </a:rPr>
              <a:t>17/25</a:t>
            </a:r>
            <a:endParaRPr lang="en-US" sz="1000" dirty="0"/>
          </a:p>
        </p:txBody>
      </p:sp>
      <p:sp>
        <p:nvSpPr>
          <p:cNvPr id="5" name="Text 3"/>
          <p:cNvSpPr/>
          <p:nvPr/>
        </p:nvSpPr>
        <p:spPr>
          <a:xfrm>
            <a:off x="457200" y="822960"/>
            <a:ext cx="8229600" cy="365760"/>
          </a:xfrm>
          <a:prstGeom prst="rect">
            <a:avLst/>
          </a:prstGeom>
          <a:noFill/>
          <a:ln/>
        </p:spPr>
        <p:txBody>
          <a:bodyPr wrap="square" lIns="0" tIns="0" rIns="0" bIns="0"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時系列交差検証（TimeSeriesSplit）</a:t>
            </a:r>
            <a:endParaRPr lang="en-US" sz="1700" dirty="0"/>
          </a:p>
        </p:txBody>
      </p:sp>
      <p:sp>
        <p:nvSpPr>
          <p:cNvPr id="6" name="Text 4"/>
          <p:cNvSpPr/>
          <p:nvPr/>
        </p:nvSpPr>
        <p:spPr>
          <a:xfrm>
            <a:off x="457200" y="123444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n_splits = 5（データ量に応じて動的調整）</a:t>
            </a:r>
            <a:endParaRPr lang="en-US" sz="1300" dirty="0"/>
          </a:p>
        </p:txBody>
      </p:sp>
      <p:sp>
        <p:nvSpPr>
          <p:cNvPr id="7" name="Text 5"/>
          <p:cNvSpPr/>
          <p:nvPr/>
        </p:nvSpPr>
        <p:spPr>
          <a:xfrm>
            <a:off x="457200" y="1645920"/>
            <a:ext cx="73152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Fold 1</a:t>
            </a:r>
            <a:endParaRPr lang="en-US" sz="900" dirty="0"/>
          </a:p>
        </p:txBody>
      </p:sp>
      <p:sp>
        <p:nvSpPr>
          <p:cNvPr id="8" name="Shape 6"/>
          <p:cNvSpPr/>
          <p:nvPr/>
        </p:nvSpPr>
        <p:spPr>
          <a:xfrm>
            <a:off x="1280160" y="1645920"/>
            <a:ext cx="1188720" cy="256032"/>
          </a:xfrm>
          <a:prstGeom prst="rect">
            <a:avLst/>
          </a:prstGeom>
          <a:solidFill>
            <a:srgbClr val="3366AA"/>
          </a:solidFill>
          <a:ln/>
        </p:spPr>
        <p:txBody>
          <a:bodyPr/>
          <a:lstStyle/>
          <a:p>
            <a:endParaRPr lang="ja-JP" altLang="en-US"/>
          </a:p>
        </p:txBody>
      </p:sp>
      <p:sp>
        <p:nvSpPr>
          <p:cNvPr id="9" name="Shape 7"/>
          <p:cNvSpPr/>
          <p:nvPr/>
        </p:nvSpPr>
        <p:spPr>
          <a:xfrm>
            <a:off x="2514600" y="1645920"/>
            <a:ext cx="1188720" cy="256032"/>
          </a:xfrm>
          <a:prstGeom prst="rect">
            <a:avLst/>
          </a:prstGeom>
          <a:solidFill>
            <a:srgbClr val="E57373"/>
          </a:solidFill>
          <a:ln/>
        </p:spPr>
        <p:txBody>
          <a:bodyPr/>
          <a:lstStyle/>
          <a:p>
            <a:endParaRPr lang="ja-JP" altLang="en-US"/>
          </a:p>
        </p:txBody>
      </p:sp>
      <p:sp>
        <p:nvSpPr>
          <p:cNvPr id="10" name="Text 8"/>
          <p:cNvSpPr/>
          <p:nvPr/>
        </p:nvSpPr>
        <p:spPr>
          <a:xfrm>
            <a:off x="457200" y="1956816"/>
            <a:ext cx="73152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Fold 2</a:t>
            </a:r>
            <a:endParaRPr lang="en-US" sz="900" dirty="0"/>
          </a:p>
        </p:txBody>
      </p:sp>
      <p:sp>
        <p:nvSpPr>
          <p:cNvPr id="11" name="Shape 9"/>
          <p:cNvSpPr/>
          <p:nvPr/>
        </p:nvSpPr>
        <p:spPr>
          <a:xfrm>
            <a:off x="1280160" y="1956816"/>
            <a:ext cx="2377440" cy="256032"/>
          </a:xfrm>
          <a:prstGeom prst="rect">
            <a:avLst/>
          </a:prstGeom>
          <a:solidFill>
            <a:srgbClr val="3366AA"/>
          </a:solidFill>
          <a:ln/>
        </p:spPr>
        <p:txBody>
          <a:bodyPr/>
          <a:lstStyle/>
          <a:p>
            <a:endParaRPr lang="ja-JP" altLang="en-US"/>
          </a:p>
        </p:txBody>
      </p:sp>
      <p:sp>
        <p:nvSpPr>
          <p:cNvPr id="12" name="Shape 10"/>
          <p:cNvSpPr/>
          <p:nvPr/>
        </p:nvSpPr>
        <p:spPr>
          <a:xfrm>
            <a:off x="3703320" y="1956816"/>
            <a:ext cx="1188720" cy="256032"/>
          </a:xfrm>
          <a:prstGeom prst="rect">
            <a:avLst/>
          </a:prstGeom>
          <a:solidFill>
            <a:srgbClr val="E57373"/>
          </a:solidFill>
          <a:ln/>
        </p:spPr>
        <p:txBody>
          <a:bodyPr/>
          <a:lstStyle/>
          <a:p>
            <a:endParaRPr lang="ja-JP" altLang="en-US"/>
          </a:p>
        </p:txBody>
      </p:sp>
      <p:sp>
        <p:nvSpPr>
          <p:cNvPr id="13" name="Text 11"/>
          <p:cNvSpPr/>
          <p:nvPr/>
        </p:nvSpPr>
        <p:spPr>
          <a:xfrm>
            <a:off x="457200" y="2267712"/>
            <a:ext cx="73152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Fold 3</a:t>
            </a:r>
            <a:endParaRPr lang="en-US" sz="900" dirty="0"/>
          </a:p>
        </p:txBody>
      </p:sp>
      <p:sp>
        <p:nvSpPr>
          <p:cNvPr id="14" name="Shape 12"/>
          <p:cNvSpPr/>
          <p:nvPr/>
        </p:nvSpPr>
        <p:spPr>
          <a:xfrm>
            <a:off x="1280160" y="2267712"/>
            <a:ext cx="3566160" cy="256032"/>
          </a:xfrm>
          <a:prstGeom prst="rect">
            <a:avLst/>
          </a:prstGeom>
          <a:solidFill>
            <a:srgbClr val="3366AA"/>
          </a:solidFill>
          <a:ln/>
        </p:spPr>
        <p:txBody>
          <a:bodyPr/>
          <a:lstStyle/>
          <a:p>
            <a:endParaRPr lang="ja-JP" altLang="en-US"/>
          </a:p>
        </p:txBody>
      </p:sp>
      <p:sp>
        <p:nvSpPr>
          <p:cNvPr id="15" name="Shape 13"/>
          <p:cNvSpPr/>
          <p:nvPr/>
        </p:nvSpPr>
        <p:spPr>
          <a:xfrm>
            <a:off x="4892040" y="2267712"/>
            <a:ext cx="1188720" cy="256032"/>
          </a:xfrm>
          <a:prstGeom prst="rect">
            <a:avLst/>
          </a:prstGeom>
          <a:solidFill>
            <a:srgbClr val="E57373"/>
          </a:solidFill>
          <a:ln/>
        </p:spPr>
        <p:txBody>
          <a:bodyPr/>
          <a:lstStyle/>
          <a:p>
            <a:endParaRPr lang="ja-JP" altLang="en-US"/>
          </a:p>
        </p:txBody>
      </p:sp>
      <p:sp>
        <p:nvSpPr>
          <p:cNvPr id="16" name="Text 14"/>
          <p:cNvSpPr/>
          <p:nvPr/>
        </p:nvSpPr>
        <p:spPr>
          <a:xfrm>
            <a:off x="457200" y="2578608"/>
            <a:ext cx="73152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Fold 4</a:t>
            </a:r>
            <a:endParaRPr lang="en-US" sz="900" dirty="0"/>
          </a:p>
        </p:txBody>
      </p:sp>
      <p:sp>
        <p:nvSpPr>
          <p:cNvPr id="17" name="Shape 15"/>
          <p:cNvSpPr/>
          <p:nvPr/>
        </p:nvSpPr>
        <p:spPr>
          <a:xfrm>
            <a:off x="1280160" y="2578608"/>
            <a:ext cx="4754880" cy="256032"/>
          </a:xfrm>
          <a:prstGeom prst="rect">
            <a:avLst/>
          </a:prstGeom>
          <a:solidFill>
            <a:srgbClr val="3366AA"/>
          </a:solidFill>
          <a:ln/>
        </p:spPr>
        <p:txBody>
          <a:bodyPr/>
          <a:lstStyle/>
          <a:p>
            <a:endParaRPr lang="ja-JP" altLang="en-US"/>
          </a:p>
        </p:txBody>
      </p:sp>
      <p:sp>
        <p:nvSpPr>
          <p:cNvPr id="18" name="Shape 16"/>
          <p:cNvSpPr/>
          <p:nvPr/>
        </p:nvSpPr>
        <p:spPr>
          <a:xfrm>
            <a:off x="6080760" y="2578608"/>
            <a:ext cx="1188720" cy="256032"/>
          </a:xfrm>
          <a:prstGeom prst="rect">
            <a:avLst/>
          </a:prstGeom>
          <a:solidFill>
            <a:srgbClr val="E57373"/>
          </a:solidFill>
          <a:ln/>
        </p:spPr>
        <p:txBody>
          <a:bodyPr/>
          <a:lstStyle/>
          <a:p>
            <a:endParaRPr lang="ja-JP" altLang="en-US"/>
          </a:p>
        </p:txBody>
      </p:sp>
      <p:sp>
        <p:nvSpPr>
          <p:cNvPr id="19" name="Text 17"/>
          <p:cNvSpPr/>
          <p:nvPr/>
        </p:nvSpPr>
        <p:spPr>
          <a:xfrm>
            <a:off x="457200" y="2889504"/>
            <a:ext cx="731520" cy="256032"/>
          </a:xfrm>
          <a:prstGeom prst="rect">
            <a:avLst/>
          </a:prstGeom>
          <a:noFill/>
          <a:ln/>
        </p:spPr>
        <p:txBody>
          <a:bodyPr wrap="square" lIns="0" tIns="0" rIns="0" bIns="0" rtlCol="0" anchor="ctr"/>
          <a:lstStyle/>
          <a:p>
            <a:pPr marL="0" indent="0">
              <a:buNone/>
            </a:pPr>
            <a:r>
              <a:rPr lang="en-US" sz="900" dirty="0">
                <a:solidFill>
                  <a:srgbClr val="888888"/>
                </a:solidFill>
                <a:latin typeface="Calibri" pitchFamily="34" charset="0"/>
                <a:ea typeface="Calibri" pitchFamily="34" charset="-122"/>
                <a:cs typeface="Calibri" pitchFamily="34" charset="-120"/>
              </a:rPr>
              <a:t>Fold 5</a:t>
            </a:r>
            <a:endParaRPr lang="en-US" sz="900" dirty="0"/>
          </a:p>
        </p:txBody>
      </p:sp>
      <p:sp>
        <p:nvSpPr>
          <p:cNvPr id="20" name="Shape 18"/>
          <p:cNvSpPr/>
          <p:nvPr/>
        </p:nvSpPr>
        <p:spPr>
          <a:xfrm>
            <a:off x="1280160" y="2889504"/>
            <a:ext cx="5943600" cy="256032"/>
          </a:xfrm>
          <a:prstGeom prst="rect">
            <a:avLst/>
          </a:prstGeom>
          <a:solidFill>
            <a:srgbClr val="3366AA"/>
          </a:solidFill>
          <a:ln/>
        </p:spPr>
        <p:txBody>
          <a:bodyPr/>
          <a:lstStyle/>
          <a:p>
            <a:endParaRPr lang="ja-JP" altLang="en-US"/>
          </a:p>
        </p:txBody>
      </p:sp>
      <p:sp>
        <p:nvSpPr>
          <p:cNvPr id="21" name="Shape 19"/>
          <p:cNvSpPr/>
          <p:nvPr/>
        </p:nvSpPr>
        <p:spPr>
          <a:xfrm>
            <a:off x="7269480" y="2889504"/>
            <a:ext cx="1188720" cy="256032"/>
          </a:xfrm>
          <a:prstGeom prst="rect">
            <a:avLst/>
          </a:prstGeom>
          <a:solidFill>
            <a:srgbClr val="E57373"/>
          </a:solidFill>
          <a:ln/>
        </p:spPr>
        <p:txBody>
          <a:bodyPr/>
          <a:lstStyle/>
          <a:p>
            <a:endParaRPr lang="ja-JP" altLang="en-US"/>
          </a:p>
        </p:txBody>
      </p:sp>
      <p:sp>
        <p:nvSpPr>
          <p:cNvPr id="22" name="Shape 20"/>
          <p:cNvSpPr/>
          <p:nvPr/>
        </p:nvSpPr>
        <p:spPr>
          <a:xfrm>
            <a:off x="7315200" y="1645920"/>
            <a:ext cx="274320" cy="182880"/>
          </a:xfrm>
          <a:prstGeom prst="rect">
            <a:avLst/>
          </a:prstGeom>
          <a:solidFill>
            <a:srgbClr val="3366AA"/>
          </a:solidFill>
          <a:ln/>
        </p:spPr>
        <p:txBody>
          <a:bodyPr/>
          <a:lstStyle/>
          <a:p>
            <a:endParaRPr lang="ja-JP" altLang="en-US"/>
          </a:p>
        </p:txBody>
      </p:sp>
      <p:sp>
        <p:nvSpPr>
          <p:cNvPr id="23" name="Text 21"/>
          <p:cNvSpPr/>
          <p:nvPr/>
        </p:nvSpPr>
        <p:spPr>
          <a:xfrm>
            <a:off x="7635240" y="1618488"/>
            <a:ext cx="5486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Train</a:t>
            </a:r>
            <a:endParaRPr lang="en-US" sz="1000" dirty="0"/>
          </a:p>
        </p:txBody>
      </p:sp>
      <p:sp>
        <p:nvSpPr>
          <p:cNvPr id="24" name="Shape 22"/>
          <p:cNvSpPr/>
          <p:nvPr/>
        </p:nvSpPr>
        <p:spPr>
          <a:xfrm>
            <a:off x="7315200" y="1920240"/>
            <a:ext cx="274320" cy="182880"/>
          </a:xfrm>
          <a:prstGeom prst="rect">
            <a:avLst/>
          </a:prstGeom>
          <a:solidFill>
            <a:srgbClr val="E57373"/>
          </a:solidFill>
          <a:ln/>
        </p:spPr>
        <p:txBody>
          <a:bodyPr/>
          <a:lstStyle/>
          <a:p>
            <a:endParaRPr lang="ja-JP" altLang="en-US"/>
          </a:p>
        </p:txBody>
      </p:sp>
      <p:sp>
        <p:nvSpPr>
          <p:cNvPr id="25" name="Text 23"/>
          <p:cNvSpPr/>
          <p:nvPr/>
        </p:nvSpPr>
        <p:spPr>
          <a:xfrm>
            <a:off x="7635240" y="1892808"/>
            <a:ext cx="5486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Test</a:t>
            </a:r>
            <a:endParaRPr lang="en-US" sz="1000" dirty="0"/>
          </a:p>
        </p:txBody>
      </p:sp>
      <p:sp>
        <p:nvSpPr>
          <p:cNvPr id="26" name="Text 24"/>
          <p:cNvSpPr/>
          <p:nvPr/>
        </p:nvSpPr>
        <p:spPr>
          <a:xfrm>
            <a:off x="457200" y="3337560"/>
            <a:ext cx="1828800" cy="22860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比較モデル</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3405968443"/>
              </p:ext>
            </p:extLst>
          </p:nvPr>
        </p:nvGraphicFramePr>
        <p:xfrm>
          <a:off x="457200" y="3566160"/>
          <a:ext cx="8229600" cy="111760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2286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モデル</a:t>
                      </a:r>
                      <a:endParaRPr lang="en-US" sz="1200" dirty="0">
                        <a:latin typeface="Calibri" charset="0"/>
                        <a:ea typeface="Calibri" charset="0"/>
                        <a:cs typeface="Calibri" charset="0"/>
                      </a:endParaRP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パラメータ</a:t>
                      </a:r>
                      <a:endParaRPr lang="en-US" sz="1200" dirty="0">
                        <a:latin typeface="Calibri" charset="0"/>
                        <a:ea typeface="Calibri" charset="0"/>
                        <a:cs typeface="Calibri" charset="0"/>
                      </a:endParaRP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297180">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提案手法 (RF+SHAP)</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n_estimators=50, max_depth=10</a:t>
                      </a:r>
                    </a:p>
                    <a:p>
                      <a:pPr marL="0" indent="0" algn="l">
                        <a:buNone/>
                      </a:pPr>
                      <a:r>
                        <a:rPr lang="en-US" sz="1000" dirty="0">
                          <a:solidFill>
                            <a:srgbClr val="1A1A1A"/>
                          </a:solidFill>
                          <a:latin typeface="Calibri" pitchFamily="34" charset="0"/>
                          <a:ea typeface="Calibri" pitchFamily="34" charset="-122"/>
                          <a:cs typeface="Calibri" pitchFamily="34" charset="-120"/>
                        </a:rPr>
                        <a:t>+ SHAPによる特徴量選択 (18→12次元)</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extLst>
                  <a:ext uri="{0D108BD9-81ED-4DB2-BD59-A6C34878D82A}">
                    <a16:rowId xmlns:a16="http://schemas.microsoft.com/office/drawing/2014/main" val="10001"/>
                  </a:ext>
                </a:extLst>
              </a:tr>
              <a:tr h="297180">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Random Forest</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n_estimators=50, max_depth=10</a:t>
                      </a:r>
                    </a:p>
                    <a:p>
                      <a:pPr marL="0" indent="0" algn="l">
                        <a:buNone/>
                      </a:pPr>
                      <a:r>
                        <a:rPr lang="en-US" sz="1000" dirty="0">
                          <a:solidFill>
                            <a:srgbClr val="1A1A1A"/>
                          </a:solidFill>
                          <a:latin typeface="Calibri" pitchFamily="34" charset="0"/>
                          <a:ea typeface="Calibri" pitchFamily="34" charset="-122"/>
                          <a:cs typeface="Calibri" pitchFamily="34" charset="-120"/>
                        </a:rPr>
                        <a:t>全18特徴量使用</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600">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ルールベース</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重み付き加算スコアリング (ベース: 0.3)</a:t>
                      </a:r>
                    </a:p>
                  </a:txBody>
                  <a:tcPr marL="50800" marR="508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評価フレームワーク ② 評価指標</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18/25</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057400"/>
        </p:xfrm>
        <a:graphic>
          <a:graphicData uri="http://schemas.openxmlformats.org/drawingml/2006/table">
            <a:tbl>
              <a:tblPr/>
              <a:tblGrid>
                <a:gridCol w="1371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種別</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指標</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説明</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回帰</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平均絶対誤差</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二乗平均平方根誤差</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47472">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決定係数</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分類</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Accuracy / Precision</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3クラス: 高(≥0.7) / 中(≥0.4) / 低(&lt;0.4)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347472">
                <a:tc>
                  <a:txBody>
                    <a:bodyPr/>
                    <a:lstStyle/>
                    <a:p>
                      <a:pPr marL="0" indent="0" algn="l">
                        <a:buNone/>
                      </a:pP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Recall / F1</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macro平均で算出</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457200" y="3063240"/>
            <a:ext cx="8229600" cy="1005840"/>
          </a:xfrm>
          <a:prstGeom prst="roundRect">
            <a:avLst>
              <a:gd name="adj" fmla="val 4545"/>
            </a:avLst>
          </a:prstGeom>
          <a:solidFill>
            <a:srgbClr val="E8EEF6"/>
          </a:solidFill>
          <a:ln w="19050">
            <a:solidFill>
              <a:srgbClr val="3366AA"/>
            </a:solidFill>
            <a:prstDash val="solid"/>
          </a:ln>
        </p:spPr>
        <p:txBody>
          <a:bodyPr/>
          <a:lstStyle/>
          <a:p>
            <a:endParaRPr lang="ja-JP" altLang="en-US"/>
          </a:p>
        </p:txBody>
      </p:sp>
      <p:sp>
        <p:nvSpPr>
          <p:cNvPr id="7" name="Text 4"/>
          <p:cNvSpPr/>
          <p:nvPr/>
        </p:nvSpPr>
        <p:spPr>
          <a:xfrm>
            <a:off x="640080" y="3108960"/>
            <a:ext cx="7863840" cy="914400"/>
          </a:xfrm>
          <a:prstGeom prst="rect">
            <a:avLst/>
          </a:prstGeom>
          <a:noFill/>
          <a:ln/>
        </p:spPr>
        <p:txBody>
          <a:bodyPr wrap="square" lIns="0" tIns="0" rIns="0" bIns="0" rtlCol="0" anchor="ctr"/>
          <a:lstStyle/>
          <a:p>
            <a:pPr marL="0" indent="0">
              <a:lnSpc>
                <a:spcPct val="150000"/>
              </a:lnSpc>
              <a:buNone/>
            </a:pPr>
            <a:r>
              <a:rPr lang="en-US" sz="1500" b="1" dirty="0">
                <a:solidFill>
                  <a:srgbClr val="1A1A1A"/>
                </a:solidFill>
                <a:latin typeface="Calibri" pitchFamily="34" charset="0"/>
                <a:ea typeface="Calibri" pitchFamily="34" charset="-122"/>
                <a:cs typeface="Calibri" pitchFamily="34" charset="-120"/>
              </a:rPr>
              <a:t>Regret Reduction Rate (RRR)</a:t>
            </a:r>
            <a:endParaRPr lang="en-US" sz="1500" dirty="0"/>
          </a:p>
          <a:p>
            <a:pPr marL="0" indent="0">
              <a:lnSpc>
                <a:spcPct val="150000"/>
              </a:lnSpc>
              <a:buNone/>
            </a:pPr>
            <a:r>
              <a:rPr lang="en-US" sz="1400" b="1" dirty="0">
                <a:solidFill>
                  <a:srgbClr val="3366AA"/>
                </a:solidFill>
                <a:latin typeface="Calibri" pitchFamily="34" charset="0"/>
                <a:ea typeface="Calibri" pitchFamily="34" charset="-122"/>
                <a:cs typeface="Calibri" pitchFamily="34" charset="-120"/>
              </a:rPr>
              <a:t>RRR = (avg_before - avg_after) / avg_before</a:t>
            </a:r>
            <a:endParaRPr lang="en-US" sz="1500" dirty="0"/>
          </a:p>
          <a:p>
            <a:pPr marL="0" indent="0">
              <a:lnSpc>
                <a:spcPct val="150000"/>
              </a:lnSpc>
              <a:buNone/>
            </a:pPr>
            <a:r>
              <a:rPr lang="en-US" sz="1200" dirty="0">
                <a:solidFill>
                  <a:srgbClr val="888888"/>
                </a:solidFill>
                <a:latin typeface="Calibri" pitchFamily="34" charset="0"/>
                <a:ea typeface="Calibri" pitchFamily="34" charset="-122"/>
                <a:cs typeface="Calibri" pitchFamily="34" charset="-120"/>
              </a:rPr>
              <a:t>システム導入前後の平均後悔度の変化率 → t検定で有意性検証 (p &lt; 0.05)</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予備実験結果</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19/25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33件 decisions / 32件 feedbacks / 5カテゴリ / 2ヶ月間 / 5-fold 時系列交差検証</a:t>
            </a:r>
            <a:endParaRPr lang="en-US" sz="1300" dirty="0"/>
          </a:p>
        </p:txBody>
      </p:sp>
      <p:sp>
        <p:nvSpPr>
          <p:cNvPr id="6" name="Text 4"/>
          <p:cNvSpPr/>
          <p:nvPr/>
        </p:nvSpPr>
        <p:spPr>
          <a:xfrm>
            <a:off x="457200" y="1188720"/>
            <a:ext cx="18288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モデル比較</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3083442287"/>
              </p:ext>
            </p:extLst>
          </p:nvPr>
        </p:nvGraphicFramePr>
        <p:xfrm>
          <a:off x="457200" y="1463040"/>
          <a:ext cx="8229600" cy="1273741"/>
        </p:xfrm>
        <a:graphic>
          <a:graphicData uri="http://schemas.openxmlformats.org/drawingml/2006/table">
            <a:tbl>
              <a:tblPr/>
              <a:tblGrid>
                <a:gridCol w="256032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1600000">
                  <a:extLst>
                    <a:ext uri="{9D8B030D-6E8A-4147-A177-3AD203B41FA5}">
                      <a16:colId xmlns:a16="http://schemas.microsoft.com/office/drawing/2014/main" val="20002"/>
                    </a:ext>
                  </a:extLst>
                </a:gridCol>
                <a:gridCol w="2469280">
                  <a:extLst>
                    <a:ext uri="{9D8B030D-6E8A-4147-A177-3AD203B41FA5}">
                      <a16:colId xmlns:a16="http://schemas.microsoft.com/office/drawing/2014/main" val="20003"/>
                    </a:ext>
                  </a:extLst>
                </a:gridCol>
              </a:tblGrid>
              <a:tr h="326683">
                <a:tc>
                  <a:txBody>
                    <a:bodyPr/>
                    <a:lstStyle/>
                    <a:p>
                      <a:pPr marL="0" indent="0" algn="l">
                        <a:buNone/>
                      </a:pP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MAE</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RMSE</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R²</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15686">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提案手法 (RF+SHAP)</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tc>
                  <a:txBody>
                    <a:bodyPr/>
                    <a:lstStyle/>
                    <a:p>
                      <a:pPr marL="0" indent="0" algn="ctr">
                        <a:buNone/>
                      </a:pPr>
                      <a:r>
                        <a:rPr lang="en-US" sz="1800" b="1" dirty="0">
                          <a:solidFill>
                            <a:srgbClr val="2E7D32"/>
                          </a:solidFill>
                          <a:latin typeface="Calibri" pitchFamily="34" charset="0"/>
                          <a:ea typeface="Calibri" pitchFamily="34" charset="-122"/>
                          <a:cs typeface="Calibri" pitchFamily="34" charset="-120"/>
                        </a:rPr>
                        <a:t>0.0946</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tc>
                  <a:txBody>
                    <a:bodyPr/>
                    <a:lstStyle/>
                    <a:p>
                      <a:pPr marL="0" indent="0" algn="ctr">
                        <a:buNone/>
                      </a:pPr>
                      <a:r>
                        <a:rPr lang="en-US" sz="1800" b="1" dirty="0">
                          <a:solidFill>
                            <a:srgbClr val="2E7D32"/>
                          </a:solidFill>
                          <a:latin typeface="Calibri" pitchFamily="34" charset="0"/>
                          <a:ea typeface="Calibri" pitchFamily="34" charset="-122"/>
                          <a:cs typeface="Calibri" pitchFamily="34" charset="-120"/>
                        </a:rPr>
                        <a:t>0.1129</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tc>
                  <a:txBody>
                    <a:bodyPr/>
                    <a:lstStyle/>
                    <a:p>
                      <a:pPr marL="0" indent="0" algn="ctr">
                        <a:buNone/>
                      </a:pPr>
                      <a:r>
                        <a:rPr lang="en-US" sz="1800" b="1" dirty="0">
                          <a:solidFill>
                            <a:srgbClr val="2E7D32"/>
                          </a:solidFill>
                          <a:latin typeface="Calibri" pitchFamily="34" charset="0"/>
                          <a:ea typeface="Calibri" pitchFamily="34" charset="-122"/>
                          <a:cs typeface="Calibri" pitchFamily="34" charset="-120"/>
                        </a:rPr>
                        <a:t>0.334</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BF0FF"/>
                    </a:solidFill>
                  </a:tcPr>
                </a:tc>
                <a:extLst>
                  <a:ext uri="{0D108BD9-81ED-4DB2-BD59-A6C34878D82A}">
                    <a16:rowId xmlns:a16="http://schemas.microsoft.com/office/drawing/2014/main" val="10001"/>
                  </a:ext>
                </a:extLst>
              </a:tr>
              <a:tr h="315686">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0.1024</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0.1229</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0.223</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686">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ルールベース</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0.1400</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0.1565</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-0.960</a:t>
                      </a:r>
                      <a:endParaRPr lang="en-US" sz="18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8" name="Text 5"/>
          <p:cNvSpPr/>
          <p:nvPr/>
        </p:nvSpPr>
        <p:spPr>
          <a:xfrm>
            <a:off x="457200" y="2926080"/>
            <a:ext cx="3657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SHAP 特徴量重要度 Top5</a:t>
            </a:r>
            <a:endParaRPr lang="en-US" sz="14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3246120"/>
          <a:ext cx="5200000" cy="1428600"/>
        </p:xfrm>
        <a:graphic>
          <a:graphicData uri="http://schemas.openxmlformats.org/drawingml/2006/table">
            <a:tbl>
              <a:tblPr/>
              <a:tblGrid>
                <a:gridCol w="600000">
                  <a:extLst>
                    <a:ext uri="{9D8B030D-6E8A-4147-A177-3AD203B41FA5}">
                      <a16:colId xmlns:a16="http://schemas.microsoft.com/office/drawing/2014/main" val="30000"/>
                    </a:ext>
                  </a:extLst>
                </a:gridCol>
                <a:gridCol w="3200000">
                  <a:extLst>
                    <a:ext uri="{9D8B030D-6E8A-4147-A177-3AD203B41FA5}">
                      <a16:colId xmlns:a16="http://schemas.microsoft.com/office/drawing/2014/main" val="30001"/>
                    </a:ext>
                  </a:extLst>
                </a:gridCol>
                <a:gridCol w="1400000">
                  <a:extLst>
                    <a:ext uri="{9D8B030D-6E8A-4147-A177-3AD203B41FA5}">
                      <a16:colId xmlns:a16="http://schemas.microsoft.com/office/drawing/2014/main" val="30002"/>
                    </a:ext>
                  </a:extLst>
                </a:gridCol>
              </a:tblGrid>
              <a:tr h="22860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特徴量</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SHAP値</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40000"/>
                  </a:ext>
                </a:extLst>
              </a:tr>
              <a:tr h="200000">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stress_level</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0.1036</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001"/>
                  </a:ext>
                </a:extLst>
              </a:tr>
              <a:tr h="200000">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0.0230</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40002"/>
                  </a:ext>
                </a:extLst>
              </a:tr>
              <a:tr h="200000">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avg_regret_category</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0.0172</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003"/>
                  </a:ext>
                </a:extLst>
              </a:tr>
              <a:tr h="200000">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regret_variance</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0.0115</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40004"/>
                  </a:ext>
                </a:extLst>
              </a:tr>
              <a:tr h="200000">
                <a:tc>
                  <a:txBody>
                    <a:bodyPr/>
                    <a:lstStyle/>
                    <a:p>
                      <a:pPr marL="0" indent="0" algn="ctr">
                        <a:buNone/>
                      </a:pPr>
                      <a:r>
                        <a:rPr lang="en-US" sz="1000" b="1"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1A"/>
                          </a:solidFill>
                          <a:latin typeface="Calibri" pitchFamily="34" charset="0"/>
                          <a:ea typeface="Calibri" pitchFamily="34" charset="-122"/>
                          <a:cs typeface="Calibri" pitchFamily="34" charset="-120"/>
                        </a:rPr>
                        <a:t>taste_expectation</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1A"/>
                          </a:solidFill>
                          <a:latin typeface="Calibri" pitchFamily="34" charset="0"/>
                          <a:ea typeface="Calibri" pitchFamily="34" charset="-122"/>
                          <a:cs typeface="Calibri" pitchFamily="34" charset="-120"/>
                        </a:rPr>
                        <a:t>0.0090</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005"/>
                  </a:ext>
                </a:extLst>
              </a:tr>
              <a:tr h="200000">
                <a:tc>
                  <a:txBody>
                    <a:bodyPr/>
                    <a:lstStyle/>
                    <a:p>
                      <a:pPr marL="0" indent="0" algn="ctr">
                        <a:buNone/>
                      </a:pPr>
                      <a:r>
                        <a:rPr lang="en-US" sz="1000" dirty="0">
                          <a:solidFill>
                            <a:srgbClr val="88888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l">
                        <a:buNone/>
                      </a:pPr>
                      <a:r>
                        <a:rPr lang="en-US" sz="1000" dirty="0">
                          <a:solidFill>
                            <a:srgbClr val="888888"/>
                          </a:solidFill>
                          <a:latin typeface="Calibri" pitchFamily="34" charset="0"/>
                          <a:ea typeface="Calibri" pitchFamily="34" charset="-122"/>
                          <a:cs typeface="Calibri" pitchFamily="34" charset="-120"/>
                        </a:rPr>
                        <a:t>weather, is_dinner_time, etc.</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tc>
                  <a:txBody>
                    <a:bodyPr/>
                    <a:lstStyle/>
                    <a:p>
                      <a:pPr marL="0" indent="0" algn="ctr">
                        <a:buNone/>
                      </a:pPr>
                      <a:r>
                        <a:rPr lang="en-US" sz="1000" dirty="0">
                          <a:solidFill>
                            <a:srgbClr val="888888"/>
                          </a:solidFill>
                          <a:latin typeface="Calibri" pitchFamily="34" charset="0"/>
                          <a:ea typeface="Calibri" pitchFamily="34" charset="-122"/>
                          <a:cs typeface="Calibri" pitchFamily="34" charset="-120"/>
                        </a:rPr>
                        <a:t>&lt; 0.003</a:t>
                      </a:r>
                      <a:endParaRPr lang="en-US" sz="1000" dirty="0">
                        <a:latin typeface="Calibri" charset="0"/>
                        <a:ea typeface="Calibri" charset="0"/>
                        <a:cs typeface="Calibri" charset="0"/>
                      </a:endParaRPr>
                    </a:p>
                  </a:txBody>
                  <a:tcPr marL="36000" marR="36000" marT="18000" marB="180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8F8F8"/>
                    </a:solidFill>
                  </a:tcPr>
                </a:tc>
                <a:extLst>
                  <a:ext uri="{0D108BD9-81ED-4DB2-BD59-A6C34878D82A}">
                    <a16:rowId xmlns:a16="http://schemas.microsoft.com/office/drawing/2014/main" val="40010"/>
                  </a:ext>
                </a:extLst>
              </a:tr>
            </a:tbl>
          </a:graphicData>
        </a:graphic>
      </p:graphicFrame>
      <p:sp>
        <p:nvSpPr>
          <p:cNvPr id="10" name="Text 6"/>
          <p:cNvSpPr/>
          <p:nvPr/>
        </p:nvSpPr>
        <p:spPr>
          <a:xfrm>
            <a:off x="5943600" y="4114800"/>
            <a:ext cx="2743200" cy="274320"/>
          </a:xfrm>
          <a:prstGeom prst="rect">
            <a:avLst/>
          </a:prstGeom>
          <a:noFill/>
          <a:ln/>
        </p:spPr>
        <p:txBody>
          <a:bodyPr wrap="square" lIns="0" tIns="0" rIns="0" bIns="0" rtlCol="0" anchor="ctr"/>
          <a:lstStyle/>
          <a:p>
            <a:pPr marL="0" indent="0">
              <a:buNone/>
            </a:pPr>
            <a:r>
              <a:rPr lang="en-US" sz="1100" i="1" dirty="0">
                <a:solidFill>
                  <a:srgbClr val="888888"/>
                </a:solidFill>
                <a:latin typeface="Calibri" pitchFamily="34" charset="0"/>
                <a:ea typeface="Calibri" pitchFamily="34" charset="-122"/>
                <a:cs typeface="Calibri" pitchFamily="34" charset="-120"/>
              </a:rPr>
              <a:t>※ ダミーデータによる予備評価</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SHAP分析と特徴量重要度</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20/25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300" dirty="0">
                <a:solidFill>
                  <a:srgbClr val="888888"/>
                </a:solidFill>
                <a:latin typeface="Calibri" pitchFamily="34" charset="0"/>
                <a:ea typeface="Calibri" pitchFamily="34" charset="-122"/>
                <a:cs typeface="Calibri" pitchFamily="34" charset="-120"/>
              </a:rPr>
              <a:t>TreeExplainer によるSHAP値算出 → 個人ごとの後悔要因を可視化</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487168"/>
        </p:xfrm>
        <a:graphic>
          <a:graphicData uri="http://schemas.openxmlformats.org/drawingml/2006/table">
            <a:tbl>
              <a:tblPr/>
              <a:tblGrid>
                <a:gridCol w="640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順位</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特徴量</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SHAP寄与方向</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解釈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36576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stress_level</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D32F2F"/>
                          </a:solidFill>
                          <a:latin typeface="Calibri" pitchFamily="34" charset="0"/>
                          <a:ea typeface="Calibri" pitchFamily="34" charset="-122"/>
                          <a:cs typeface="Calibri" pitchFamily="34" charset="-120"/>
                        </a:rPr>
                        <a:t>高ストレス → 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最も強い予測因子</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avg_regret_category</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D32F2F"/>
                          </a:solidFill>
                          <a:latin typeface="Calibri" pitchFamily="34" charset="0"/>
                          <a:ea typeface="Calibri" pitchFamily="34" charset="-122"/>
                          <a:cs typeface="Calibri" pitchFamily="34" charset="-120"/>
                        </a:rPr>
                        <a:t>過去高後悔 → 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カテゴリ別の傾向反映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36576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高価格 → 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金額と後悔の正の相関</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hunger_level</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高空腹 → 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ホットステート影響</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36576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taste_expectation</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高期待 → 後悔↓</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期待値と後悔の負の相関</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888888"/>
                          </a:solidFill>
                          <a:latin typeface="Calibri" pitchFamily="34" charset="0"/>
                          <a:ea typeface="Calibri" pitchFamily="34" charset="-122"/>
                          <a:cs typeface="Calibri" pitchFamily="34" charset="-120"/>
                        </a:rPr>
                        <a:t>weather_encoded</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888888"/>
                          </a:solidFill>
                          <a:latin typeface="Calibri" pitchFamily="34" charset="0"/>
                          <a:ea typeface="Calibri" pitchFamily="34" charset="-122"/>
                          <a:cs typeface="Calibri" pitchFamily="34" charset="-120"/>
                        </a:rPr>
                        <a:t>影響小</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888888"/>
                          </a:solidFill>
                          <a:latin typeface="Calibri" pitchFamily="34" charset="0"/>
                          <a:ea typeface="Calibri" pitchFamily="34" charset="-122"/>
                          <a:cs typeface="Calibri" pitchFamily="34" charset="-120"/>
                        </a:rPr>
                        <a:t>除去候補（選択で除外）</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bl>
          </a:graphicData>
        </a:graphic>
      </p:graphicFrame>
      <p:sp>
        <p:nvSpPr>
          <p:cNvPr id="7" name="Text 4"/>
          <p:cNvSpPr/>
          <p:nvPr/>
        </p:nvSpPr>
        <p:spPr>
          <a:xfrm>
            <a:off x="457200" y="3767328"/>
            <a:ext cx="2743200" cy="27432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分析から得られた知見</a:t>
            </a:r>
            <a:endParaRPr lang="en-US" sz="1300" dirty="0"/>
          </a:p>
        </p:txBody>
      </p:sp>
      <p:sp>
        <p:nvSpPr>
          <p:cNvPr id="8" name="Shape 5"/>
          <p:cNvSpPr/>
          <p:nvPr/>
        </p:nvSpPr>
        <p:spPr>
          <a:xfrm>
            <a:off x="457200" y="4041648"/>
            <a:ext cx="2606040" cy="640080"/>
          </a:xfrm>
          <a:prstGeom prst="roundRect">
            <a:avLst>
              <a:gd name="adj" fmla="val 11429"/>
            </a:avLst>
          </a:prstGeom>
          <a:solidFill>
            <a:srgbClr val="FFCDD2"/>
          </a:solidFill>
          <a:ln w="19050">
            <a:solidFill>
              <a:srgbClr val="D32F2F"/>
            </a:solidFill>
            <a:prstDash val="solid"/>
          </a:ln>
        </p:spPr>
        <p:txBody>
          <a:bodyPr/>
          <a:lstStyle/>
          <a:p>
            <a:endParaRPr lang="ja-JP" altLang="en-US"/>
          </a:p>
        </p:txBody>
      </p:sp>
      <p:sp>
        <p:nvSpPr>
          <p:cNvPr id="9" name="Text 6"/>
          <p:cNvSpPr/>
          <p:nvPr/>
        </p:nvSpPr>
        <p:spPr>
          <a:xfrm>
            <a:off x="457200" y="3886200"/>
            <a:ext cx="2606040" cy="640080"/>
          </a:xfrm>
          <a:prstGeom prst="rect">
            <a:avLst/>
          </a:prstGeom>
          <a:noFill/>
          <a:ln/>
        </p:spPr>
        <p:txBody>
          <a:bodyPr wrap="square" lIns="0" tIns="0" rIns="0" bIns="0" rtlCol="0" anchor="ctr"/>
          <a:lstStyle/>
          <a:p>
            <a:pPr marL="0" indent="0" algn="ctr">
              <a:buNone/>
            </a:pPr>
            <a:endParaRPr lang="en-US" sz="1100" dirty="0"/>
          </a:p>
        </p:txBody>
      </p:sp>
      <p:sp>
        <p:nvSpPr>
          <p:cNvPr id="10" name="Text 7"/>
          <p:cNvSpPr/>
          <p:nvPr/>
        </p:nvSpPr>
        <p:spPr>
          <a:xfrm>
            <a:off x="548640" y="4041648"/>
            <a:ext cx="2423160" cy="640080"/>
          </a:xfrm>
          <a:prstGeom prst="rect">
            <a:avLst/>
          </a:prstGeom>
          <a:noFill/>
          <a:ln/>
        </p:spPr>
        <p:txBody>
          <a:bodyPr wrap="square" lIns="0" tIns="0" rIns="0" bIns="0" rtlCol="0" anchor="ctr"/>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ホットステート理論の検証</a:t>
            </a:r>
            <a:endParaRPr lang="en-US" sz="12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stress + hunger がトップ要因</a:t>
            </a:r>
            <a:endParaRPr lang="en-US" sz="1200" dirty="0"/>
          </a:p>
        </p:txBody>
      </p:sp>
      <p:sp>
        <p:nvSpPr>
          <p:cNvPr id="11" name="Shape 8"/>
          <p:cNvSpPr/>
          <p:nvPr/>
        </p:nvSpPr>
        <p:spPr>
          <a:xfrm>
            <a:off x="3337560" y="4041648"/>
            <a:ext cx="2606040" cy="640080"/>
          </a:xfrm>
          <a:prstGeom prst="roundRect">
            <a:avLst>
              <a:gd name="adj" fmla="val 11429"/>
            </a:avLst>
          </a:prstGeom>
          <a:solidFill>
            <a:srgbClr val="C8E6C9"/>
          </a:solidFill>
          <a:ln w="19050">
            <a:solidFill>
              <a:srgbClr val="388E3C"/>
            </a:solidFill>
            <a:prstDash val="solid"/>
          </a:ln>
        </p:spPr>
        <p:txBody>
          <a:bodyPr/>
          <a:lstStyle/>
          <a:p>
            <a:endParaRPr lang="ja-JP" altLang="en-US"/>
          </a:p>
        </p:txBody>
      </p:sp>
      <p:sp>
        <p:nvSpPr>
          <p:cNvPr id="12" name="Text 9"/>
          <p:cNvSpPr/>
          <p:nvPr/>
        </p:nvSpPr>
        <p:spPr>
          <a:xfrm>
            <a:off x="3337560" y="3886200"/>
            <a:ext cx="2606040" cy="640080"/>
          </a:xfrm>
          <a:prstGeom prst="rect">
            <a:avLst/>
          </a:prstGeom>
          <a:noFill/>
          <a:ln/>
        </p:spPr>
        <p:txBody>
          <a:bodyPr wrap="square" lIns="0" tIns="0" rIns="0" bIns="0" rtlCol="0" anchor="ctr"/>
          <a:lstStyle/>
          <a:p>
            <a:pPr marL="0" indent="0" algn="ctr">
              <a:buNone/>
            </a:pPr>
            <a:endParaRPr lang="en-US" sz="1100" dirty="0"/>
          </a:p>
        </p:txBody>
      </p:sp>
      <p:sp>
        <p:nvSpPr>
          <p:cNvPr id="13" name="Text 10"/>
          <p:cNvSpPr/>
          <p:nvPr/>
        </p:nvSpPr>
        <p:spPr>
          <a:xfrm>
            <a:off x="3429000" y="4041648"/>
            <a:ext cx="2423160" cy="640080"/>
          </a:xfrm>
          <a:prstGeom prst="rect">
            <a:avLst/>
          </a:prstGeom>
          <a:noFill/>
          <a:ln/>
        </p:spPr>
        <p:txBody>
          <a:bodyPr wrap="square" lIns="0" tIns="0" rIns="0" bIns="0" rtlCol="0" anchor="ctr"/>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個人履歴の有効性</a:t>
            </a:r>
            <a:endParaRPr lang="en-US" sz="12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avg_regret が2位 → 履歴重要</a:t>
            </a:r>
            <a:endParaRPr lang="en-US" sz="1200" dirty="0"/>
          </a:p>
        </p:txBody>
      </p:sp>
      <p:sp>
        <p:nvSpPr>
          <p:cNvPr id="14" name="Shape 11"/>
          <p:cNvSpPr/>
          <p:nvPr/>
        </p:nvSpPr>
        <p:spPr>
          <a:xfrm>
            <a:off x="6217920" y="4041648"/>
            <a:ext cx="2606040" cy="640080"/>
          </a:xfrm>
          <a:prstGeom prst="roundRect">
            <a:avLst>
              <a:gd name="adj" fmla="val 11429"/>
            </a:avLst>
          </a:prstGeom>
          <a:solidFill>
            <a:srgbClr val="E8EEF6"/>
          </a:solidFill>
          <a:ln w="19050">
            <a:solidFill>
              <a:srgbClr val="3366AA"/>
            </a:solidFill>
            <a:prstDash val="solid"/>
          </a:ln>
        </p:spPr>
        <p:txBody>
          <a:bodyPr/>
          <a:lstStyle/>
          <a:p>
            <a:endParaRPr lang="ja-JP" altLang="en-US"/>
          </a:p>
        </p:txBody>
      </p:sp>
      <p:sp>
        <p:nvSpPr>
          <p:cNvPr id="15" name="Text 12"/>
          <p:cNvSpPr/>
          <p:nvPr/>
        </p:nvSpPr>
        <p:spPr>
          <a:xfrm>
            <a:off x="6217920" y="3886200"/>
            <a:ext cx="2606040" cy="640080"/>
          </a:xfrm>
          <a:prstGeom prst="rect">
            <a:avLst/>
          </a:prstGeom>
          <a:noFill/>
          <a:ln/>
        </p:spPr>
        <p:txBody>
          <a:bodyPr wrap="square" lIns="0" tIns="0" rIns="0" bIns="0" rtlCol="0" anchor="ctr"/>
          <a:lstStyle/>
          <a:p>
            <a:pPr marL="0" indent="0" algn="ctr">
              <a:buNone/>
            </a:pPr>
            <a:endParaRPr lang="en-US" sz="1100" dirty="0"/>
          </a:p>
        </p:txBody>
      </p:sp>
      <p:sp>
        <p:nvSpPr>
          <p:cNvPr id="16" name="Text 13"/>
          <p:cNvSpPr/>
          <p:nvPr/>
        </p:nvSpPr>
        <p:spPr>
          <a:xfrm>
            <a:off x="6309360" y="4041648"/>
            <a:ext cx="2423160" cy="640080"/>
          </a:xfrm>
          <a:prstGeom prst="rect">
            <a:avLst/>
          </a:prstGeom>
          <a:noFill/>
          <a:ln/>
        </p:spPr>
        <p:txBody>
          <a:bodyPr wrap="square" lIns="0" tIns="0" rIns="0" bIns="0" rtlCol="0" anchor="ctr"/>
          <a:lstStyle/>
          <a:p>
            <a:pPr marL="0" indent="0">
              <a:lnSpc>
                <a:spcPct val="130000"/>
              </a:lnSpc>
              <a:buNone/>
            </a:pPr>
            <a:r>
              <a:rPr lang="en-US" sz="1200" b="1" dirty="0">
                <a:solidFill>
                  <a:srgbClr val="1A1A1A"/>
                </a:solidFill>
                <a:latin typeface="Calibri" pitchFamily="34" charset="0"/>
                <a:ea typeface="Calibri" pitchFamily="34" charset="-122"/>
                <a:cs typeface="Calibri" pitchFamily="34" charset="-120"/>
              </a:rPr>
              <a:t>不要特徴量の特定</a:t>
            </a:r>
            <a:endParaRPr lang="en-US" sz="12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weather等は除去可能 → 12次元</a:t>
            </a:r>
            <a:endParaRPr lang="en-US" sz="1200" dirty="0"/>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[5] Lundberg &amp; Lee (2017) - SHAP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デモとUI設計</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21/25</a:t>
            </a:r>
            <a:endParaRPr lang="en-US" sz="1100" dirty="0"/>
          </a:p>
        </p:txBody>
      </p:sp>
      <p:sp>
        <p:nvSpPr>
          <p:cNvPr id="5" name="Shape 3"/>
          <p:cNvSpPr/>
          <p:nvPr/>
        </p:nvSpPr>
        <p:spPr>
          <a:xfrm>
            <a:off x="457200" y="868680"/>
            <a:ext cx="3840480" cy="1737360"/>
          </a:xfrm>
          <a:prstGeom prst="roundRect">
            <a:avLst>
              <a:gd name="adj" fmla="val 4211"/>
            </a:avLst>
          </a:prstGeom>
          <a:solidFill>
            <a:srgbClr val="E8EEF6"/>
          </a:solidFill>
          <a:ln w="19050">
            <a:solidFill>
              <a:srgbClr val="3366AA"/>
            </a:solidFill>
            <a:prstDash val="solid"/>
          </a:ln>
        </p:spPr>
        <p:txBody>
          <a:bodyPr/>
          <a:lstStyle/>
          <a:p>
            <a:endParaRPr lang="ja-JP" altLang="en-US"/>
          </a:p>
        </p:txBody>
      </p:sp>
      <p:sp>
        <p:nvSpPr>
          <p:cNvPr id="6" name="Text 4"/>
          <p:cNvSpPr/>
          <p:nvPr/>
        </p:nvSpPr>
        <p:spPr>
          <a:xfrm>
            <a:off x="457200" y="868680"/>
            <a:ext cx="3840480" cy="1737360"/>
          </a:xfrm>
          <a:prstGeom prst="rect">
            <a:avLst/>
          </a:prstGeom>
          <a:noFill/>
          <a:ln/>
        </p:spPr>
        <p:txBody>
          <a:bodyPr wrap="square" lIns="0" tIns="0" rIns="0" bIns="0" rtlCol="0" anchor="ctr"/>
          <a:lstStyle/>
          <a:p>
            <a:pPr marL="0" indent="0" algn="ctr">
              <a:buNone/>
            </a:pPr>
            <a:endParaRPr lang="en-US" sz="1100" dirty="0"/>
          </a:p>
        </p:txBody>
      </p:sp>
      <p:sp>
        <p:nvSpPr>
          <p:cNvPr id="7" name="Text 5"/>
          <p:cNvSpPr/>
          <p:nvPr/>
        </p:nvSpPr>
        <p:spPr>
          <a:xfrm>
            <a:off x="640080" y="978408"/>
            <a:ext cx="3474720" cy="1517904"/>
          </a:xfrm>
          <a:prstGeom prst="rect">
            <a:avLst/>
          </a:prstGeom>
          <a:noFill/>
          <a:ln/>
        </p:spPr>
        <p:txBody>
          <a:bodyPr wrap="square" lIns="0" tIns="0" rIns="0" bIns="0" rtlCol="0" anchor="t"/>
          <a:lstStyle/>
          <a:p>
            <a:pPr marL="0" indent="0">
              <a:lnSpc>
                <a:spcPct val="135000"/>
              </a:lnSpc>
              <a:buNone/>
            </a:pPr>
            <a:r>
              <a:rPr lang="en-US" sz="1400" b="1" dirty="0">
                <a:solidFill>
                  <a:srgbClr val="1A1A1A"/>
                </a:solidFill>
                <a:latin typeface="Calibri" pitchFamily="34" charset="0"/>
                <a:ea typeface="Calibri" pitchFamily="34" charset="-122"/>
                <a:cs typeface="Calibri" pitchFamily="34" charset="-120"/>
              </a:rPr>
              <a:t>① ダッシュボード</a:t>
            </a:r>
            <a:endParaRPr lang="en-US" sz="1400" dirty="0"/>
          </a:p>
          <a:p>
            <a:pPr marL="0" indent="0">
              <a:lnSpc>
                <a:spcPct val="135000"/>
              </a:lnSpc>
              <a:buNone/>
            </a:pP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直近10件の意思決定履歴</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カテゴリ別後悔率・週間トレンド</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パターン警告の表示</a:t>
            </a:r>
            <a:endParaRPr lang="en-US" sz="1400" dirty="0"/>
          </a:p>
        </p:txBody>
      </p:sp>
      <p:sp>
        <p:nvSpPr>
          <p:cNvPr id="8" name="Shape 6"/>
          <p:cNvSpPr/>
          <p:nvPr/>
        </p:nvSpPr>
        <p:spPr>
          <a:xfrm>
            <a:off x="4846320" y="868680"/>
            <a:ext cx="3840480" cy="1737360"/>
          </a:xfrm>
          <a:prstGeom prst="roundRect">
            <a:avLst>
              <a:gd name="adj" fmla="val 4211"/>
            </a:avLst>
          </a:prstGeom>
          <a:solidFill>
            <a:srgbClr val="E8F5E9"/>
          </a:solidFill>
          <a:ln w="19050">
            <a:solidFill>
              <a:srgbClr val="388E3C"/>
            </a:solidFill>
            <a:prstDash val="solid"/>
          </a:ln>
        </p:spPr>
        <p:txBody>
          <a:bodyPr/>
          <a:lstStyle/>
          <a:p>
            <a:endParaRPr lang="ja-JP" altLang="en-US"/>
          </a:p>
        </p:txBody>
      </p:sp>
      <p:sp>
        <p:nvSpPr>
          <p:cNvPr id="9" name="Text 7"/>
          <p:cNvSpPr/>
          <p:nvPr/>
        </p:nvSpPr>
        <p:spPr>
          <a:xfrm>
            <a:off x="4846320" y="868680"/>
            <a:ext cx="3840480" cy="1737360"/>
          </a:xfrm>
          <a:prstGeom prst="rect">
            <a:avLst/>
          </a:prstGeom>
          <a:noFill/>
          <a:ln/>
        </p:spPr>
        <p:txBody>
          <a:bodyPr wrap="square" lIns="0" tIns="0" rIns="0" bIns="0" rtlCol="0" anchor="ctr"/>
          <a:lstStyle/>
          <a:p>
            <a:pPr marL="0" indent="0" algn="ctr">
              <a:buNone/>
            </a:pPr>
            <a:endParaRPr lang="en-US" sz="1100" dirty="0"/>
          </a:p>
        </p:txBody>
      </p:sp>
      <p:sp>
        <p:nvSpPr>
          <p:cNvPr id="10" name="Text 8"/>
          <p:cNvSpPr/>
          <p:nvPr/>
        </p:nvSpPr>
        <p:spPr>
          <a:xfrm>
            <a:off x="5029200" y="978408"/>
            <a:ext cx="3474720" cy="1517904"/>
          </a:xfrm>
          <a:prstGeom prst="rect">
            <a:avLst/>
          </a:prstGeom>
          <a:noFill/>
          <a:ln/>
        </p:spPr>
        <p:txBody>
          <a:bodyPr wrap="square" lIns="0" tIns="0" rIns="0" bIns="0" rtlCol="0" anchor="t"/>
          <a:lstStyle/>
          <a:p>
            <a:pPr marL="0" indent="0">
              <a:lnSpc>
                <a:spcPct val="135000"/>
              </a:lnSpc>
              <a:buNone/>
            </a:pPr>
            <a:r>
              <a:rPr lang="en-US" sz="1400" b="1" dirty="0">
                <a:solidFill>
                  <a:srgbClr val="1A1A1A"/>
                </a:solidFill>
                <a:latin typeface="Calibri" pitchFamily="34" charset="0"/>
                <a:ea typeface="Calibri" pitchFamily="34" charset="-122"/>
                <a:cs typeface="Calibri" pitchFamily="34" charset="-120"/>
              </a:rPr>
              <a:t>② 意思決定入力</a:t>
            </a:r>
            <a:endParaRPr lang="en-US" sz="1400" dirty="0"/>
          </a:p>
          <a:p>
            <a:pPr marL="0" indent="0">
              <a:lnSpc>
                <a:spcPct val="135000"/>
              </a:lnSpc>
              <a:buNone/>
            </a:pP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5カテゴリから選択</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コンテキスト情報入力</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リアルタイム後悔スコア予測</a:t>
            </a:r>
            <a:endParaRPr lang="en-US" sz="1400" dirty="0"/>
          </a:p>
        </p:txBody>
      </p:sp>
      <p:sp>
        <p:nvSpPr>
          <p:cNvPr id="11" name="Shape 9"/>
          <p:cNvSpPr/>
          <p:nvPr/>
        </p:nvSpPr>
        <p:spPr>
          <a:xfrm>
            <a:off x="457200" y="2926080"/>
            <a:ext cx="3840480" cy="1737360"/>
          </a:xfrm>
          <a:prstGeom prst="roundRect">
            <a:avLst>
              <a:gd name="adj" fmla="val 4211"/>
            </a:avLst>
          </a:prstGeom>
          <a:solidFill>
            <a:srgbClr val="FFF3E0"/>
          </a:solidFill>
          <a:ln w="19050">
            <a:solidFill>
              <a:srgbClr val="E68A00"/>
            </a:solidFill>
            <a:prstDash val="solid"/>
          </a:ln>
        </p:spPr>
        <p:txBody>
          <a:bodyPr/>
          <a:lstStyle/>
          <a:p>
            <a:endParaRPr lang="ja-JP" altLang="en-US"/>
          </a:p>
        </p:txBody>
      </p:sp>
      <p:sp>
        <p:nvSpPr>
          <p:cNvPr id="12" name="Text 10"/>
          <p:cNvSpPr/>
          <p:nvPr/>
        </p:nvSpPr>
        <p:spPr>
          <a:xfrm>
            <a:off x="457200" y="2926080"/>
            <a:ext cx="3840480" cy="1737360"/>
          </a:xfrm>
          <a:prstGeom prst="rect">
            <a:avLst/>
          </a:prstGeom>
          <a:noFill/>
          <a:ln/>
        </p:spPr>
        <p:txBody>
          <a:bodyPr wrap="square" lIns="0" tIns="0" rIns="0" bIns="0" rtlCol="0" anchor="ctr"/>
          <a:lstStyle/>
          <a:p>
            <a:pPr marL="0" indent="0" algn="ctr">
              <a:buNone/>
            </a:pPr>
            <a:endParaRPr lang="en-US" sz="1100" dirty="0"/>
          </a:p>
        </p:txBody>
      </p:sp>
      <p:sp>
        <p:nvSpPr>
          <p:cNvPr id="13" name="Text 11"/>
          <p:cNvSpPr/>
          <p:nvPr/>
        </p:nvSpPr>
        <p:spPr>
          <a:xfrm>
            <a:off x="640080" y="3035808"/>
            <a:ext cx="3474720" cy="1517904"/>
          </a:xfrm>
          <a:prstGeom prst="rect">
            <a:avLst/>
          </a:prstGeom>
          <a:noFill/>
          <a:ln/>
        </p:spPr>
        <p:txBody>
          <a:bodyPr wrap="square" lIns="0" tIns="0" rIns="0" bIns="0" rtlCol="0" anchor="t"/>
          <a:lstStyle/>
          <a:p>
            <a:pPr marL="0" indent="0">
              <a:lnSpc>
                <a:spcPct val="135000"/>
              </a:lnSpc>
              <a:buNone/>
            </a:pPr>
            <a:r>
              <a:rPr lang="en-US" sz="1400" b="1" dirty="0">
                <a:solidFill>
                  <a:srgbClr val="1A1A1A"/>
                </a:solidFill>
                <a:latin typeface="Calibri" pitchFamily="34" charset="0"/>
                <a:ea typeface="Calibri" pitchFamily="34" charset="-122"/>
                <a:cs typeface="Calibri" pitchFamily="34" charset="-120"/>
              </a:rPr>
              <a:t>③ フィードバック</a:t>
            </a:r>
            <a:endParaRPr lang="en-US" sz="1400" dirty="0"/>
          </a:p>
          <a:p>
            <a:pPr marL="0" indent="0">
              <a:lnSpc>
                <a:spcPct val="135000"/>
              </a:lnSpc>
              <a:buNone/>
            </a:pP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後悔度(1-5) / 満足度入力</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後悔理由のテキスト記録</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モデル再訓練の自動トリガー</a:t>
            </a:r>
            <a:endParaRPr lang="en-US" sz="1400" dirty="0"/>
          </a:p>
        </p:txBody>
      </p:sp>
      <p:sp>
        <p:nvSpPr>
          <p:cNvPr id="14" name="Shape 12"/>
          <p:cNvSpPr/>
          <p:nvPr/>
        </p:nvSpPr>
        <p:spPr>
          <a:xfrm>
            <a:off x="4846320" y="2926080"/>
            <a:ext cx="3840480" cy="1737360"/>
          </a:xfrm>
          <a:prstGeom prst="roundRect">
            <a:avLst>
              <a:gd name="adj" fmla="val 4211"/>
            </a:avLst>
          </a:prstGeom>
          <a:solidFill>
            <a:srgbClr val="F3E5F5"/>
          </a:solidFill>
          <a:ln w="19050">
            <a:solidFill>
              <a:srgbClr val="7B1FA2"/>
            </a:solidFill>
            <a:prstDash val="solid"/>
          </a:ln>
        </p:spPr>
        <p:txBody>
          <a:bodyPr/>
          <a:lstStyle/>
          <a:p>
            <a:endParaRPr lang="ja-JP" altLang="en-US"/>
          </a:p>
        </p:txBody>
      </p:sp>
      <p:sp>
        <p:nvSpPr>
          <p:cNvPr id="15" name="Text 13"/>
          <p:cNvSpPr/>
          <p:nvPr/>
        </p:nvSpPr>
        <p:spPr>
          <a:xfrm>
            <a:off x="4846320" y="2926080"/>
            <a:ext cx="3840480" cy="1737360"/>
          </a:xfrm>
          <a:prstGeom prst="rect">
            <a:avLst/>
          </a:prstGeom>
          <a:noFill/>
          <a:ln/>
        </p:spPr>
        <p:txBody>
          <a:bodyPr wrap="square" lIns="0" tIns="0" rIns="0" bIns="0" rtlCol="0" anchor="ctr"/>
          <a:lstStyle/>
          <a:p>
            <a:pPr marL="0" indent="0" algn="ctr">
              <a:buNone/>
            </a:pPr>
            <a:endParaRPr lang="en-US" sz="1100" dirty="0"/>
          </a:p>
        </p:txBody>
      </p:sp>
      <p:sp>
        <p:nvSpPr>
          <p:cNvPr id="16" name="Text 14"/>
          <p:cNvSpPr/>
          <p:nvPr/>
        </p:nvSpPr>
        <p:spPr>
          <a:xfrm>
            <a:off x="5029200" y="3035808"/>
            <a:ext cx="3474720" cy="1517904"/>
          </a:xfrm>
          <a:prstGeom prst="rect">
            <a:avLst/>
          </a:prstGeom>
          <a:noFill/>
          <a:ln/>
        </p:spPr>
        <p:txBody>
          <a:bodyPr wrap="square" lIns="0" tIns="0" rIns="0" bIns="0" rtlCol="0" anchor="t"/>
          <a:lstStyle/>
          <a:p>
            <a:pPr marL="0" indent="0">
              <a:lnSpc>
                <a:spcPct val="135000"/>
              </a:lnSpc>
              <a:buNone/>
            </a:pPr>
            <a:r>
              <a:rPr lang="en-US" sz="1400" b="1" dirty="0">
                <a:solidFill>
                  <a:srgbClr val="1A1A1A"/>
                </a:solidFill>
                <a:latin typeface="Calibri" pitchFamily="34" charset="0"/>
                <a:ea typeface="Calibri" pitchFamily="34" charset="-122"/>
                <a:cs typeface="Calibri" pitchFamily="34" charset="-120"/>
              </a:rPr>
              <a:t>④ 研究用評価画面</a:t>
            </a:r>
            <a:endParaRPr lang="en-US" sz="1400" dirty="0"/>
          </a:p>
          <a:p>
            <a:pPr marL="0" indent="0">
              <a:lnSpc>
                <a:spcPct val="135000"/>
              </a:lnSpc>
              <a:buNone/>
            </a:pP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RF vs XGBoost比較実験</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パラメータ調整・CV実行</a:t>
            </a:r>
            <a:endParaRPr lang="en-US" sz="1400" dirty="0"/>
          </a:p>
          <a:p>
            <a:pPr marL="0" indent="0">
              <a:lnSpc>
                <a:spcPct val="135000"/>
              </a:lnSpc>
              <a:buNone/>
            </a:pPr>
            <a:r>
              <a:rPr lang="en-US" sz="1200" dirty="0">
                <a:solidFill>
                  <a:srgbClr val="888888"/>
                </a:solidFill>
                <a:latin typeface="Calibri" pitchFamily="34" charset="0"/>
                <a:ea typeface="Calibri" pitchFamily="34" charset="-122"/>
                <a:cs typeface="Calibri" pitchFamily="34" charset="-120"/>
              </a:rPr>
              <a:t>結果JSON出力・統計検定</a:t>
            </a:r>
            <a:endParaRPr lang="en-US" sz="1400" dirty="0"/>
          </a:p>
        </p:txBody>
      </p:sp>
      <p:sp>
        <p:nvSpPr>
          <p:cNvPr id="17" name="Shape 15"/>
          <p:cNvSpPr/>
          <p:nvPr/>
        </p:nvSpPr>
        <p:spPr>
          <a:xfrm>
            <a:off x="4297680" y="1737360"/>
            <a:ext cx="548640" cy="0"/>
          </a:xfrm>
          <a:prstGeom prst="line">
            <a:avLst/>
          </a:prstGeom>
          <a:noFill/>
          <a:ln w="25400">
            <a:solidFill>
              <a:srgbClr val="3366AA"/>
            </a:solidFill>
            <a:prstDash val="solid"/>
          </a:ln>
        </p:spPr>
        <p:txBody>
          <a:bodyPr/>
          <a:lstStyle/>
          <a:p>
            <a:endParaRPr lang="ja-JP" altLang="en-US"/>
          </a:p>
        </p:txBody>
      </p:sp>
      <p:sp>
        <p:nvSpPr>
          <p:cNvPr id="19" name="Shape 17"/>
          <p:cNvSpPr/>
          <p:nvPr/>
        </p:nvSpPr>
        <p:spPr>
          <a:xfrm>
            <a:off x="6766560" y="2606040"/>
            <a:ext cx="0" cy="320040"/>
          </a:xfrm>
          <a:prstGeom prst="line">
            <a:avLst/>
          </a:prstGeom>
          <a:noFill/>
          <a:ln w="25400">
            <a:solidFill>
              <a:srgbClr val="3366AA"/>
            </a:solidFill>
            <a:prstDash val="solid"/>
          </a:ln>
        </p:spPr>
        <p:txBody>
          <a:bodyPr/>
          <a:lstStyle/>
          <a:p>
            <a:endParaRPr lang="ja-JP" altLang="en-US"/>
          </a:p>
        </p:txBody>
      </p:sp>
      <p:sp>
        <p:nvSpPr>
          <p:cNvPr id="20" name="Text 18"/>
          <p:cNvSpPr/>
          <p:nvPr/>
        </p:nvSpPr>
        <p:spPr>
          <a:xfrm>
            <a:off x="6675120" y="2724912"/>
            <a:ext cx="182880" cy="182880"/>
          </a:xfrm>
          <a:prstGeom prst="rect">
            <a:avLst/>
          </a:prstGeom>
          <a:noFill/>
          <a:ln/>
        </p:spPr>
        <p:txBody>
          <a:bodyPr wrap="square" lIns="0" tIns="0" rIns="0" bIns="0" rtlCol="0" anchor="ctr"/>
          <a:lstStyle/>
          <a:p>
            <a:pPr marL="0" indent="0" algn="ctr">
              <a:buNone/>
            </a:pPr>
            <a:r>
              <a:rPr lang="en-US" sz="1000" dirty="0">
                <a:solidFill>
                  <a:srgbClr val="3366AA"/>
                </a:solidFill>
                <a:latin typeface="Calibri" pitchFamily="34" charset="0"/>
                <a:ea typeface="Calibri" pitchFamily="34" charset="-122"/>
                <a:cs typeface="Calibri" pitchFamily="34" charset="-120"/>
              </a:rPr>
              <a:t>▼</a:t>
            </a:r>
            <a:endParaRPr lang="en-US" sz="1000" dirty="0"/>
          </a:p>
        </p:txBody>
      </p:sp>
      <p:sp>
        <p:nvSpPr>
          <p:cNvPr id="21" name="Shape 19"/>
          <p:cNvSpPr/>
          <p:nvPr/>
        </p:nvSpPr>
        <p:spPr>
          <a:xfrm>
            <a:off x="4297680" y="3794760"/>
            <a:ext cx="548640" cy="0"/>
          </a:xfrm>
          <a:prstGeom prst="line">
            <a:avLst/>
          </a:prstGeom>
          <a:noFill/>
          <a:ln w="25400">
            <a:solidFill>
              <a:srgbClr val="3366AA"/>
            </a:solidFill>
            <a:prstDash val="solid"/>
          </a:ln>
        </p:spPr>
        <p:txBody>
          <a:bodyPr/>
          <a:lstStyle/>
          <a:p>
            <a:endParaRPr lang="ja-JP"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考察と制限事項</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22/25</a:t>
            </a:r>
            <a:endParaRPr lang="en-US" sz="1100" dirty="0"/>
          </a:p>
        </p:txBody>
      </p:sp>
      <p:sp>
        <p:nvSpPr>
          <p:cNvPr id="5" name="Text 3"/>
          <p:cNvSpPr/>
          <p:nvPr/>
        </p:nvSpPr>
        <p:spPr>
          <a:xfrm>
            <a:off x="457200" y="822960"/>
            <a:ext cx="3840480" cy="27432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設計上の強み</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3931920" cy="292608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個人独立モデル</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個人差の大きい後悔予測に適合</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汎用モデルでは捉えられない個人特性</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ハイブリッド</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データ不足期はルールベース</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蓄積後MLに自動移行</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SHAP解釈性</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なぜその予測かを説明可能</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ユーザーの信頼構築</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パターン検出</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4種の後悔パターンを自動検出</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類似ケースで具体的に警告</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7" name="Text 4"/>
          <p:cNvSpPr/>
          <p:nvPr/>
        </p:nvSpPr>
        <p:spPr>
          <a:xfrm>
            <a:off x="4754880" y="822960"/>
            <a:ext cx="3931920" cy="274320"/>
          </a:xfrm>
          <a:prstGeom prst="rect">
            <a:avLst/>
          </a:prstGeom>
          <a:noFill/>
          <a:ln/>
        </p:spPr>
        <p:txBody>
          <a:bodyPr wrap="square" lIns="0" tIns="0" rIns="0" bIns="0" rtlCol="0" anchor="ctr"/>
          <a:lstStyle/>
          <a:p>
            <a:pPr marL="0" indent="0">
              <a:buNone/>
            </a:pPr>
            <a:r>
              <a:rPr lang="en-US" sz="1400" b="1" dirty="0">
                <a:solidFill>
                  <a:srgbClr val="D32F2F"/>
                </a:solidFill>
                <a:latin typeface="Calibri" pitchFamily="34" charset="0"/>
                <a:ea typeface="Calibri" pitchFamily="34" charset="-122"/>
                <a:cs typeface="Calibri" pitchFamily="34" charset="-120"/>
              </a:rPr>
              <a:t>制限事項と対応策</a:t>
            </a:r>
            <a:endParaRPr lang="en-US" sz="14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754880" y="1143000"/>
          <a:ext cx="3931920" cy="292608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シングルユーザー</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FIXED_USER_ID設計</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マルチユーザー拡張を計画</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自己申告バイアス</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後知恵バイアスの影響</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時間的遅延の最小化で緩和</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データ量制約</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最低10件のフィードバック必要</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ルールベースでの初期対応</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長期検証未実施</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長期RRR変化が未検証</a:t>
                      </a:r>
                      <a:endParaRPr lang="en-US" sz="1200" dirty="0">
                        <a:latin typeface="Calibri" charset="0"/>
                        <a:ea typeface="Calibri" charset="0"/>
                        <a:cs typeface="Calibri" charset="0"/>
                      </a:endParaRPr>
                    </a:p>
                    <a:p>
                      <a:pPr marL="0" indent="0" algn="l">
                        <a:buNone/>
                      </a:pPr>
                      <a:r>
                        <a:rPr lang="en-US" sz="1200" dirty="0">
                          <a:solidFill>
                            <a:srgbClr val="1A1A1A"/>
                          </a:solidFill>
                          <a:latin typeface="Calibri" pitchFamily="34" charset="0"/>
                          <a:ea typeface="Calibri" pitchFamily="34" charset="-122"/>
                          <a:cs typeface="Calibri" pitchFamily="34" charset="-120"/>
                        </a:rPr>
                        <a:t>→ 6ヶ月間の縦断研究を計画</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9" name="Shape 5"/>
          <p:cNvSpPr/>
          <p:nvPr/>
        </p:nvSpPr>
        <p:spPr>
          <a:xfrm>
            <a:off x="457200" y="4160520"/>
            <a:ext cx="8229600" cy="502920"/>
          </a:xfrm>
          <a:prstGeom prst="roundRect">
            <a:avLst>
              <a:gd name="adj" fmla="val 9091"/>
            </a:avLst>
          </a:prstGeom>
          <a:solidFill>
            <a:srgbClr val="E8EEF6"/>
          </a:solidFill>
          <a:ln w="12700">
            <a:solidFill>
              <a:srgbClr val="3366AA"/>
            </a:solidFill>
            <a:prstDash val="solid"/>
          </a:ln>
        </p:spPr>
        <p:txBody>
          <a:bodyPr/>
          <a:lstStyle/>
          <a:p>
            <a:endParaRPr lang="ja-JP" altLang="en-US"/>
          </a:p>
        </p:txBody>
      </p:sp>
      <p:sp>
        <p:nvSpPr>
          <p:cNvPr id="10" name="Text 6"/>
          <p:cNvSpPr/>
          <p:nvPr/>
        </p:nvSpPr>
        <p:spPr>
          <a:xfrm>
            <a:off x="640080" y="4160520"/>
            <a:ext cx="7863840" cy="502920"/>
          </a:xfrm>
          <a:prstGeom prst="rect">
            <a:avLst/>
          </a:prstGeom>
          <a:noFill/>
          <a:ln/>
        </p:spPr>
        <p:txBody>
          <a:bodyPr wrap="square" lIns="0" tIns="0" rIns="0" bIns="0" rtlCol="0" anchor="ctr"/>
          <a:lstStyle/>
          <a:p>
            <a:pPr marL="0" indent="0">
              <a:buNone/>
            </a:pPr>
            <a:r>
              <a:rPr lang="en-US" sz="1300" b="1" dirty="0">
                <a:solidFill>
                  <a:srgbClr val="3366AA"/>
                </a:solidFill>
                <a:latin typeface="Calibri" pitchFamily="34" charset="0"/>
                <a:ea typeface="Calibri" pitchFamily="34" charset="-122"/>
                <a:cs typeface="Calibri" pitchFamily="34" charset="-120"/>
              </a:rPr>
              <a:t>→ 制限事項はあるが、日常的意思決定における後悔予測の実現可能性を示した</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今後の展望</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23/25</a:t>
            </a:r>
            <a:endParaRPr lang="en-US" sz="1100" dirty="0"/>
          </a:p>
        </p:txBody>
      </p:sp>
      <p:sp>
        <p:nvSpPr>
          <p:cNvPr id="5" name="Shape 3"/>
          <p:cNvSpPr/>
          <p:nvPr/>
        </p:nvSpPr>
        <p:spPr>
          <a:xfrm>
            <a:off x="3200400" y="914400"/>
            <a:ext cx="2743200" cy="640080"/>
          </a:xfrm>
          <a:prstGeom prst="roundRect">
            <a:avLst>
              <a:gd name="adj" fmla="val 11429"/>
            </a:avLst>
          </a:prstGeom>
          <a:solidFill>
            <a:srgbClr val="D6E4F0"/>
          </a:solidFill>
          <a:ln w="19050">
            <a:solidFill>
              <a:srgbClr val="3366AA"/>
            </a:solidFill>
            <a:prstDash val="solid"/>
          </a:ln>
        </p:spPr>
        <p:txBody>
          <a:bodyPr/>
          <a:lstStyle/>
          <a:p>
            <a:endParaRPr lang="ja-JP" altLang="en-US"/>
          </a:p>
        </p:txBody>
      </p:sp>
      <p:sp>
        <p:nvSpPr>
          <p:cNvPr id="6" name="Text 4"/>
          <p:cNvSpPr/>
          <p:nvPr/>
        </p:nvSpPr>
        <p:spPr>
          <a:xfrm>
            <a:off x="3200400" y="914400"/>
            <a:ext cx="2743200" cy="640080"/>
          </a:xfrm>
          <a:prstGeom prst="rect">
            <a:avLst/>
          </a:prstGeom>
          <a:noFill/>
          <a:ln/>
        </p:spPr>
        <p:txBody>
          <a:bodyPr wrap="square" lIns="0" tIns="0" rIns="0" bIns="0" rtlCol="0" anchor="ctr"/>
          <a:lstStyle/>
          <a:p>
            <a:pPr marL="0" indent="0" algn="ctr">
              <a:buNone/>
            </a:pPr>
            <a:r>
              <a:rPr lang="en-US" sz="1200" b="1" dirty="0" err="1">
                <a:solidFill>
                  <a:srgbClr val="1A1A1A"/>
                </a:solidFill>
                <a:latin typeface="Calibri" pitchFamily="34" charset="0"/>
                <a:ea typeface="Calibri" pitchFamily="34" charset="-122"/>
                <a:cs typeface="Calibri" pitchFamily="34" charset="-120"/>
              </a:rPr>
              <a:t>現行版</a:t>
            </a:r>
            <a:endParaRPr lang="en-US" sz="1200" dirty="0"/>
          </a:p>
        </p:txBody>
      </p:sp>
      <p:sp>
        <p:nvSpPr>
          <p:cNvPr id="7" name="Shape 5"/>
          <p:cNvSpPr/>
          <p:nvPr/>
        </p:nvSpPr>
        <p:spPr>
          <a:xfrm>
            <a:off x="457200" y="2286000"/>
            <a:ext cx="2560320" cy="2011680"/>
          </a:xfrm>
          <a:prstGeom prst="roundRect">
            <a:avLst>
              <a:gd name="adj" fmla="val 3636"/>
            </a:avLst>
          </a:prstGeom>
          <a:solidFill>
            <a:srgbClr val="E8F5E9"/>
          </a:solidFill>
          <a:ln w="19050">
            <a:solidFill>
              <a:srgbClr val="388E3C"/>
            </a:solidFill>
            <a:prstDash val="solid"/>
          </a:ln>
        </p:spPr>
        <p:txBody>
          <a:bodyPr/>
          <a:lstStyle/>
          <a:p>
            <a:endParaRPr lang="ja-JP" altLang="en-US"/>
          </a:p>
        </p:txBody>
      </p:sp>
      <p:sp>
        <p:nvSpPr>
          <p:cNvPr id="8" name="Text 6"/>
          <p:cNvSpPr/>
          <p:nvPr/>
        </p:nvSpPr>
        <p:spPr>
          <a:xfrm>
            <a:off x="457200" y="2286000"/>
            <a:ext cx="2560320" cy="2011680"/>
          </a:xfrm>
          <a:prstGeom prst="rect">
            <a:avLst/>
          </a:prstGeom>
          <a:noFill/>
          <a:ln/>
        </p:spPr>
        <p:txBody>
          <a:bodyPr wrap="square" lIns="0" tIns="0" rIns="0" bIns="0" rtlCol="0" anchor="ctr"/>
          <a:lstStyle/>
          <a:p>
            <a:pPr marL="0" indent="0" algn="ctr">
              <a:buNone/>
            </a:pPr>
            <a:endParaRPr lang="en-US" sz="1100" dirty="0"/>
          </a:p>
        </p:txBody>
      </p:sp>
      <p:sp>
        <p:nvSpPr>
          <p:cNvPr id="9" name="Text 7"/>
          <p:cNvSpPr/>
          <p:nvPr/>
        </p:nvSpPr>
        <p:spPr>
          <a:xfrm>
            <a:off x="594360" y="2423160"/>
            <a:ext cx="2286000" cy="1737360"/>
          </a:xfrm>
          <a:prstGeom prst="rect">
            <a:avLst/>
          </a:prstGeom>
          <a:noFill/>
          <a:ln/>
        </p:spPr>
        <p:txBody>
          <a:bodyPr wrap="square" lIns="0" tIns="0" rIns="0" bIns="0" rtlCol="0" anchor="t"/>
          <a:lstStyle/>
          <a:p>
            <a:pPr marL="0" indent="0">
              <a:lnSpc>
                <a:spcPct val="140000"/>
              </a:lnSpc>
              <a:buNone/>
            </a:pPr>
            <a:r>
              <a:rPr lang="en-US" sz="1400" b="1" dirty="0">
                <a:solidFill>
                  <a:srgbClr val="1A1A1A"/>
                </a:solidFill>
                <a:latin typeface="Calibri" pitchFamily="34" charset="0"/>
                <a:ea typeface="Calibri" pitchFamily="34" charset="-122"/>
                <a:cs typeface="Calibri" pitchFamily="34" charset="-120"/>
              </a:rPr>
              <a:t>マルチユーザー対応</a:t>
            </a:r>
            <a:endParaRPr lang="en-US" sz="1400" dirty="0"/>
          </a:p>
          <a:p>
            <a:pPr marL="0" indent="0">
              <a:lnSpc>
                <a:spcPct val="140000"/>
              </a:lnSpc>
              <a:buNone/>
            </a:pP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協調フィルタリング導入</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類似ユーザーの知見活用</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コールドスタート問題の緩和</a:t>
            </a:r>
            <a:endParaRPr lang="en-US" sz="1400" dirty="0"/>
          </a:p>
        </p:txBody>
      </p:sp>
      <p:sp>
        <p:nvSpPr>
          <p:cNvPr id="10" name="Shape 8"/>
          <p:cNvSpPr/>
          <p:nvPr/>
        </p:nvSpPr>
        <p:spPr>
          <a:xfrm>
            <a:off x="4572000" y="1554480"/>
            <a:ext cx="0" cy="731520"/>
          </a:xfrm>
          <a:prstGeom prst="line">
            <a:avLst/>
          </a:prstGeom>
          <a:noFill/>
          <a:ln w="25400">
            <a:solidFill>
              <a:srgbClr val="3366AA"/>
            </a:solidFill>
            <a:prstDash val="solid"/>
          </a:ln>
        </p:spPr>
        <p:txBody>
          <a:bodyPr/>
          <a:lstStyle/>
          <a:p>
            <a:endParaRPr lang="ja-JP" altLang="en-US"/>
          </a:p>
        </p:txBody>
      </p:sp>
      <p:sp>
        <p:nvSpPr>
          <p:cNvPr id="11" name="Shape 9"/>
          <p:cNvSpPr/>
          <p:nvPr/>
        </p:nvSpPr>
        <p:spPr>
          <a:xfrm>
            <a:off x="3383280" y="2286000"/>
            <a:ext cx="2560320" cy="2011680"/>
          </a:xfrm>
          <a:prstGeom prst="roundRect">
            <a:avLst>
              <a:gd name="adj" fmla="val 3636"/>
            </a:avLst>
          </a:prstGeom>
          <a:solidFill>
            <a:srgbClr val="E8EEF6"/>
          </a:solidFill>
          <a:ln w="19050">
            <a:solidFill>
              <a:srgbClr val="3366AA"/>
            </a:solidFill>
            <a:prstDash val="solid"/>
          </a:ln>
        </p:spPr>
        <p:txBody>
          <a:bodyPr/>
          <a:lstStyle/>
          <a:p>
            <a:endParaRPr lang="ja-JP" altLang="en-US"/>
          </a:p>
        </p:txBody>
      </p:sp>
      <p:sp>
        <p:nvSpPr>
          <p:cNvPr id="12" name="Text 10"/>
          <p:cNvSpPr/>
          <p:nvPr/>
        </p:nvSpPr>
        <p:spPr>
          <a:xfrm>
            <a:off x="3383280" y="2286000"/>
            <a:ext cx="2560320" cy="2011680"/>
          </a:xfrm>
          <a:prstGeom prst="rect">
            <a:avLst/>
          </a:prstGeom>
          <a:noFill/>
          <a:ln/>
        </p:spPr>
        <p:txBody>
          <a:bodyPr wrap="square" lIns="0" tIns="0" rIns="0" bIns="0" rtlCol="0" anchor="ctr"/>
          <a:lstStyle/>
          <a:p>
            <a:pPr marL="0" indent="0" algn="ctr">
              <a:buNone/>
            </a:pPr>
            <a:endParaRPr lang="en-US" sz="1100" dirty="0"/>
          </a:p>
        </p:txBody>
      </p:sp>
      <p:sp>
        <p:nvSpPr>
          <p:cNvPr id="13" name="Text 11"/>
          <p:cNvSpPr/>
          <p:nvPr/>
        </p:nvSpPr>
        <p:spPr>
          <a:xfrm>
            <a:off x="3520440" y="2423160"/>
            <a:ext cx="2286000" cy="1737360"/>
          </a:xfrm>
          <a:prstGeom prst="rect">
            <a:avLst/>
          </a:prstGeom>
          <a:noFill/>
          <a:ln/>
        </p:spPr>
        <p:txBody>
          <a:bodyPr wrap="square" lIns="0" tIns="0" rIns="0" bIns="0" rtlCol="0" anchor="t"/>
          <a:lstStyle/>
          <a:p>
            <a:pPr marL="0" indent="0">
              <a:lnSpc>
                <a:spcPct val="140000"/>
              </a:lnSpc>
              <a:buNone/>
            </a:pPr>
            <a:r>
              <a:rPr lang="en-US" sz="1400" b="1" dirty="0">
                <a:solidFill>
                  <a:srgbClr val="1A1A1A"/>
                </a:solidFill>
                <a:latin typeface="Calibri" pitchFamily="34" charset="0"/>
                <a:ea typeface="Calibri" pitchFamily="34" charset="-122"/>
                <a:cs typeface="Calibri" pitchFamily="34" charset="-120"/>
              </a:rPr>
              <a:t>時系列モデル導入</a:t>
            </a:r>
            <a:endParaRPr lang="en-US" sz="1400" dirty="0"/>
          </a:p>
          <a:p>
            <a:pPr marL="0" indent="0">
              <a:lnSpc>
                <a:spcPct val="140000"/>
              </a:lnSpc>
              <a:buNone/>
            </a:pP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LSTM / GRU による</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意思決定遷移パターン捕捉</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長期的な後悔傾向の予測</a:t>
            </a:r>
            <a:endParaRPr lang="en-US" sz="1400" dirty="0"/>
          </a:p>
        </p:txBody>
      </p:sp>
      <p:sp>
        <p:nvSpPr>
          <p:cNvPr id="14" name="Shape 12"/>
          <p:cNvSpPr/>
          <p:nvPr/>
        </p:nvSpPr>
        <p:spPr>
          <a:xfrm>
            <a:off x="6309360" y="2286000"/>
            <a:ext cx="2560320" cy="2011680"/>
          </a:xfrm>
          <a:prstGeom prst="roundRect">
            <a:avLst>
              <a:gd name="adj" fmla="val 3636"/>
            </a:avLst>
          </a:prstGeom>
          <a:solidFill>
            <a:srgbClr val="F3E5F5"/>
          </a:solidFill>
          <a:ln w="19050">
            <a:solidFill>
              <a:srgbClr val="7B1FA2"/>
            </a:solidFill>
            <a:prstDash val="solid"/>
          </a:ln>
        </p:spPr>
        <p:txBody>
          <a:bodyPr/>
          <a:lstStyle/>
          <a:p>
            <a:endParaRPr lang="ja-JP" altLang="en-US"/>
          </a:p>
        </p:txBody>
      </p:sp>
      <p:sp>
        <p:nvSpPr>
          <p:cNvPr id="15" name="Text 13"/>
          <p:cNvSpPr/>
          <p:nvPr/>
        </p:nvSpPr>
        <p:spPr>
          <a:xfrm>
            <a:off x="6309360" y="2286000"/>
            <a:ext cx="2560320" cy="2011680"/>
          </a:xfrm>
          <a:prstGeom prst="rect">
            <a:avLst/>
          </a:prstGeom>
          <a:noFill/>
          <a:ln/>
        </p:spPr>
        <p:txBody>
          <a:bodyPr wrap="square" lIns="0" tIns="0" rIns="0" bIns="0" rtlCol="0" anchor="ctr"/>
          <a:lstStyle/>
          <a:p>
            <a:pPr marL="0" indent="0" algn="ctr">
              <a:buNone/>
            </a:pPr>
            <a:endParaRPr lang="en-US" sz="1100" dirty="0"/>
          </a:p>
        </p:txBody>
      </p:sp>
      <p:sp>
        <p:nvSpPr>
          <p:cNvPr id="16" name="Text 14"/>
          <p:cNvSpPr/>
          <p:nvPr/>
        </p:nvSpPr>
        <p:spPr>
          <a:xfrm>
            <a:off x="6446520" y="2423160"/>
            <a:ext cx="2286000" cy="1737360"/>
          </a:xfrm>
          <a:prstGeom prst="rect">
            <a:avLst/>
          </a:prstGeom>
          <a:noFill/>
          <a:ln/>
        </p:spPr>
        <p:txBody>
          <a:bodyPr wrap="square" lIns="0" tIns="0" rIns="0" bIns="0" rtlCol="0" anchor="t"/>
          <a:lstStyle/>
          <a:p>
            <a:pPr marL="0" indent="0">
              <a:lnSpc>
                <a:spcPct val="140000"/>
              </a:lnSpc>
              <a:buNone/>
            </a:pPr>
            <a:r>
              <a:rPr lang="en-US" sz="1400" b="1" dirty="0">
                <a:solidFill>
                  <a:srgbClr val="1A1A1A"/>
                </a:solidFill>
                <a:latin typeface="Calibri" pitchFamily="34" charset="0"/>
                <a:ea typeface="Calibri" pitchFamily="34" charset="-122"/>
                <a:cs typeface="Calibri" pitchFamily="34" charset="-120"/>
              </a:rPr>
              <a:t>反実仮想説明の強化</a:t>
            </a:r>
            <a:endParaRPr lang="en-US" sz="1400" dirty="0"/>
          </a:p>
          <a:p>
            <a:pPr marL="0" indent="0">
              <a:lnSpc>
                <a:spcPct val="140000"/>
              </a:lnSpc>
              <a:buNone/>
            </a:pP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「もしストレスが低ければ」</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 スコア変化を提示</a:t>
            </a:r>
            <a:endParaRPr lang="en-US" sz="1400" dirty="0"/>
          </a:p>
          <a:p>
            <a:pPr marL="0" indent="0">
              <a:lnSpc>
                <a:spcPct val="140000"/>
              </a:lnSpc>
              <a:buNone/>
            </a:pPr>
            <a:r>
              <a:rPr lang="en-US" sz="1200" dirty="0">
                <a:solidFill>
                  <a:srgbClr val="888888"/>
                </a:solidFill>
                <a:latin typeface="Calibri" pitchFamily="34" charset="0"/>
                <a:ea typeface="Calibri" pitchFamily="34" charset="-122"/>
                <a:cs typeface="Calibri" pitchFamily="34" charset="-120"/>
              </a:rPr>
              <a:t>ユーザー理解の促進</a:t>
            </a:r>
            <a:endParaRPr lang="en-US" sz="1400" dirty="0"/>
          </a:p>
        </p:txBody>
      </p:sp>
      <p:sp>
        <p:nvSpPr>
          <p:cNvPr id="17" name="Shape 15"/>
          <p:cNvSpPr/>
          <p:nvPr/>
        </p:nvSpPr>
        <p:spPr>
          <a:xfrm>
            <a:off x="1737360" y="2011680"/>
            <a:ext cx="2841567" cy="0"/>
          </a:xfrm>
          <a:prstGeom prst="line">
            <a:avLst/>
          </a:prstGeom>
          <a:noFill/>
          <a:ln w="19050">
            <a:solidFill>
              <a:srgbClr val="3366AA"/>
            </a:solidFill>
            <a:prstDash val="solid"/>
          </a:ln>
        </p:spPr>
        <p:txBody>
          <a:bodyPr/>
          <a:lstStyle/>
          <a:p>
            <a:endParaRPr lang="ja-JP" altLang="en-US"/>
          </a:p>
        </p:txBody>
      </p:sp>
      <p:sp>
        <p:nvSpPr>
          <p:cNvPr id="18" name="Shape 16"/>
          <p:cNvSpPr/>
          <p:nvPr/>
        </p:nvSpPr>
        <p:spPr>
          <a:xfrm>
            <a:off x="4578927" y="2011680"/>
            <a:ext cx="3017520" cy="0"/>
          </a:xfrm>
          <a:prstGeom prst="line">
            <a:avLst/>
          </a:prstGeom>
          <a:noFill/>
          <a:ln w="19050">
            <a:solidFill>
              <a:srgbClr val="3366AA"/>
            </a:solidFill>
            <a:prstDash val="solid"/>
          </a:ln>
        </p:spPr>
        <p:txBody>
          <a:bodyPr/>
          <a:lstStyle/>
          <a:p>
            <a:endParaRPr lang="ja-JP" altLang="en-US"/>
          </a:p>
        </p:txBody>
      </p:sp>
      <p:sp>
        <p:nvSpPr>
          <p:cNvPr id="19" name="Shape 17"/>
          <p:cNvSpPr/>
          <p:nvPr/>
        </p:nvSpPr>
        <p:spPr>
          <a:xfrm>
            <a:off x="1737360" y="2011680"/>
            <a:ext cx="0" cy="274320"/>
          </a:xfrm>
          <a:prstGeom prst="line">
            <a:avLst/>
          </a:prstGeom>
          <a:noFill/>
          <a:ln w="19050">
            <a:solidFill>
              <a:srgbClr val="3366AA"/>
            </a:solidFill>
            <a:prstDash val="solid"/>
          </a:ln>
        </p:spPr>
        <p:txBody>
          <a:bodyPr/>
          <a:lstStyle/>
          <a:p>
            <a:endParaRPr lang="ja-JP" altLang="en-US"/>
          </a:p>
        </p:txBody>
      </p:sp>
      <p:sp>
        <p:nvSpPr>
          <p:cNvPr id="20" name="Shape 18"/>
          <p:cNvSpPr/>
          <p:nvPr/>
        </p:nvSpPr>
        <p:spPr>
          <a:xfrm>
            <a:off x="7589520" y="2011680"/>
            <a:ext cx="0" cy="274320"/>
          </a:xfrm>
          <a:prstGeom prst="line">
            <a:avLst/>
          </a:prstGeom>
          <a:noFill/>
          <a:ln w="19050">
            <a:solidFill>
              <a:srgbClr val="3366AA"/>
            </a:solidFill>
            <a:prstDash val="solid"/>
          </a:ln>
        </p:spPr>
        <p:txBody>
          <a:bodyPr/>
          <a:lstStyle/>
          <a:p>
            <a:endParaRPr lang="ja-JP" altLang="en-US"/>
          </a:p>
        </p:txBody>
      </p:sp>
      <p:sp>
        <p:nvSpPr>
          <p:cNvPr id="999" name="Citation"/>
          <p:cNvSpPr txBox="1"/>
          <p:nvPr/>
        </p:nvSpPr>
        <p:spPr>
          <a:xfrm>
            <a:off x="274320" y="4709160"/>
            <a:ext cx="8595360" cy="320040"/>
          </a:xfrm>
          <a:prstGeom prst="rect">
            <a:avLst/>
          </a:prstGeom>
          <a:noFill/>
        </p:spPr>
        <p:txBody>
          <a:bodyPr wrap="square" lIns="0" tIns="0" rIns="0" bIns="0" anchor="b"/>
          <a:lstStyle/>
          <a:p>
            <a:pPr algn="l"/>
            <a:r>
              <a:rPr lang="ja-JP" altLang="en-US" sz="800" i="1" dirty="0">
                <a:solidFill>
                  <a:srgbClr val="666666"/>
                </a:solidFill>
                <a:latin typeface="Calibri"/>
                <a:ea typeface="Yu Gothic"/>
              </a:rPr>
              <a:t>[7] Finn et al. (2017) - MAML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err="1">
                <a:solidFill>
                  <a:srgbClr val="3366AA"/>
                </a:solidFill>
                <a:latin typeface="Calibri" pitchFamily="34" charset="0"/>
                <a:ea typeface="Calibri" pitchFamily="34" charset="-122"/>
                <a:cs typeface="Calibri" pitchFamily="34" charset="-120"/>
              </a:rPr>
              <a:t>結論</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24/25</a:t>
            </a:r>
            <a:endParaRPr lang="en-US" sz="1100" dirty="0"/>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研究課題への回答</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212848"/>
        </p:xfrm>
        <a:graphic>
          <a:graphicData uri="http://schemas.openxmlformats.org/drawingml/2006/table">
            <a:tbl>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9260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RQ</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問い</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回答・知見</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64008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RQ1</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コンテキスト情報を含む特徴量から</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後悔は予測可能か</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18次元特徴量でMLモデルが</a:t>
                      </a:r>
                      <a:endParaRPr lang="en-US" sz="1100" dirty="0">
                        <a:latin typeface="Calibri" charset="0"/>
                        <a:ea typeface="Calibri" charset="0"/>
                        <a:cs typeface="Calibri" charset="0"/>
                      </a:endParaRPr>
                    </a:p>
                    <a:p>
                      <a:pPr marL="0" indent="0" algn="l">
                        <a:buNone/>
                      </a:pPr>
                      <a:r>
                        <a:rPr lang="en-US" sz="1100" b="1" dirty="0">
                          <a:solidFill>
                            <a:srgbClr val="2E7D32"/>
                          </a:solidFill>
                          <a:latin typeface="Calibri" pitchFamily="34" charset="0"/>
                          <a:ea typeface="Calibri" pitchFamily="34" charset="-122"/>
                          <a:cs typeface="Calibri" pitchFamily="34" charset="-120"/>
                        </a:rPr>
                        <a:t>ルールベースを上回る精度を達成</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RQ2</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個人差を適応的特徴量選択で</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定量化できるか</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SHAP分析で個人ごとの重要特徴量を</a:t>
                      </a:r>
                      <a:endParaRPr lang="en-US" sz="1100" dirty="0">
                        <a:latin typeface="Calibri" charset="0"/>
                        <a:ea typeface="Calibri" charset="0"/>
                        <a:cs typeface="Calibri" charset="0"/>
                      </a:endParaRPr>
                    </a:p>
                    <a:p>
                      <a:pPr marL="0" indent="0" algn="l">
                        <a:buNone/>
                      </a:pPr>
                      <a:r>
                        <a:rPr lang="en-US" sz="1100" b="1" dirty="0">
                          <a:solidFill>
                            <a:srgbClr val="2E7D32"/>
                          </a:solidFill>
                          <a:latin typeface="Calibri" pitchFamily="34" charset="0"/>
                          <a:ea typeface="Calibri" pitchFamily="34" charset="-122"/>
                          <a:cs typeface="Calibri" pitchFamily="34" charset="-120"/>
                        </a:rPr>
                        <a:t>特定、18→12次元で精度維持</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640080">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RQ3</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ML vs ルールベースの</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精度差はどの程度か</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MAE, RMSE ともにRFが優位</a:t>
                      </a:r>
                      <a:endParaRPr lang="en-US" sz="1100" dirty="0">
                        <a:latin typeface="Calibri" charset="0"/>
                        <a:ea typeface="Calibri" charset="0"/>
                        <a:cs typeface="Calibri" charset="0"/>
                      </a:endParaRPr>
                    </a:p>
                    <a:p>
                      <a:pPr marL="0" indent="0" algn="l">
                        <a:buNone/>
                      </a:pPr>
                      <a:r>
                        <a:rPr lang="en-US" sz="1100" b="1" dirty="0">
                          <a:solidFill>
                            <a:srgbClr val="2E7D32"/>
                          </a:solidFill>
                          <a:latin typeface="Calibri" pitchFamily="34" charset="0"/>
                          <a:ea typeface="Calibri" pitchFamily="34" charset="-122"/>
                          <a:cs typeface="Calibri" pitchFamily="34" charset="-120"/>
                        </a:rPr>
                        <a:t>特に履歴特徴量追加で大幅改善</a:t>
                      </a:r>
                      <a:endParaRPr lang="en-US" sz="11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5"/>
          <p:cNvSpPr/>
          <p:nvPr/>
        </p:nvSpPr>
        <p:spPr>
          <a:xfrm>
            <a:off x="457200" y="3611880"/>
            <a:ext cx="2606040" cy="868680"/>
          </a:xfrm>
          <a:prstGeom prst="roundRect">
            <a:avLst>
              <a:gd name="adj" fmla="val 8421"/>
            </a:avLst>
          </a:prstGeom>
          <a:solidFill>
            <a:srgbClr val="E8EEF6"/>
          </a:solidFill>
          <a:ln w="19050">
            <a:solidFill>
              <a:srgbClr val="3366AA"/>
            </a:solidFill>
            <a:prstDash val="solid"/>
          </a:ln>
        </p:spPr>
        <p:txBody>
          <a:bodyPr/>
          <a:lstStyle/>
          <a:p>
            <a:endParaRPr lang="ja-JP" altLang="en-US"/>
          </a:p>
        </p:txBody>
      </p:sp>
      <p:sp>
        <p:nvSpPr>
          <p:cNvPr id="9" name="Text 6"/>
          <p:cNvSpPr/>
          <p:nvPr/>
        </p:nvSpPr>
        <p:spPr>
          <a:xfrm>
            <a:off x="457200" y="3611880"/>
            <a:ext cx="2606040" cy="868680"/>
          </a:xfrm>
          <a:prstGeom prst="rect">
            <a:avLst/>
          </a:prstGeom>
          <a:noFill/>
          <a:ln/>
        </p:spPr>
        <p:txBody>
          <a:bodyPr wrap="square" lIns="0" tIns="0" rIns="0" bIns="0" rtlCol="0" anchor="ctr"/>
          <a:lstStyle/>
          <a:p>
            <a:pPr marL="0" indent="0" algn="ctr">
              <a:buNone/>
            </a:pPr>
            <a:endParaRPr lang="en-US" sz="1100" dirty="0"/>
          </a:p>
        </p:txBody>
      </p:sp>
      <p:sp>
        <p:nvSpPr>
          <p:cNvPr id="10" name="Text 7"/>
          <p:cNvSpPr/>
          <p:nvPr/>
        </p:nvSpPr>
        <p:spPr>
          <a:xfrm>
            <a:off x="594360" y="3657600"/>
            <a:ext cx="2331720" cy="77724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新規性</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日常的意思決定の後悔予測に</a:t>
            </a:r>
            <a:endParaRPr lang="en-US" sz="1400" dirty="0"/>
          </a:p>
          <a:p>
            <a:pPr marL="0" indent="0">
              <a:lnSpc>
                <a:spcPct val="130000"/>
              </a:lnSpc>
              <a:buNone/>
            </a:pPr>
            <a:r>
              <a:rPr lang="en-US" sz="1100" dirty="0" err="1">
                <a:solidFill>
                  <a:srgbClr val="888888"/>
                </a:solidFill>
                <a:latin typeface="Calibri" pitchFamily="34" charset="0"/>
                <a:ea typeface="Calibri" pitchFamily="34" charset="-122"/>
                <a:cs typeface="Calibri" pitchFamily="34" charset="-120"/>
              </a:rPr>
              <a:t>特化した統合フレームワーク</a:t>
            </a:r>
            <a:endParaRPr lang="en-US" sz="1400" dirty="0"/>
          </a:p>
        </p:txBody>
      </p:sp>
      <p:sp>
        <p:nvSpPr>
          <p:cNvPr id="11" name="Shape 8"/>
          <p:cNvSpPr/>
          <p:nvPr/>
        </p:nvSpPr>
        <p:spPr>
          <a:xfrm>
            <a:off x="3337560" y="3611880"/>
            <a:ext cx="2606040" cy="868680"/>
          </a:xfrm>
          <a:prstGeom prst="roundRect">
            <a:avLst>
              <a:gd name="adj" fmla="val 8421"/>
            </a:avLst>
          </a:prstGeom>
          <a:solidFill>
            <a:srgbClr val="E8F5E9"/>
          </a:solidFill>
          <a:ln w="19050">
            <a:solidFill>
              <a:srgbClr val="3366AA"/>
            </a:solidFill>
            <a:prstDash val="solid"/>
          </a:ln>
        </p:spPr>
        <p:txBody>
          <a:bodyPr/>
          <a:lstStyle/>
          <a:p>
            <a:endParaRPr lang="ja-JP" altLang="en-US"/>
          </a:p>
        </p:txBody>
      </p:sp>
      <p:sp>
        <p:nvSpPr>
          <p:cNvPr id="12" name="Text 9"/>
          <p:cNvSpPr/>
          <p:nvPr/>
        </p:nvSpPr>
        <p:spPr>
          <a:xfrm>
            <a:off x="3337560" y="3611880"/>
            <a:ext cx="2606040" cy="868680"/>
          </a:xfrm>
          <a:prstGeom prst="rect">
            <a:avLst/>
          </a:prstGeom>
          <a:noFill/>
          <a:ln/>
        </p:spPr>
        <p:txBody>
          <a:bodyPr wrap="square" lIns="0" tIns="0" rIns="0" bIns="0" rtlCol="0" anchor="ctr"/>
          <a:lstStyle/>
          <a:p>
            <a:pPr marL="0" indent="0" algn="ctr">
              <a:buNone/>
            </a:pPr>
            <a:endParaRPr lang="en-US" sz="1100" dirty="0"/>
          </a:p>
        </p:txBody>
      </p:sp>
      <p:sp>
        <p:nvSpPr>
          <p:cNvPr id="13" name="Text 10"/>
          <p:cNvSpPr/>
          <p:nvPr/>
        </p:nvSpPr>
        <p:spPr>
          <a:xfrm>
            <a:off x="3474720" y="3657600"/>
            <a:ext cx="2331720" cy="77724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実用性</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コールドスタート対応の</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ハイブリッド設計で即座に提供</a:t>
            </a:r>
            <a:endParaRPr lang="en-US" sz="1400" dirty="0"/>
          </a:p>
        </p:txBody>
      </p:sp>
      <p:sp>
        <p:nvSpPr>
          <p:cNvPr id="14" name="Shape 11"/>
          <p:cNvSpPr/>
          <p:nvPr/>
        </p:nvSpPr>
        <p:spPr>
          <a:xfrm>
            <a:off x="6217920" y="3611880"/>
            <a:ext cx="2606040" cy="868680"/>
          </a:xfrm>
          <a:prstGeom prst="roundRect">
            <a:avLst>
              <a:gd name="adj" fmla="val 8421"/>
            </a:avLst>
          </a:prstGeom>
          <a:solidFill>
            <a:srgbClr val="FFF3E0"/>
          </a:solidFill>
          <a:ln w="19050">
            <a:solidFill>
              <a:srgbClr val="3366AA"/>
            </a:solidFill>
            <a:prstDash val="solid"/>
          </a:ln>
        </p:spPr>
        <p:txBody>
          <a:bodyPr/>
          <a:lstStyle/>
          <a:p>
            <a:endParaRPr lang="ja-JP" altLang="en-US"/>
          </a:p>
        </p:txBody>
      </p:sp>
      <p:sp>
        <p:nvSpPr>
          <p:cNvPr id="15" name="Text 12"/>
          <p:cNvSpPr/>
          <p:nvPr/>
        </p:nvSpPr>
        <p:spPr>
          <a:xfrm>
            <a:off x="6217920" y="3611880"/>
            <a:ext cx="2606040" cy="868680"/>
          </a:xfrm>
          <a:prstGeom prst="rect">
            <a:avLst/>
          </a:prstGeom>
          <a:noFill/>
          <a:ln/>
        </p:spPr>
        <p:txBody>
          <a:bodyPr wrap="square" lIns="0" tIns="0" rIns="0" bIns="0" rtlCol="0" anchor="ctr"/>
          <a:lstStyle/>
          <a:p>
            <a:pPr marL="0" indent="0" algn="ctr">
              <a:buNone/>
            </a:pPr>
            <a:endParaRPr lang="en-US" sz="1100" dirty="0"/>
          </a:p>
        </p:txBody>
      </p:sp>
      <p:sp>
        <p:nvSpPr>
          <p:cNvPr id="16" name="Text 13"/>
          <p:cNvSpPr/>
          <p:nvPr/>
        </p:nvSpPr>
        <p:spPr>
          <a:xfrm>
            <a:off x="6355080" y="3657600"/>
            <a:ext cx="2331720" cy="777240"/>
          </a:xfrm>
          <a:prstGeom prst="rect">
            <a:avLst/>
          </a:prstGeom>
          <a:noFill/>
          <a:ln/>
        </p:spPr>
        <p:txBody>
          <a:bodyPr wrap="square" lIns="0" tIns="0" rIns="0" bIns="0" rtlCol="0" anchor="t"/>
          <a:lstStyle/>
          <a:p>
            <a:pPr marL="0" indent="0">
              <a:lnSpc>
                <a:spcPct val="130000"/>
              </a:lnSpc>
              <a:buNone/>
            </a:pPr>
            <a:r>
              <a:rPr lang="en-US" sz="1400" b="1" dirty="0">
                <a:solidFill>
                  <a:srgbClr val="1A1A1A"/>
                </a:solidFill>
                <a:latin typeface="Calibri" pitchFamily="34" charset="0"/>
                <a:ea typeface="Calibri" pitchFamily="34" charset="-122"/>
                <a:cs typeface="Calibri" pitchFamily="34" charset="-120"/>
              </a:rPr>
              <a:t>再現性</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オープンソース実装</a:t>
            </a:r>
            <a:endParaRPr lang="en-US" sz="1400" dirty="0"/>
          </a:p>
          <a:p>
            <a:pPr marL="0" indent="0">
              <a:lnSpc>
                <a:spcPct val="130000"/>
              </a:lnSpc>
              <a:buNone/>
            </a:pPr>
            <a:r>
              <a:rPr lang="en-US" sz="1100" dirty="0">
                <a:solidFill>
                  <a:srgbClr val="888888"/>
                </a:solidFill>
                <a:latin typeface="Calibri" pitchFamily="34" charset="0"/>
                <a:ea typeface="Calibri" pitchFamily="34" charset="-122"/>
                <a:cs typeface="Calibri" pitchFamily="34" charset="-120"/>
              </a:rPr>
              <a:t>時系列CVでリーケージ防止</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buNone/>
            </a:pPr>
            <a:r>
              <a:rPr lang="en-US" sz="2000" b="1" dirty="0">
                <a:solidFill>
                  <a:srgbClr val="3366AA"/>
                </a:solidFill>
                <a:latin typeface="Calibri" pitchFamily="34" charset="0"/>
                <a:ea typeface="Calibri" pitchFamily="34" charset="-122"/>
                <a:cs typeface="Calibri" pitchFamily="34" charset="-120"/>
              </a:rPr>
              <a:t>まとめ</a:t>
            </a:r>
            <a:endParaRPr lang="en-US" sz="2000" dirty="0"/>
          </a:p>
        </p:txBody>
      </p:sp>
      <p:sp>
        <p:nvSpPr>
          <p:cNvPr id="3" name="Shape 1"/>
          <p:cNvSpPr/>
          <p:nvPr/>
        </p:nvSpPr>
        <p:spPr>
          <a:xfrm>
            <a:off x="365760" y="685800"/>
            <a:ext cx="8412480" cy="0"/>
          </a:xfrm>
          <a:prstGeom prst="line">
            <a:avLst/>
          </a:prstGeom>
          <a:noFill/>
          <a:ln w="12700">
            <a:solidFill>
              <a:srgbClr val="333333"/>
            </a:solidFill>
            <a:prstDash val="solid"/>
          </a:ln>
        </p:spPr>
        <p:txBody>
          <a:bodyPr/>
          <a:lstStyle/>
          <a:p>
            <a:endParaRPr lang="ja-JP" altLang="en-US"/>
          </a:p>
        </p:txBody>
      </p:sp>
      <p:sp>
        <p:nvSpPr>
          <p:cNvPr id="4" name="Text 2"/>
          <p:cNvSpPr/>
          <p:nvPr/>
        </p:nvSpPr>
        <p:spPr>
          <a:xfrm>
            <a:off x="8046720" y="4754880"/>
            <a:ext cx="731520" cy="274320"/>
          </a:xfrm>
          <a:prstGeom prst="rect">
            <a:avLst/>
          </a:prstGeom>
          <a:noFill/>
          <a:ln/>
        </p:spPr>
        <p:txBody>
          <a:bodyPr wrap="square" lIns="0" tIns="0" rIns="0" bIns="0" rtlCol="0" anchor="b"/>
          <a:lstStyle/>
          <a:p>
            <a:pPr marL="0" indent="0" algn="r">
              <a:buNone/>
            </a:pPr>
            <a:r>
              <a:rPr lang="en-US" sz="1100" dirty="0">
                <a:solidFill>
                  <a:srgbClr val="888888"/>
                </a:solidFill>
                <a:latin typeface="Calibri" pitchFamily="34" charset="0"/>
                <a:ea typeface="Calibri" pitchFamily="34" charset="-122"/>
                <a:cs typeface="Calibri" pitchFamily="34" charset="-120"/>
              </a:rPr>
              <a:t>25/25</a:t>
            </a:r>
            <a:endParaRPr lang="en-US" sz="1100" dirty="0"/>
          </a:p>
        </p:txBody>
      </p:sp>
      <p:sp>
        <p:nvSpPr>
          <p:cNvPr id="5" name="Text 3"/>
          <p:cNvSpPr/>
          <p:nvPr/>
        </p:nvSpPr>
        <p:spPr>
          <a:xfrm>
            <a:off x="457200" y="868680"/>
            <a:ext cx="8229600" cy="365760"/>
          </a:xfrm>
          <a:prstGeom prst="rect">
            <a:avLst/>
          </a:prstGeom>
          <a:noFill/>
          <a:ln/>
        </p:spPr>
        <p:txBody>
          <a:bodyPr wrap="square" lIns="0" tIns="0" rIns="0" bIns="0" rtlCol="0" anchor="ctr"/>
          <a:lstStyle/>
          <a:p>
            <a:pPr marL="0" indent="0">
              <a:buNone/>
            </a:pPr>
            <a:r>
              <a:rPr lang="en-US" sz="1700" b="1" dirty="0" err="1">
                <a:solidFill>
                  <a:srgbClr val="1A1A1A"/>
                </a:solidFill>
                <a:latin typeface="Calibri" pitchFamily="34" charset="0"/>
                <a:ea typeface="Calibri" pitchFamily="34" charset="-122"/>
                <a:cs typeface="Calibri" pitchFamily="34" charset="-120"/>
              </a:rPr>
              <a:t>日常の意思決定における後悔を事前に予測するシステム</a:t>
            </a:r>
            <a:endParaRPr lang="en-US" sz="1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148840"/>
        </p:xfrm>
        <a:graphic>
          <a:graphicData uri="http://schemas.openxmlformats.org/drawingml/2006/table">
            <a:tbl>
              <a:tblPr/>
              <a:tblGrid>
                <a:gridCol w="16459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200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要素</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本研究のアプローチ</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成果</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366AA"/>
                    </a:solidFill>
                  </a:tcPr>
                </a:tc>
                <a:extLst>
                  <a:ext uri="{0D108BD9-81ED-4DB2-BD59-A6C34878D82A}">
                    <a16:rowId xmlns:a16="http://schemas.microsoft.com/office/drawing/2014/main" val="10000"/>
                  </a:ext>
                </a:extLst>
              </a:tr>
              <a:tr h="4572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特徴量設計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18次元（決定要因+コンテキスト+時間+履歴）</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行動経済学に基づく設計</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予測モデル</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RF + ルールベースハイブリッド</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コールドスタート対応</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572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特徴量選択</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SHAP等4手法で18→12次元</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個人最適化を実現</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評価</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時系列CV + RRR指標</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リーケージ防止を保証</a:t>
                      </a:r>
                      <a:endParaRPr lang="en-US" sz="1200" dirty="0">
                        <a:latin typeface="Calibri" charset="0"/>
                        <a:ea typeface="Calibri" charset="0"/>
                        <a:cs typeface="Calibr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3657600"/>
            <a:ext cx="8229600" cy="822960"/>
          </a:xfrm>
          <a:prstGeom prst="roundRect">
            <a:avLst>
              <a:gd name="adj" fmla="val 5556"/>
            </a:avLst>
          </a:prstGeom>
          <a:solidFill>
            <a:srgbClr val="E8EEF6"/>
          </a:solidFill>
          <a:ln w="19050">
            <a:solidFill>
              <a:srgbClr val="3366AA"/>
            </a:solidFill>
            <a:prstDash val="solid"/>
          </a:ln>
        </p:spPr>
        <p:txBody>
          <a:bodyPr/>
          <a:lstStyle/>
          <a:p>
            <a:endParaRPr lang="ja-JP" altLang="en-US"/>
          </a:p>
        </p:txBody>
      </p:sp>
      <p:sp>
        <p:nvSpPr>
          <p:cNvPr id="8" name="Text 5"/>
          <p:cNvSpPr/>
          <p:nvPr/>
        </p:nvSpPr>
        <p:spPr>
          <a:xfrm>
            <a:off x="640080" y="3703320"/>
            <a:ext cx="7863840" cy="731520"/>
          </a:xfrm>
          <a:prstGeom prst="rect">
            <a:avLst/>
          </a:prstGeom>
          <a:noFill/>
          <a:ln/>
        </p:spPr>
        <p:txBody>
          <a:bodyPr wrap="square" lIns="0" tIns="0" rIns="0" bIns="0" rtlCol="0" anchor="ctr"/>
          <a:lstStyle/>
          <a:p>
            <a:pPr marL="0" indent="0">
              <a:lnSpc>
                <a:spcPct val="150000"/>
              </a:lnSpc>
              <a:buNone/>
            </a:pPr>
            <a:r>
              <a:rPr lang="en-US" sz="1500" b="1" dirty="0">
                <a:solidFill>
                  <a:srgbClr val="1A1A1A"/>
                </a:solidFill>
                <a:latin typeface="Calibri" pitchFamily="34" charset="0"/>
                <a:ea typeface="Calibri" pitchFamily="34" charset="-122"/>
                <a:cs typeface="Calibri" pitchFamily="34" charset="-120"/>
              </a:rPr>
              <a:t>予備実験結果</a:t>
            </a:r>
            <a:endParaRPr lang="en-US" sz="1500" dirty="0"/>
          </a:p>
          <a:p>
            <a:pPr marL="0" indent="0">
              <a:lnSpc>
                <a:spcPct val="150000"/>
              </a:lnSpc>
              <a:buNone/>
            </a:pPr>
            <a:r>
              <a:rPr lang="en-US" sz="1300" dirty="0">
                <a:solidFill>
                  <a:srgbClr val="3366AA"/>
                </a:solidFill>
                <a:latin typeface="Calibri" pitchFamily="34" charset="0"/>
                <a:ea typeface="Calibri" pitchFamily="34" charset="-122"/>
                <a:cs typeface="Calibri" pitchFamily="34" charset="-120"/>
              </a:rPr>
              <a:t>MLモデルがルールベースを上回る予測精度を達成 → 18次元特徴量の有効性を確認</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2698</TotalTime>
  <Words>5245</Words>
  <Application>Microsoft Macintosh PowerPoint</Application>
  <PresentationFormat>画面に合わせる (16:9)</PresentationFormat>
  <Paragraphs>764</Paragraphs>
  <Slides>25</Slides>
  <Notes>25</Notes>
  <HiddenSlides>1</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25</vt:i4>
      </vt:variant>
    </vt:vector>
  </HeadingPairs>
  <TitlesOfParts>
    <vt:vector size="30" baseType="lpstr">
      <vt:lpstr>M PLUS 1p</vt:lpstr>
      <vt:lpstr>Arial</vt:lpstr>
      <vt:lpstr>Calibri</vt:lpstr>
      <vt:lpstr>Noto Sans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RegretLens</dc:title>
  <dc:subject>PptxGenJS Presentation</dc:subject>
  <dc:creator>乾映之右</dc:creator>
  <cp:lastModifiedBy>映之右 乾</cp:lastModifiedBy>
  <cp:revision>6</cp:revision>
  <dcterms:created xsi:type="dcterms:W3CDTF">2026-02-17T04:31:14Z</dcterms:created>
  <dcterms:modified xsi:type="dcterms:W3CDTF">2026-03-01T04:47:31Z</dcterms:modified>
</cp:coreProperties>
</file>